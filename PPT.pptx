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59" r:id="rId5"/>
    <p:sldId id="260" r:id="rId6"/>
    <p:sldId id="269" r:id="rId7"/>
    <p:sldId id="270" r:id="rId8"/>
    <p:sldId id="283" r:id="rId9"/>
    <p:sldId id="261" r:id="rId10"/>
    <p:sldId id="262" r:id="rId11"/>
    <p:sldId id="271" r:id="rId12"/>
    <p:sldId id="272" r:id="rId13"/>
    <p:sldId id="263" r:id="rId14"/>
    <p:sldId id="264" r:id="rId15"/>
    <p:sldId id="273" r:id="rId16"/>
    <p:sldId id="304" r:id="rId17"/>
    <p:sldId id="280" r:id="rId18"/>
    <p:sldId id="282" r:id="rId19"/>
    <p:sldId id="276" r:id="rId20"/>
    <p:sldId id="279" r:id="rId21"/>
    <p:sldId id="277" r:id="rId22"/>
    <p:sldId id="278" r:id="rId23"/>
    <p:sldId id="298" r:id="rId24"/>
    <p:sldId id="286" r:id="rId25"/>
    <p:sldId id="287" r:id="rId26"/>
    <p:sldId id="299" r:id="rId27"/>
    <p:sldId id="288" r:id="rId28"/>
    <p:sldId id="300" r:id="rId29"/>
    <p:sldId id="289" r:id="rId30"/>
    <p:sldId id="301" r:id="rId31"/>
    <p:sldId id="265" r:id="rId32"/>
    <p:sldId id="281" r:id="rId33"/>
    <p:sldId id="291" r:id="rId34"/>
    <p:sldId id="266" r:id="rId35"/>
    <p:sldId id="290" r:id="rId36"/>
    <p:sldId id="267" r:id="rId37"/>
    <p:sldId id="285" r:id="rId38"/>
    <p:sldId id="284" r:id="rId39"/>
    <p:sldId id="292" r:id="rId40"/>
    <p:sldId id="293" r:id="rId41"/>
    <p:sldId id="294" r:id="rId42"/>
    <p:sldId id="295" r:id="rId43"/>
    <p:sldId id="296" r:id="rId44"/>
    <p:sldId id="297" r:id="rId45"/>
    <p:sldId id="302" r:id="rId46"/>
    <p:sldId id="303" r:id="rId47"/>
    <p:sldId id="306" r:id="rId48"/>
    <p:sldId id="305"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7E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BFEFC4-6DD9-40AA-A823-3D8FE0F49654}" type="datetimeFigureOut">
              <a:rPr lang="en-US" smtClean="0"/>
              <a:t>6/25/2025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22EED0-442E-486C-98FE-7B10F4B14304}" type="slidenum">
              <a:rPr lang="en-US" smtClean="0"/>
              <a:t>‹#›</a:t>
            </a:fld>
            <a:endParaRPr lang="en-US"/>
          </a:p>
        </p:txBody>
      </p:sp>
    </p:spTree>
    <p:extLst>
      <p:ext uri="{BB962C8B-B14F-4D97-AF65-F5344CB8AC3E}">
        <p14:creationId xmlns:p14="http://schemas.microsoft.com/office/powerpoint/2010/main" val="3177719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22EED0-442E-486C-98FE-7B10F4B14304}" type="slidenum">
              <a:rPr lang="en-US" smtClean="0"/>
              <a:t>18</a:t>
            </a:fld>
            <a:endParaRPr lang="en-US"/>
          </a:p>
        </p:txBody>
      </p:sp>
    </p:spTree>
    <p:extLst>
      <p:ext uri="{BB962C8B-B14F-4D97-AF65-F5344CB8AC3E}">
        <p14:creationId xmlns:p14="http://schemas.microsoft.com/office/powerpoint/2010/main" val="911467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0D7F7-923F-42D6-770B-C7C4EC6152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536DEE-3331-757C-1D7F-672B22B7F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5AAACD-71C6-A128-CDC9-4B05052298F4}"/>
              </a:ext>
            </a:extLst>
          </p:cNvPr>
          <p:cNvSpPr>
            <a:spLocks noGrp="1"/>
          </p:cNvSpPr>
          <p:nvPr>
            <p:ph type="dt" sz="half" idx="10"/>
          </p:nvPr>
        </p:nvSpPr>
        <p:spPr/>
        <p:txBody>
          <a:bodyPr/>
          <a:lstStyle/>
          <a:p>
            <a:fld id="{15869C38-EE64-4E12-8025-9399A2D16A11}" type="datetimeFigureOut">
              <a:rPr lang="en-US" smtClean="0"/>
              <a:t>6/25/2025</a:t>
            </a:fld>
            <a:endParaRPr lang="en-US"/>
          </a:p>
        </p:txBody>
      </p:sp>
      <p:sp>
        <p:nvSpPr>
          <p:cNvPr id="5" name="Footer Placeholder 4">
            <a:extLst>
              <a:ext uri="{FF2B5EF4-FFF2-40B4-BE49-F238E27FC236}">
                <a16:creationId xmlns:a16="http://schemas.microsoft.com/office/drawing/2014/main" id="{85528D46-C50D-9A02-1621-81ABEA76B8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2EB574-3262-BC04-F98E-BAF8DBC93667}"/>
              </a:ext>
            </a:extLst>
          </p:cNvPr>
          <p:cNvSpPr>
            <a:spLocks noGrp="1"/>
          </p:cNvSpPr>
          <p:nvPr>
            <p:ph type="sldNum" sz="quarter" idx="12"/>
          </p:nvPr>
        </p:nvSpPr>
        <p:spPr/>
        <p:txBody>
          <a:bodyPr/>
          <a:lstStyle/>
          <a:p>
            <a:fld id="{314393A9-EFCB-427B-9515-B7102046471D}" type="slidenum">
              <a:rPr lang="en-US" smtClean="0"/>
              <a:t>‹#›</a:t>
            </a:fld>
            <a:endParaRPr lang="en-US"/>
          </a:p>
        </p:txBody>
      </p:sp>
    </p:spTree>
    <p:extLst>
      <p:ext uri="{BB962C8B-B14F-4D97-AF65-F5344CB8AC3E}">
        <p14:creationId xmlns:p14="http://schemas.microsoft.com/office/powerpoint/2010/main" val="1226234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B3C4B-BB55-FC35-B1C1-E1B74A8B38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194BC3-D337-E3EF-CBA3-C9A4B9852A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B6B07-502A-EAAF-7A42-72FC4036009C}"/>
              </a:ext>
            </a:extLst>
          </p:cNvPr>
          <p:cNvSpPr>
            <a:spLocks noGrp="1"/>
          </p:cNvSpPr>
          <p:nvPr>
            <p:ph type="dt" sz="half" idx="10"/>
          </p:nvPr>
        </p:nvSpPr>
        <p:spPr/>
        <p:txBody>
          <a:bodyPr/>
          <a:lstStyle/>
          <a:p>
            <a:fld id="{15869C38-EE64-4E12-8025-9399A2D16A11}" type="datetimeFigureOut">
              <a:rPr lang="en-US" smtClean="0"/>
              <a:t>6/25/2025</a:t>
            </a:fld>
            <a:endParaRPr lang="en-US"/>
          </a:p>
        </p:txBody>
      </p:sp>
      <p:sp>
        <p:nvSpPr>
          <p:cNvPr id="5" name="Footer Placeholder 4">
            <a:extLst>
              <a:ext uri="{FF2B5EF4-FFF2-40B4-BE49-F238E27FC236}">
                <a16:creationId xmlns:a16="http://schemas.microsoft.com/office/drawing/2014/main" id="{6BBB91A4-F4A9-3581-127A-9D65BDF1CD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16336-528F-801D-F447-030929E132B6}"/>
              </a:ext>
            </a:extLst>
          </p:cNvPr>
          <p:cNvSpPr>
            <a:spLocks noGrp="1"/>
          </p:cNvSpPr>
          <p:nvPr>
            <p:ph type="sldNum" sz="quarter" idx="12"/>
          </p:nvPr>
        </p:nvSpPr>
        <p:spPr/>
        <p:txBody>
          <a:bodyPr/>
          <a:lstStyle/>
          <a:p>
            <a:fld id="{314393A9-EFCB-427B-9515-B7102046471D}" type="slidenum">
              <a:rPr lang="en-US" smtClean="0"/>
              <a:t>‹#›</a:t>
            </a:fld>
            <a:endParaRPr lang="en-US"/>
          </a:p>
        </p:txBody>
      </p:sp>
    </p:spTree>
    <p:extLst>
      <p:ext uri="{BB962C8B-B14F-4D97-AF65-F5344CB8AC3E}">
        <p14:creationId xmlns:p14="http://schemas.microsoft.com/office/powerpoint/2010/main" val="1077930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BDF8F-D097-8313-59C7-85A1A19929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C24B02-F0B6-BFE4-BAE5-2BBB5180F3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725940-8E23-052A-9C35-0EC2D7E2E37D}"/>
              </a:ext>
            </a:extLst>
          </p:cNvPr>
          <p:cNvSpPr>
            <a:spLocks noGrp="1"/>
          </p:cNvSpPr>
          <p:nvPr>
            <p:ph type="dt" sz="half" idx="10"/>
          </p:nvPr>
        </p:nvSpPr>
        <p:spPr/>
        <p:txBody>
          <a:bodyPr/>
          <a:lstStyle/>
          <a:p>
            <a:fld id="{15869C38-EE64-4E12-8025-9399A2D16A11}" type="datetimeFigureOut">
              <a:rPr lang="en-US" smtClean="0"/>
              <a:t>6/25/2025</a:t>
            </a:fld>
            <a:endParaRPr lang="en-US"/>
          </a:p>
        </p:txBody>
      </p:sp>
      <p:sp>
        <p:nvSpPr>
          <p:cNvPr id="5" name="Footer Placeholder 4">
            <a:extLst>
              <a:ext uri="{FF2B5EF4-FFF2-40B4-BE49-F238E27FC236}">
                <a16:creationId xmlns:a16="http://schemas.microsoft.com/office/drawing/2014/main" id="{0C00530E-3BD0-CDF7-7733-E55DADB928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2B6886-89AF-518E-D163-4DA63DB6964D}"/>
              </a:ext>
            </a:extLst>
          </p:cNvPr>
          <p:cNvSpPr>
            <a:spLocks noGrp="1"/>
          </p:cNvSpPr>
          <p:nvPr>
            <p:ph type="sldNum" sz="quarter" idx="12"/>
          </p:nvPr>
        </p:nvSpPr>
        <p:spPr/>
        <p:txBody>
          <a:bodyPr/>
          <a:lstStyle/>
          <a:p>
            <a:fld id="{314393A9-EFCB-427B-9515-B7102046471D}" type="slidenum">
              <a:rPr lang="en-US" smtClean="0"/>
              <a:t>‹#›</a:t>
            </a:fld>
            <a:endParaRPr lang="en-US"/>
          </a:p>
        </p:txBody>
      </p:sp>
    </p:spTree>
    <p:extLst>
      <p:ext uri="{BB962C8B-B14F-4D97-AF65-F5344CB8AC3E}">
        <p14:creationId xmlns:p14="http://schemas.microsoft.com/office/powerpoint/2010/main" val="22860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8332D-E71B-C0B8-1D63-4DA5E5CC76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98F4DD-FDA7-BFAC-6C15-910DFEDFE7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DCD941-F39E-DDD4-E5B4-B309B7600E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AF673A-3FA3-091E-34BB-8997B132986A}"/>
              </a:ext>
            </a:extLst>
          </p:cNvPr>
          <p:cNvSpPr>
            <a:spLocks noGrp="1"/>
          </p:cNvSpPr>
          <p:nvPr>
            <p:ph type="dt" sz="half" idx="10"/>
          </p:nvPr>
        </p:nvSpPr>
        <p:spPr/>
        <p:txBody>
          <a:bodyPr/>
          <a:lstStyle/>
          <a:p>
            <a:fld id="{15869C38-EE64-4E12-8025-9399A2D16A11}" type="datetimeFigureOut">
              <a:rPr lang="en-US" smtClean="0"/>
              <a:t>6/25/2025</a:t>
            </a:fld>
            <a:endParaRPr lang="en-US"/>
          </a:p>
        </p:txBody>
      </p:sp>
      <p:sp>
        <p:nvSpPr>
          <p:cNvPr id="6" name="Footer Placeholder 5">
            <a:extLst>
              <a:ext uri="{FF2B5EF4-FFF2-40B4-BE49-F238E27FC236}">
                <a16:creationId xmlns:a16="http://schemas.microsoft.com/office/drawing/2014/main" id="{80034E24-50A5-99A6-729A-6BF1F1750A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3FD04E-41C4-D4F3-B679-DB6B9C320D04}"/>
              </a:ext>
            </a:extLst>
          </p:cNvPr>
          <p:cNvSpPr>
            <a:spLocks noGrp="1"/>
          </p:cNvSpPr>
          <p:nvPr>
            <p:ph type="sldNum" sz="quarter" idx="12"/>
          </p:nvPr>
        </p:nvSpPr>
        <p:spPr/>
        <p:txBody>
          <a:bodyPr/>
          <a:lstStyle/>
          <a:p>
            <a:fld id="{314393A9-EFCB-427B-9515-B7102046471D}" type="slidenum">
              <a:rPr lang="en-US" smtClean="0"/>
              <a:t>‹#›</a:t>
            </a:fld>
            <a:endParaRPr lang="en-US"/>
          </a:p>
        </p:txBody>
      </p:sp>
    </p:spTree>
    <p:extLst>
      <p:ext uri="{BB962C8B-B14F-4D97-AF65-F5344CB8AC3E}">
        <p14:creationId xmlns:p14="http://schemas.microsoft.com/office/powerpoint/2010/main" val="3899956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57D70-B067-CDA1-5C83-E35F799441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F09183-EB8B-FFFC-4F12-37C37341DB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2EFBAA-9D5A-5DDF-0E78-B4955A87DF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52B926-694E-72B7-A704-C972B051F3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5C512F-02AE-081A-C1B2-654CCCDCD7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4E33AC-C0B2-01EE-CF60-DC2CC7E8ED3D}"/>
              </a:ext>
            </a:extLst>
          </p:cNvPr>
          <p:cNvSpPr>
            <a:spLocks noGrp="1"/>
          </p:cNvSpPr>
          <p:nvPr>
            <p:ph type="dt" sz="half" idx="10"/>
          </p:nvPr>
        </p:nvSpPr>
        <p:spPr/>
        <p:txBody>
          <a:bodyPr/>
          <a:lstStyle/>
          <a:p>
            <a:fld id="{15869C38-EE64-4E12-8025-9399A2D16A11}" type="datetimeFigureOut">
              <a:rPr lang="en-US" smtClean="0"/>
              <a:t>6/25/2025</a:t>
            </a:fld>
            <a:endParaRPr lang="en-US"/>
          </a:p>
        </p:txBody>
      </p:sp>
      <p:sp>
        <p:nvSpPr>
          <p:cNvPr id="8" name="Footer Placeholder 7">
            <a:extLst>
              <a:ext uri="{FF2B5EF4-FFF2-40B4-BE49-F238E27FC236}">
                <a16:creationId xmlns:a16="http://schemas.microsoft.com/office/drawing/2014/main" id="{705EE710-9BD1-3419-B8FF-C6DDCF917E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8385C3-645C-A88D-1787-ED0389594039}"/>
              </a:ext>
            </a:extLst>
          </p:cNvPr>
          <p:cNvSpPr>
            <a:spLocks noGrp="1"/>
          </p:cNvSpPr>
          <p:nvPr>
            <p:ph type="sldNum" sz="quarter" idx="12"/>
          </p:nvPr>
        </p:nvSpPr>
        <p:spPr/>
        <p:txBody>
          <a:bodyPr/>
          <a:lstStyle/>
          <a:p>
            <a:fld id="{314393A9-EFCB-427B-9515-B7102046471D}" type="slidenum">
              <a:rPr lang="en-US" smtClean="0"/>
              <a:t>‹#›</a:t>
            </a:fld>
            <a:endParaRPr lang="en-US"/>
          </a:p>
        </p:txBody>
      </p:sp>
    </p:spTree>
    <p:extLst>
      <p:ext uri="{BB962C8B-B14F-4D97-AF65-F5344CB8AC3E}">
        <p14:creationId xmlns:p14="http://schemas.microsoft.com/office/powerpoint/2010/main" val="240247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A335-777C-BF03-0A43-3E8C2EEB1F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6F11B1-CC8E-6489-6E5F-D3FD553D18D3}"/>
              </a:ext>
            </a:extLst>
          </p:cNvPr>
          <p:cNvSpPr>
            <a:spLocks noGrp="1"/>
          </p:cNvSpPr>
          <p:nvPr>
            <p:ph type="dt" sz="half" idx="10"/>
          </p:nvPr>
        </p:nvSpPr>
        <p:spPr/>
        <p:txBody>
          <a:bodyPr/>
          <a:lstStyle/>
          <a:p>
            <a:fld id="{15869C38-EE64-4E12-8025-9399A2D16A11}" type="datetimeFigureOut">
              <a:rPr lang="en-US" smtClean="0"/>
              <a:t>6/25/2025</a:t>
            </a:fld>
            <a:endParaRPr lang="en-US"/>
          </a:p>
        </p:txBody>
      </p:sp>
      <p:sp>
        <p:nvSpPr>
          <p:cNvPr id="4" name="Footer Placeholder 3">
            <a:extLst>
              <a:ext uri="{FF2B5EF4-FFF2-40B4-BE49-F238E27FC236}">
                <a16:creationId xmlns:a16="http://schemas.microsoft.com/office/drawing/2014/main" id="{8FA2D45A-7B07-BD0E-5EED-47281AA8FD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3C73EF-D558-0FC3-A482-475F978A0552}"/>
              </a:ext>
            </a:extLst>
          </p:cNvPr>
          <p:cNvSpPr>
            <a:spLocks noGrp="1"/>
          </p:cNvSpPr>
          <p:nvPr>
            <p:ph type="sldNum" sz="quarter" idx="12"/>
          </p:nvPr>
        </p:nvSpPr>
        <p:spPr/>
        <p:txBody>
          <a:bodyPr/>
          <a:lstStyle/>
          <a:p>
            <a:fld id="{314393A9-EFCB-427B-9515-B7102046471D}" type="slidenum">
              <a:rPr lang="en-US" smtClean="0"/>
              <a:t>‹#›</a:t>
            </a:fld>
            <a:endParaRPr lang="en-US"/>
          </a:p>
        </p:txBody>
      </p:sp>
    </p:spTree>
    <p:extLst>
      <p:ext uri="{BB962C8B-B14F-4D97-AF65-F5344CB8AC3E}">
        <p14:creationId xmlns:p14="http://schemas.microsoft.com/office/powerpoint/2010/main" val="2547800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3281CC-0213-3EEF-5DE5-435CF5DE8A8B}"/>
              </a:ext>
            </a:extLst>
          </p:cNvPr>
          <p:cNvSpPr>
            <a:spLocks noGrp="1"/>
          </p:cNvSpPr>
          <p:nvPr>
            <p:ph type="dt" sz="half" idx="10"/>
          </p:nvPr>
        </p:nvSpPr>
        <p:spPr/>
        <p:txBody>
          <a:bodyPr/>
          <a:lstStyle/>
          <a:p>
            <a:fld id="{15869C38-EE64-4E12-8025-9399A2D16A11}" type="datetimeFigureOut">
              <a:rPr lang="en-US" smtClean="0"/>
              <a:t>6/25/2025</a:t>
            </a:fld>
            <a:endParaRPr lang="en-US"/>
          </a:p>
        </p:txBody>
      </p:sp>
      <p:sp>
        <p:nvSpPr>
          <p:cNvPr id="3" name="Footer Placeholder 2">
            <a:extLst>
              <a:ext uri="{FF2B5EF4-FFF2-40B4-BE49-F238E27FC236}">
                <a16:creationId xmlns:a16="http://schemas.microsoft.com/office/drawing/2014/main" id="{46725D82-8A42-6D5C-7BF9-3197352B2F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F61A74-5B59-1723-D6DD-772AC93D9B91}"/>
              </a:ext>
            </a:extLst>
          </p:cNvPr>
          <p:cNvSpPr>
            <a:spLocks noGrp="1"/>
          </p:cNvSpPr>
          <p:nvPr>
            <p:ph type="sldNum" sz="quarter" idx="12"/>
          </p:nvPr>
        </p:nvSpPr>
        <p:spPr/>
        <p:txBody>
          <a:bodyPr/>
          <a:lstStyle/>
          <a:p>
            <a:fld id="{314393A9-EFCB-427B-9515-B7102046471D}" type="slidenum">
              <a:rPr lang="en-US" smtClean="0"/>
              <a:t>‹#›</a:t>
            </a:fld>
            <a:endParaRPr lang="en-US"/>
          </a:p>
        </p:txBody>
      </p:sp>
    </p:spTree>
    <p:extLst>
      <p:ext uri="{BB962C8B-B14F-4D97-AF65-F5344CB8AC3E}">
        <p14:creationId xmlns:p14="http://schemas.microsoft.com/office/powerpoint/2010/main" val="422638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41D87-F32D-B526-5CB0-419E094AE4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285FB4-4FCB-2890-82FC-46F0FF9455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0168C0-1FE1-A824-9DE6-B2C3746AF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377C19-24AA-A0A1-017F-97FB81F87758}"/>
              </a:ext>
            </a:extLst>
          </p:cNvPr>
          <p:cNvSpPr>
            <a:spLocks noGrp="1"/>
          </p:cNvSpPr>
          <p:nvPr>
            <p:ph type="dt" sz="half" idx="10"/>
          </p:nvPr>
        </p:nvSpPr>
        <p:spPr/>
        <p:txBody>
          <a:bodyPr/>
          <a:lstStyle/>
          <a:p>
            <a:fld id="{15869C38-EE64-4E12-8025-9399A2D16A11}" type="datetimeFigureOut">
              <a:rPr lang="en-US" smtClean="0"/>
              <a:t>6/25/2025</a:t>
            </a:fld>
            <a:endParaRPr lang="en-US"/>
          </a:p>
        </p:txBody>
      </p:sp>
      <p:sp>
        <p:nvSpPr>
          <p:cNvPr id="6" name="Footer Placeholder 5">
            <a:extLst>
              <a:ext uri="{FF2B5EF4-FFF2-40B4-BE49-F238E27FC236}">
                <a16:creationId xmlns:a16="http://schemas.microsoft.com/office/drawing/2014/main" id="{0E253E7D-96BB-22D3-C0E1-7B10E19240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3EBE1C-BBB5-6E39-6F47-9DB5D677561F}"/>
              </a:ext>
            </a:extLst>
          </p:cNvPr>
          <p:cNvSpPr>
            <a:spLocks noGrp="1"/>
          </p:cNvSpPr>
          <p:nvPr>
            <p:ph type="sldNum" sz="quarter" idx="12"/>
          </p:nvPr>
        </p:nvSpPr>
        <p:spPr/>
        <p:txBody>
          <a:bodyPr/>
          <a:lstStyle/>
          <a:p>
            <a:fld id="{314393A9-EFCB-427B-9515-B7102046471D}" type="slidenum">
              <a:rPr lang="en-US" smtClean="0"/>
              <a:t>‹#›</a:t>
            </a:fld>
            <a:endParaRPr lang="en-US"/>
          </a:p>
        </p:txBody>
      </p:sp>
    </p:spTree>
    <p:extLst>
      <p:ext uri="{BB962C8B-B14F-4D97-AF65-F5344CB8AC3E}">
        <p14:creationId xmlns:p14="http://schemas.microsoft.com/office/powerpoint/2010/main" val="2422177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EC8E6-2BEB-61E6-8F17-7F75C3E2A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AE7AC4-44EB-2CFA-E268-21A7251147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BB7282-5B5A-EB29-0EBA-132B0BDE5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B7FF25-BAC9-AE6A-F6CF-B33C97A328EB}"/>
              </a:ext>
            </a:extLst>
          </p:cNvPr>
          <p:cNvSpPr>
            <a:spLocks noGrp="1"/>
          </p:cNvSpPr>
          <p:nvPr>
            <p:ph type="dt" sz="half" idx="10"/>
          </p:nvPr>
        </p:nvSpPr>
        <p:spPr/>
        <p:txBody>
          <a:bodyPr/>
          <a:lstStyle/>
          <a:p>
            <a:fld id="{15869C38-EE64-4E12-8025-9399A2D16A11}" type="datetimeFigureOut">
              <a:rPr lang="en-US" smtClean="0"/>
              <a:t>6/25/2025</a:t>
            </a:fld>
            <a:endParaRPr lang="en-US"/>
          </a:p>
        </p:txBody>
      </p:sp>
      <p:sp>
        <p:nvSpPr>
          <p:cNvPr id="6" name="Footer Placeholder 5">
            <a:extLst>
              <a:ext uri="{FF2B5EF4-FFF2-40B4-BE49-F238E27FC236}">
                <a16:creationId xmlns:a16="http://schemas.microsoft.com/office/drawing/2014/main" id="{C63F1E17-A7E0-FE6D-E022-83C6082EAE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2BA7B7-BF35-282E-644E-B98A4E541A63}"/>
              </a:ext>
            </a:extLst>
          </p:cNvPr>
          <p:cNvSpPr>
            <a:spLocks noGrp="1"/>
          </p:cNvSpPr>
          <p:nvPr>
            <p:ph type="sldNum" sz="quarter" idx="12"/>
          </p:nvPr>
        </p:nvSpPr>
        <p:spPr/>
        <p:txBody>
          <a:bodyPr/>
          <a:lstStyle/>
          <a:p>
            <a:fld id="{314393A9-EFCB-427B-9515-B7102046471D}" type="slidenum">
              <a:rPr lang="en-US" smtClean="0"/>
              <a:t>‹#›</a:t>
            </a:fld>
            <a:endParaRPr lang="en-US"/>
          </a:p>
        </p:txBody>
      </p:sp>
    </p:spTree>
    <p:extLst>
      <p:ext uri="{BB962C8B-B14F-4D97-AF65-F5344CB8AC3E}">
        <p14:creationId xmlns:p14="http://schemas.microsoft.com/office/powerpoint/2010/main" val="17528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EB5DB-E2B9-403E-8F01-7AE5872DA0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F53A1F-C597-B8F6-C3B6-F1D796A66D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C7A81B-934E-236C-89E9-B47D25F789AD}"/>
              </a:ext>
            </a:extLst>
          </p:cNvPr>
          <p:cNvSpPr>
            <a:spLocks noGrp="1"/>
          </p:cNvSpPr>
          <p:nvPr>
            <p:ph type="dt" sz="half" idx="10"/>
          </p:nvPr>
        </p:nvSpPr>
        <p:spPr/>
        <p:txBody>
          <a:bodyPr/>
          <a:lstStyle/>
          <a:p>
            <a:fld id="{15869C38-EE64-4E12-8025-9399A2D16A11}" type="datetimeFigureOut">
              <a:rPr lang="en-US" smtClean="0"/>
              <a:t>6/25/2025</a:t>
            </a:fld>
            <a:endParaRPr lang="en-US"/>
          </a:p>
        </p:txBody>
      </p:sp>
      <p:sp>
        <p:nvSpPr>
          <p:cNvPr id="5" name="Footer Placeholder 4">
            <a:extLst>
              <a:ext uri="{FF2B5EF4-FFF2-40B4-BE49-F238E27FC236}">
                <a16:creationId xmlns:a16="http://schemas.microsoft.com/office/drawing/2014/main" id="{4CA03C41-A9D0-CBA9-CCE7-7D83E74C27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308E7E-90A9-24F0-D517-DB5730EDD95A}"/>
              </a:ext>
            </a:extLst>
          </p:cNvPr>
          <p:cNvSpPr>
            <a:spLocks noGrp="1"/>
          </p:cNvSpPr>
          <p:nvPr>
            <p:ph type="sldNum" sz="quarter" idx="12"/>
          </p:nvPr>
        </p:nvSpPr>
        <p:spPr/>
        <p:txBody>
          <a:bodyPr/>
          <a:lstStyle/>
          <a:p>
            <a:fld id="{314393A9-EFCB-427B-9515-B7102046471D}" type="slidenum">
              <a:rPr lang="en-US" smtClean="0"/>
              <a:t>‹#›</a:t>
            </a:fld>
            <a:endParaRPr lang="en-US"/>
          </a:p>
        </p:txBody>
      </p:sp>
    </p:spTree>
    <p:extLst>
      <p:ext uri="{BB962C8B-B14F-4D97-AF65-F5344CB8AC3E}">
        <p14:creationId xmlns:p14="http://schemas.microsoft.com/office/powerpoint/2010/main" val="2059721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40C435-299A-F67A-1753-3C7FDC75BB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1F0F00-8619-C932-657C-AFC1312F84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C06832-FB63-DDDF-1E6D-768885B631E6}"/>
              </a:ext>
            </a:extLst>
          </p:cNvPr>
          <p:cNvSpPr>
            <a:spLocks noGrp="1"/>
          </p:cNvSpPr>
          <p:nvPr>
            <p:ph type="dt" sz="half" idx="10"/>
          </p:nvPr>
        </p:nvSpPr>
        <p:spPr/>
        <p:txBody>
          <a:bodyPr/>
          <a:lstStyle/>
          <a:p>
            <a:fld id="{15869C38-EE64-4E12-8025-9399A2D16A11}" type="datetimeFigureOut">
              <a:rPr lang="en-US" smtClean="0"/>
              <a:t>6/25/2025</a:t>
            </a:fld>
            <a:endParaRPr lang="en-US"/>
          </a:p>
        </p:txBody>
      </p:sp>
      <p:sp>
        <p:nvSpPr>
          <p:cNvPr id="5" name="Footer Placeholder 4">
            <a:extLst>
              <a:ext uri="{FF2B5EF4-FFF2-40B4-BE49-F238E27FC236}">
                <a16:creationId xmlns:a16="http://schemas.microsoft.com/office/drawing/2014/main" id="{002FB132-F11D-5C7C-C83C-D3616F7C7C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EA7EC0-3D2B-616E-523D-DA32C84D63B6}"/>
              </a:ext>
            </a:extLst>
          </p:cNvPr>
          <p:cNvSpPr>
            <a:spLocks noGrp="1"/>
          </p:cNvSpPr>
          <p:nvPr>
            <p:ph type="sldNum" sz="quarter" idx="12"/>
          </p:nvPr>
        </p:nvSpPr>
        <p:spPr/>
        <p:txBody>
          <a:bodyPr/>
          <a:lstStyle/>
          <a:p>
            <a:fld id="{314393A9-EFCB-427B-9515-B7102046471D}" type="slidenum">
              <a:rPr lang="en-US" smtClean="0"/>
              <a:t>‹#›</a:t>
            </a:fld>
            <a:endParaRPr lang="en-US"/>
          </a:p>
        </p:txBody>
      </p:sp>
    </p:spTree>
    <p:extLst>
      <p:ext uri="{BB962C8B-B14F-4D97-AF65-F5344CB8AC3E}">
        <p14:creationId xmlns:p14="http://schemas.microsoft.com/office/powerpoint/2010/main" val="4033048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8389D-7315-E729-0BFD-44BCDF421D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C1D8EA-86B3-7072-1156-6A9224C79E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24DC79-F1E5-25E4-CBBD-D20251568C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869C38-EE64-4E12-8025-9399A2D16A11}" type="datetimeFigureOut">
              <a:rPr lang="en-US" smtClean="0"/>
              <a:t>6/25/2025</a:t>
            </a:fld>
            <a:endParaRPr lang="en-US"/>
          </a:p>
        </p:txBody>
      </p:sp>
      <p:sp>
        <p:nvSpPr>
          <p:cNvPr id="5" name="Footer Placeholder 4">
            <a:extLst>
              <a:ext uri="{FF2B5EF4-FFF2-40B4-BE49-F238E27FC236}">
                <a16:creationId xmlns:a16="http://schemas.microsoft.com/office/drawing/2014/main" id="{0D358FE7-22F9-006C-528C-1D5376CE8C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F411BC1-4291-98F8-FB67-3E86A3F920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4393A9-EFCB-427B-9515-B7102046471D}" type="slidenum">
              <a:rPr lang="en-US" smtClean="0"/>
              <a:t>‹#›</a:t>
            </a:fld>
            <a:endParaRPr lang="en-US"/>
          </a:p>
        </p:txBody>
      </p:sp>
    </p:spTree>
    <p:extLst>
      <p:ext uri="{BB962C8B-B14F-4D97-AF65-F5344CB8AC3E}">
        <p14:creationId xmlns:p14="http://schemas.microsoft.com/office/powerpoint/2010/main" val="1447591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cholar.google.com/citations?user=aC2u_WMAAAAJ&amp;hl=en&amp;oi=sra" TargetMode="External"/><Relationship Id="rId7" Type="http://schemas.openxmlformats.org/officeDocument/2006/relationships/hyperlink" Target="https://scholar.google.com/citations?user=_8AIhP0AAAAJ&amp;hl=en&amp;oi=sra" TargetMode="External"/><Relationship Id="rId2" Type="http://schemas.openxmlformats.org/officeDocument/2006/relationships/hyperlink" Target="https://scholar.google.com/citations?user=t4dgbn4AAAAJ&amp;hl=en&amp;oi=sra" TargetMode="External"/><Relationship Id="rId1" Type="http://schemas.openxmlformats.org/officeDocument/2006/relationships/slideLayout" Target="../slideLayouts/slideLayout2.xml"/><Relationship Id="rId6" Type="http://schemas.openxmlformats.org/officeDocument/2006/relationships/hyperlink" Target="https://scholar.google.com/citations?user=_38KMv4AAAAJ&amp;hl=en&amp;oi=sra" TargetMode="External"/><Relationship Id="rId5" Type="http://schemas.openxmlformats.org/officeDocument/2006/relationships/hyperlink" Target="https://scholar.google.com/citations?user=Boy1lScAAAAJ&amp;hl=en&amp;oi=sra" TargetMode="External"/><Relationship Id="rId4" Type="http://schemas.openxmlformats.org/officeDocument/2006/relationships/hyperlink" Target="https://scholar.google.com/citations?user=UxgKNiIAAAAJ&amp;hl=en&amp;oi=sra"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scholar.google.com/citations?user=tREN5ewAAAAJ&amp;hl=en&amp;oi=sra"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9020C89-2200-4947-E651-150FD4FC46AD}"/>
              </a:ext>
            </a:extLst>
          </p:cNvPr>
          <p:cNvGrpSpPr/>
          <p:nvPr/>
        </p:nvGrpSpPr>
        <p:grpSpPr>
          <a:xfrm>
            <a:off x="428743" y="1115546"/>
            <a:ext cx="11334515" cy="4626909"/>
            <a:chOff x="566132" y="1701725"/>
            <a:chExt cx="11334515" cy="4626909"/>
          </a:xfrm>
        </p:grpSpPr>
        <p:grpSp>
          <p:nvGrpSpPr>
            <p:cNvPr id="6" name="Group 5">
              <a:extLst>
                <a:ext uri="{FF2B5EF4-FFF2-40B4-BE49-F238E27FC236}">
                  <a16:creationId xmlns:a16="http://schemas.microsoft.com/office/drawing/2014/main" id="{20BCED93-C0FB-47D4-49D7-EA783C7BDC3C}"/>
                </a:ext>
              </a:extLst>
            </p:cNvPr>
            <p:cNvGrpSpPr/>
            <p:nvPr/>
          </p:nvGrpSpPr>
          <p:grpSpPr>
            <a:xfrm>
              <a:off x="566132" y="1701725"/>
              <a:ext cx="11334515" cy="3611661"/>
              <a:chOff x="566132" y="1166017"/>
              <a:chExt cx="11334515" cy="3331604"/>
            </a:xfrm>
          </p:grpSpPr>
          <p:sp>
            <p:nvSpPr>
              <p:cNvPr id="4" name="Google Shape;1458;p28">
                <a:extLst>
                  <a:ext uri="{FF2B5EF4-FFF2-40B4-BE49-F238E27FC236}">
                    <a16:creationId xmlns:a16="http://schemas.microsoft.com/office/drawing/2014/main" id="{1820BF0B-FF43-DD21-9FA8-1261C30C7B7F}"/>
                  </a:ext>
                </a:extLst>
              </p:cNvPr>
              <p:cNvSpPr txBox="1">
                <a:spLocks/>
              </p:cNvSpPr>
              <p:nvPr/>
            </p:nvSpPr>
            <p:spPr>
              <a:xfrm>
                <a:off x="566132" y="1166017"/>
                <a:ext cx="11334515" cy="2649959"/>
              </a:xfrm>
              <a:prstGeom prst="rect">
                <a:avLst/>
              </a:prstGeom>
            </p:spPr>
            <p:txBody>
              <a:bodyPr spcFirstLastPara="1" vert="horz" wrap="square" lIns="91425" tIns="91425" rIns="91425" bIns="91425"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6300" dirty="0">
                    <a:latin typeface="Bebas Neue" panose="020B0606020202050201" pitchFamily="34" charset="0"/>
                  </a:rPr>
                  <a:t>Designing and development of an innovative extrusion machine</a:t>
                </a:r>
                <a:br>
                  <a:rPr lang="en-US" sz="6300" dirty="0">
                    <a:solidFill>
                      <a:schemeClr val="tx1">
                        <a:lumMod val="75000"/>
                      </a:schemeClr>
                    </a:solidFill>
                    <a:effectLst>
                      <a:outerShdw blurRad="38100" dist="38100" dir="2700000" algn="tl">
                        <a:srgbClr val="000000">
                          <a:alpha val="43137"/>
                        </a:srgbClr>
                      </a:outerShdw>
                    </a:effectLst>
                    <a:latin typeface="Bebas Neue" panose="020B0606020202050201" pitchFamily="34" charset="0"/>
                  </a:rPr>
                </a:br>
                <a:r>
                  <a:rPr lang="en-US" sz="6300" dirty="0">
                    <a:solidFill>
                      <a:srgbClr val="1F7EF1"/>
                    </a:solidFill>
                    <a:effectLst>
                      <a:outerShdw blurRad="38100" dist="38100" dir="2700000" algn="tl">
                        <a:srgbClr val="000000">
                          <a:alpha val="43137"/>
                        </a:srgbClr>
                      </a:outerShdw>
                    </a:effectLst>
                    <a:latin typeface="Bebas Neue" panose="020B0606020202050201" pitchFamily="34" charset="0"/>
                  </a:rPr>
                  <a:t>FOR RECYCLABLE FILAMENT</a:t>
                </a:r>
              </a:p>
            </p:txBody>
          </p:sp>
          <p:sp>
            <p:nvSpPr>
              <p:cNvPr id="5" name="Google Shape;1459;p28">
                <a:extLst>
                  <a:ext uri="{FF2B5EF4-FFF2-40B4-BE49-F238E27FC236}">
                    <a16:creationId xmlns:a16="http://schemas.microsoft.com/office/drawing/2014/main" id="{712A0D88-6031-90BC-5F77-4D512EB5F07C}"/>
                  </a:ext>
                </a:extLst>
              </p:cNvPr>
              <p:cNvSpPr txBox="1">
                <a:spLocks/>
              </p:cNvSpPr>
              <p:nvPr/>
            </p:nvSpPr>
            <p:spPr>
              <a:xfrm>
                <a:off x="2970362" y="3964234"/>
                <a:ext cx="6251276" cy="533387"/>
              </a:xfrm>
              <a:prstGeom prst="rect">
                <a:avLst/>
              </a:prstGeom>
              <a:solidFill>
                <a:srgbClr val="1F7EF1"/>
              </a:solidFill>
            </p:spPr>
            <p:txBody>
              <a:bodyPr spcFirstLastPara="1" vert="horz" wrap="square" lIns="91425" tIns="91425" rIns="91425" bIns="91425" rtlCol="0"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rPr>
                  <a:t>SUPERVISOR: DR. MUHAMMAD SAJID</a:t>
                </a:r>
              </a:p>
            </p:txBody>
          </p:sp>
        </p:grpSp>
        <p:sp>
          <p:nvSpPr>
            <p:cNvPr id="7" name="TextBox 6">
              <a:extLst>
                <a:ext uri="{FF2B5EF4-FFF2-40B4-BE49-F238E27FC236}">
                  <a16:creationId xmlns:a16="http://schemas.microsoft.com/office/drawing/2014/main" id="{CB0C467E-C999-6223-C861-1A18803CB097}"/>
                </a:ext>
              </a:extLst>
            </p:cNvPr>
            <p:cNvSpPr txBox="1"/>
            <p:nvPr/>
          </p:nvSpPr>
          <p:spPr>
            <a:xfrm>
              <a:off x="566132" y="5568879"/>
              <a:ext cx="2404230" cy="400110"/>
            </a:xfrm>
            <a:prstGeom prst="rect">
              <a:avLst/>
            </a:prstGeom>
            <a:noFill/>
          </p:spPr>
          <p:txBody>
            <a:bodyPr wrap="square" rtlCol="0">
              <a:spAutoFit/>
            </a:bodyPr>
            <a:lstStyle/>
            <a:p>
              <a:r>
                <a:rPr lang="en-US" sz="2000" dirty="0">
                  <a:effectLst>
                    <a:outerShdw blurRad="38100" dist="38100" dir="2700000" algn="tl">
                      <a:srgbClr val="000000">
                        <a:alpha val="43137"/>
                      </a:srgbClr>
                    </a:outerShdw>
                  </a:effectLst>
                  <a:latin typeface="Georgia" panose="02040502050405020303" pitchFamily="18" charset="0"/>
                </a:rPr>
                <a:t>Presented  By: </a:t>
              </a:r>
            </a:p>
          </p:txBody>
        </p:sp>
        <p:sp>
          <p:nvSpPr>
            <p:cNvPr id="8" name="TextBox 7">
              <a:extLst>
                <a:ext uri="{FF2B5EF4-FFF2-40B4-BE49-F238E27FC236}">
                  <a16:creationId xmlns:a16="http://schemas.microsoft.com/office/drawing/2014/main" id="{866E430D-F519-E00C-9F65-934FE0FB8471}"/>
                </a:ext>
              </a:extLst>
            </p:cNvPr>
            <p:cNvSpPr txBox="1"/>
            <p:nvPr/>
          </p:nvSpPr>
          <p:spPr>
            <a:xfrm>
              <a:off x="3271399" y="5620748"/>
              <a:ext cx="5649203" cy="707886"/>
            </a:xfrm>
            <a:prstGeom prst="rect">
              <a:avLst/>
            </a:prstGeom>
            <a:noFill/>
          </p:spPr>
          <p:txBody>
            <a:bodyPr wrap="square" rtlCol="0">
              <a:spAutoFit/>
            </a:bodyPr>
            <a:lstStyle/>
            <a:p>
              <a:r>
                <a:rPr lang="en-US" sz="2000" dirty="0">
                  <a:solidFill>
                    <a:srgbClr val="1F7EF1"/>
                  </a:solidFill>
                  <a:effectLst>
                    <a:outerShdw blurRad="38100" dist="38100" dir="2700000" algn="tl">
                      <a:srgbClr val="000000">
                        <a:alpha val="43137"/>
                      </a:srgbClr>
                    </a:outerShdw>
                  </a:effectLst>
                  <a:latin typeface="Georgia" panose="02040502050405020303" pitchFamily="18" charset="0"/>
                </a:rPr>
                <a:t>Muhammad Huzaifa 		</a:t>
              </a:r>
              <a:r>
                <a:rPr lang="en-US" sz="2000" dirty="0">
                  <a:effectLst>
                    <a:outerShdw blurRad="38100" dist="38100" dir="2700000" algn="tl">
                      <a:srgbClr val="000000">
                        <a:alpha val="43137"/>
                      </a:srgbClr>
                    </a:outerShdw>
                  </a:effectLst>
                  <a:latin typeface="Georgia" panose="02040502050405020303" pitchFamily="18" charset="0"/>
                </a:rPr>
                <a:t>(21-IE-27)</a:t>
              </a:r>
            </a:p>
            <a:p>
              <a:r>
                <a:rPr lang="en-US" sz="2000" dirty="0">
                  <a:solidFill>
                    <a:srgbClr val="1F7EF1"/>
                  </a:solidFill>
                  <a:effectLst>
                    <a:outerShdw blurRad="38100" dist="38100" dir="2700000" algn="tl">
                      <a:srgbClr val="000000">
                        <a:alpha val="43137"/>
                      </a:srgbClr>
                    </a:outerShdw>
                  </a:effectLst>
                  <a:latin typeface="Georgia" panose="02040502050405020303" pitchFamily="18" charset="0"/>
                </a:rPr>
                <a:t>Arslan Ahmad Hussain		</a:t>
              </a:r>
              <a:r>
                <a:rPr lang="en-US" sz="2000" dirty="0">
                  <a:effectLst>
                    <a:outerShdw blurRad="38100" dist="38100" dir="2700000" algn="tl">
                      <a:srgbClr val="000000">
                        <a:alpha val="43137"/>
                      </a:srgbClr>
                    </a:outerShdw>
                  </a:effectLst>
                  <a:latin typeface="Georgia" panose="02040502050405020303" pitchFamily="18" charset="0"/>
                </a:rPr>
                <a:t>(21-IE-56)</a:t>
              </a:r>
            </a:p>
          </p:txBody>
        </p:sp>
      </p:grpSp>
    </p:spTree>
    <p:extLst>
      <p:ext uri="{BB962C8B-B14F-4D97-AF65-F5344CB8AC3E}">
        <p14:creationId xmlns:p14="http://schemas.microsoft.com/office/powerpoint/2010/main" val="1529922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464;p29">
            <a:extLst>
              <a:ext uri="{FF2B5EF4-FFF2-40B4-BE49-F238E27FC236}">
                <a16:creationId xmlns:a16="http://schemas.microsoft.com/office/drawing/2014/main" id="{755664F6-EC0C-2C9A-0648-8502EC7877F1}"/>
              </a:ext>
            </a:extLst>
          </p:cNvPr>
          <p:cNvSpPr txBox="1">
            <a:spLocks noGrp="1"/>
          </p:cNvSpPr>
          <p:nvPr>
            <p:ph type="title"/>
          </p:nvPr>
        </p:nvSpPr>
        <p:spPr>
          <a:xfrm>
            <a:off x="2244000" y="336176"/>
            <a:ext cx="7704000" cy="88750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dirty="0">
                <a:latin typeface="Bebas Neue" panose="020B0606020202050201" pitchFamily="34" charset="0"/>
              </a:rPr>
              <a:t>CONTENTS</a:t>
            </a:r>
            <a:endParaRPr sz="4800" dirty="0">
              <a:latin typeface="Bebas Neue" panose="020B0606020202050201" pitchFamily="34" charset="0"/>
            </a:endParaRPr>
          </a:p>
        </p:txBody>
      </p:sp>
      <p:graphicFrame>
        <p:nvGraphicFramePr>
          <p:cNvPr id="6" name="Table 5">
            <a:extLst>
              <a:ext uri="{FF2B5EF4-FFF2-40B4-BE49-F238E27FC236}">
                <a16:creationId xmlns:a16="http://schemas.microsoft.com/office/drawing/2014/main" id="{D48DDE62-C2D5-F27C-B9BE-FE4D836F02DD}"/>
              </a:ext>
            </a:extLst>
          </p:cNvPr>
          <p:cNvGraphicFramePr>
            <a:graphicFrameLocks noGrp="1"/>
          </p:cNvGraphicFramePr>
          <p:nvPr>
            <p:extLst>
              <p:ext uri="{D42A27DB-BD31-4B8C-83A1-F6EECF244321}">
                <p14:modId xmlns:p14="http://schemas.microsoft.com/office/powerpoint/2010/main" val="1879874910"/>
              </p:ext>
            </p:extLst>
          </p:nvPr>
        </p:nvGraphicFramePr>
        <p:xfrm>
          <a:off x="853888" y="1408766"/>
          <a:ext cx="10484224" cy="4669307"/>
        </p:xfrm>
        <a:graphic>
          <a:graphicData uri="http://schemas.openxmlformats.org/drawingml/2006/table">
            <a:tbl>
              <a:tblPr>
                <a:tableStyleId>{5940675A-B579-460E-94D1-54222C63F5DA}</a:tableStyleId>
              </a:tblPr>
              <a:tblGrid>
                <a:gridCol w="3178984">
                  <a:extLst>
                    <a:ext uri="{9D8B030D-6E8A-4147-A177-3AD203B41FA5}">
                      <a16:colId xmlns:a16="http://schemas.microsoft.com/office/drawing/2014/main" val="4212457348"/>
                    </a:ext>
                  </a:extLst>
                </a:gridCol>
                <a:gridCol w="7305240">
                  <a:extLst>
                    <a:ext uri="{9D8B030D-6E8A-4147-A177-3AD203B41FA5}">
                      <a16:colId xmlns:a16="http://schemas.microsoft.com/office/drawing/2014/main" val="504969799"/>
                    </a:ext>
                  </a:extLst>
                </a:gridCol>
              </a:tblGrid>
              <a:tr h="1126740">
                <a:tc>
                  <a:txBody>
                    <a:bodyPr/>
                    <a:lstStyle/>
                    <a:p>
                      <a:pPr marL="0" lvl="0" indent="0" algn="ctr" rtl="0">
                        <a:spcBef>
                          <a:spcPts val="0"/>
                        </a:spcBef>
                        <a:spcAft>
                          <a:spcPts val="0"/>
                        </a:spcAft>
                        <a:buNone/>
                      </a:pPr>
                      <a:r>
                        <a:rPr lang="en" sz="2000" b="1" u="none" dirty="0">
                          <a:solidFill>
                            <a:srgbClr val="1F7EF1"/>
                          </a:solidFill>
                          <a:latin typeface="Georgia" panose="02040502050405020303" pitchFamily="18" charset="0"/>
                          <a:sym typeface="Inter"/>
                        </a:rPr>
                        <a:t>Introduction</a:t>
                      </a:r>
                      <a:endParaRPr sz="2000" b="1" u="none" dirty="0">
                        <a:solidFill>
                          <a:srgbClr val="1F7EF1"/>
                        </a:solidFill>
                        <a:latin typeface="Georgia" panose="02040502050405020303" pitchFamily="18" charset="0"/>
                        <a:ea typeface="Inter"/>
                        <a:cs typeface="Inter"/>
                        <a:sym typeface="Inter"/>
                      </a:endParaRPr>
                    </a:p>
                  </a:txBody>
                  <a:tcPr marL="91425" marR="91425" marT="0" marB="0" anchor="ctr"/>
                </a:tc>
                <a:tc>
                  <a:txBody>
                    <a:bodyPr/>
                    <a:lstStyle/>
                    <a:p>
                      <a:pPr marL="0" lvl="0" indent="0" algn="just" rtl="0">
                        <a:spcBef>
                          <a:spcPts val="0"/>
                        </a:spcBef>
                        <a:spcAft>
                          <a:spcPts val="1600"/>
                        </a:spcAft>
                        <a:buNone/>
                      </a:pPr>
                      <a:r>
                        <a:rPr lang="en" sz="2000" dirty="0">
                          <a:solidFill>
                            <a:srgbClr val="1F7EF1"/>
                          </a:solidFill>
                          <a:latin typeface="Georgia" panose="02040502050405020303" pitchFamily="18" charset="0"/>
                          <a:sym typeface="Inter"/>
                        </a:rPr>
                        <a:t>Briefing about project, Problem Statement, Aim and Objectives.</a:t>
                      </a:r>
                      <a:endParaRPr sz="2000" dirty="0">
                        <a:solidFill>
                          <a:srgbClr val="1F7EF1"/>
                        </a:solidFill>
                        <a:latin typeface="Georgia" panose="02040502050405020303" pitchFamily="18" charset="0"/>
                        <a:ea typeface="Inter"/>
                        <a:cs typeface="Inter"/>
                        <a:sym typeface="Inter"/>
                      </a:endParaRPr>
                    </a:p>
                  </a:txBody>
                  <a:tcPr marL="91425" marR="91425" marT="0" marB="0" anchor="ctr"/>
                </a:tc>
                <a:extLst>
                  <a:ext uri="{0D108BD9-81ED-4DB2-BD59-A6C34878D82A}">
                    <a16:rowId xmlns:a16="http://schemas.microsoft.com/office/drawing/2014/main" val="2733844715"/>
                  </a:ext>
                </a:extLst>
              </a:tr>
              <a:tr h="954596">
                <a:tc>
                  <a:txBody>
                    <a:bodyPr/>
                    <a:lstStyle/>
                    <a:p>
                      <a:pPr marL="0" lvl="0" indent="0" algn="ctr" rtl="0">
                        <a:spcBef>
                          <a:spcPts val="0"/>
                        </a:spcBef>
                        <a:spcAft>
                          <a:spcPts val="0"/>
                        </a:spcAft>
                        <a:buNone/>
                      </a:pPr>
                      <a:r>
                        <a:rPr lang="en" sz="2000" b="1" u="none" dirty="0">
                          <a:solidFill>
                            <a:srgbClr val="1F7EF1"/>
                          </a:solidFill>
                          <a:latin typeface="Georgia" panose="02040502050405020303" pitchFamily="18" charset="0"/>
                          <a:sym typeface="Inter"/>
                        </a:rPr>
                        <a:t>Literature Review</a:t>
                      </a:r>
                      <a:endParaRPr sz="2000" b="1" u="none" dirty="0">
                        <a:solidFill>
                          <a:srgbClr val="1F7EF1"/>
                        </a:solidFill>
                        <a:latin typeface="Georgia" panose="02040502050405020303" pitchFamily="18" charset="0"/>
                        <a:ea typeface="Inter"/>
                        <a:cs typeface="Inter"/>
                        <a:sym typeface="Inter"/>
                      </a:endParaRPr>
                    </a:p>
                  </a:txBody>
                  <a:tcPr marL="91425" marR="91425" marT="0" marB="0" anchor="ctr"/>
                </a:tc>
                <a:tc>
                  <a:txBody>
                    <a:bodyPr/>
                    <a:lstStyle/>
                    <a:p>
                      <a:pPr marL="0" marR="0" lvl="0" indent="0" algn="just" rtl="0">
                        <a:lnSpc>
                          <a:spcPct val="100000"/>
                        </a:lnSpc>
                        <a:spcBef>
                          <a:spcPts val="0"/>
                        </a:spcBef>
                        <a:spcAft>
                          <a:spcPts val="1600"/>
                        </a:spcAft>
                        <a:buNone/>
                      </a:pPr>
                      <a:r>
                        <a:rPr lang="en" sz="2000" dirty="0">
                          <a:solidFill>
                            <a:srgbClr val="1F7EF1"/>
                          </a:solidFill>
                          <a:latin typeface="Georgia" panose="02040502050405020303" pitchFamily="18" charset="0"/>
                          <a:sym typeface="Inter"/>
                        </a:rPr>
                        <a:t>Previous work done by the researchers.</a:t>
                      </a:r>
                      <a:endParaRPr sz="2000" dirty="0">
                        <a:solidFill>
                          <a:srgbClr val="1F7EF1"/>
                        </a:solidFill>
                        <a:latin typeface="Georgia" panose="02040502050405020303" pitchFamily="18" charset="0"/>
                        <a:ea typeface="Inter"/>
                        <a:cs typeface="Inter"/>
                        <a:sym typeface="Inter"/>
                      </a:endParaRPr>
                    </a:p>
                  </a:txBody>
                  <a:tcPr marL="91425" marR="91425" marT="0" marB="0" anchor="ctr"/>
                </a:tc>
                <a:extLst>
                  <a:ext uri="{0D108BD9-81ED-4DB2-BD59-A6C34878D82A}">
                    <a16:rowId xmlns:a16="http://schemas.microsoft.com/office/drawing/2014/main" val="670696523"/>
                  </a:ext>
                </a:extLst>
              </a:tr>
              <a:tr h="954596">
                <a:tc>
                  <a:txBody>
                    <a:bodyPr/>
                    <a:lstStyle/>
                    <a:p>
                      <a:pPr marL="0" lvl="0" indent="0" algn="ctr" rtl="0">
                        <a:spcBef>
                          <a:spcPts val="0"/>
                        </a:spcBef>
                        <a:spcAft>
                          <a:spcPts val="0"/>
                        </a:spcAft>
                        <a:buNone/>
                      </a:pPr>
                      <a:r>
                        <a:rPr lang="en" sz="2000" b="1" u="none" dirty="0">
                          <a:solidFill>
                            <a:srgbClr val="1F7EF1"/>
                          </a:solidFill>
                          <a:latin typeface="Georgia" panose="02040502050405020303" pitchFamily="18" charset="0"/>
                          <a:sym typeface="Inter"/>
                        </a:rPr>
                        <a:t>Methodology</a:t>
                      </a:r>
                      <a:endParaRPr sz="2000" b="1" u="none" dirty="0">
                        <a:solidFill>
                          <a:srgbClr val="1F7EF1"/>
                        </a:solidFill>
                        <a:latin typeface="Georgia" panose="02040502050405020303" pitchFamily="18" charset="0"/>
                        <a:ea typeface="Inter"/>
                        <a:cs typeface="Inter"/>
                        <a:sym typeface="Inter"/>
                      </a:endParaRPr>
                    </a:p>
                  </a:txBody>
                  <a:tcPr marL="91425" marR="91425" marT="0" marB="0" anchor="ctr"/>
                </a:tc>
                <a:tc>
                  <a:txBody>
                    <a:bodyPr/>
                    <a:lstStyle/>
                    <a:p>
                      <a:pPr marL="0" lvl="0" indent="0" algn="just" rtl="0">
                        <a:spcBef>
                          <a:spcPts val="0"/>
                        </a:spcBef>
                        <a:spcAft>
                          <a:spcPts val="1600"/>
                        </a:spcAft>
                        <a:buNone/>
                      </a:pPr>
                      <a:r>
                        <a:rPr lang="en" sz="2000" dirty="0">
                          <a:solidFill>
                            <a:srgbClr val="1F7EF1"/>
                          </a:solidFill>
                          <a:latin typeface="Georgia" panose="02040502050405020303" pitchFamily="18" charset="0"/>
                          <a:sym typeface="Inter"/>
                        </a:rPr>
                        <a:t>The working and making of project.</a:t>
                      </a:r>
                      <a:endParaRPr sz="2000" dirty="0">
                        <a:solidFill>
                          <a:srgbClr val="1F7EF1"/>
                        </a:solidFill>
                        <a:latin typeface="Georgia" panose="02040502050405020303" pitchFamily="18" charset="0"/>
                        <a:ea typeface="Inter"/>
                        <a:cs typeface="Inter"/>
                        <a:sym typeface="Inter"/>
                      </a:endParaRPr>
                    </a:p>
                  </a:txBody>
                  <a:tcPr marL="91425" marR="91425" marT="0" marB="0" anchor="ctr"/>
                </a:tc>
                <a:extLst>
                  <a:ext uri="{0D108BD9-81ED-4DB2-BD59-A6C34878D82A}">
                    <a16:rowId xmlns:a16="http://schemas.microsoft.com/office/drawing/2014/main" val="1201369742"/>
                  </a:ext>
                </a:extLst>
              </a:tr>
              <a:tr h="849020">
                <a:tc>
                  <a:txBody>
                    <a:bodyPr/>
                    <a:lstStyle/>
                    <a:p>
                      <a:pPr marL="0" lvl="0" indent="0" algn="ctr" rtl="0">
                        <a:spcBef>
                          <a:spcPts val="0"/>
                        </a:spcBef>
                        <a:spcAft>
                          <a:spcPts val="0"/>
                        </a:spcAft>
                        <a:buNone/>
                      </a:pPr>
                      <a:r>
                        <a:rPr lang="en" sz="2000" b="1" u="none" dirty="0">
                          <a:solidFill>
                            <a:srgbClr val="1F7EF1"/>
                          </a:solidFill>
                          <a:latin typeface="Georgia" panose="02040502050405020303" pitchFamily="18" charset="0"/>
                          <a:sym typeface="Inter"/>
                        </a:rPr>
                        <a:t>Machine Hardware</a:t>
                      </a:r>
                      <a:endParaRPr sz="2000" b="1" u="none" dirty="0">
                        <a:solidFill>
                          <a:srgbClr val="1F7EF1"/>
                        </a:solidFill>
                        <a:latin typeface="Georgia" panose="02040502050405020303" pitchFamily="18" charset="0"/>
                        <a:ea typeface="Inter"/>
                        <a:cs typeface="Inter"/>
                        <a:sym typeface="Inter"/>
                      </a:endParaRPr>
                    </a:p>
                  </a:txBody>
                  <a:tcPr marL="91425" marR="91425" marT="0" marB="0" anchor="ctr"/>
                </a:tc>
                <a:tc>
                  <a:txBody>
                    <a:bodyPr/>
                    <a:lstStyle/>
                    <a:p>
                      <a:pPr marL="0" lvl="0" indent="0" algn="just" rtl="0">
                        <a:spcBef>
                          <a:spcPts val="0"/>
                        </a:spcBef>
                        <a:spcAft>
                          <a:spcPts val="0"/>
                        </a:spcAft>
                        <a:buNone/>
                      </a:pPr>
                      <a:r>
                        <a:rPr lang="en" sz="2000" dirty="0">
                          <a:solidFill>
                            <a:srgbClr val="1F7EF1"/>
                          </a:solidFill>
                          <a:latin typeface="Georgia" panose="02040502050405020303" pitchFamily="18" charset="0"/>
                          <a:sym typeface="Inter"/>
                        </a:rPr>
                        <a:t>These can be used in the template, and their size and color can be edited</a:t>
                      </a:r>
                      <a:endParaRPr sz="2000" dirty="0">
                        <a:solidFill>
                          <a:srgbClr val="1F7EF1"/>
                        </a:solidFill>
                        <a:latin typeface="Georgia" panose="02040502050405020303" pitchFamily="18" charset="0"/>
                        <a:ea typeface="Inter"/>
                        <a:cs typeface="Inter"/>
                        <a:sym typeface="Inter"/>
                      </a:endParaRPr>
                    </a:p>
                  </a:txBody>
                  <a:tcPr marL="91425" marR="91425" marT="0" marB="0" anchor="ctr"/>
                </a:tc>
                <a:extLst>
                  <a:ext uri="{0D108BD9-81ED-4DB2-BD59-A6C34878D82A}">
                    <a16:rowId xmlns:a16="http://schemas.microsoft.com/office/drawing/2014/main" val="706952601"/>
                  </a:ext>
                </a:extLst>
              </a:tr>
              <a:tr h="784355">
                <a:tc>
                  <a:txBody>
                    <a:bodyPr/>
                    <a:lstStyle/>
                    <a:p>
                      <a:pPr marL="0" lvl="0" indent="0" algn="ctr" rtl="0">
                        <a:spcBef>
                          <a:spcPts val="0"/>
                        </a:spcBef>
                        <a:spcAft>
                          <a:spcPts val="0"/>
                        </a:spcAft>
                        <a:buNone/>
                      </a:pPr>
                      <a:r>
                        <a:rPr lang="en" sz="2000" b="1" u="none" dirty="0">
                          <a:solidFill>
                            <a:srgbClr val="1F7EF1"/>
                          </a:solidFill>
                          <a:latin typeface="Georgia" panose="02040502050405020303" pitchFamily="18" charset="0"/>
                          <a:sym typeface="Inter"/>
                        </a:rPr>
                        <a:t>Timeline</a:t>
                      </a:r>
                      <a:endParaRPr sz="2000" b="1" u="none" dirty="0">
                        <a:solidFill>
                          <a:srgbClr val="1F7EF1"/>
                        </a:solidFill>
                        <a:latin typeface="Georgia" panose="02040502050405020303" pitchFamily="18" charset="0"/>
                        <a:ea typeface="Inter"/>
                        <a:cs typeface="Inter"/>
                        <a:sym typeface="Inter"/>
                      </a:endParaRPr>
                    </a:p>
                  </a:txBody>
                  <a:tcPr marL="91425" marR="91425" marT="0" marB="0" anchor="ctr"/>
                </a:tc>
                <a:tc>
                  <a:txBody>
                    <a:bodyPr/>
                    <a:lstStyle/>
                    <a:p>
                      <a:pPr marL="0" lvl="0" indent="0" algn="just" rtl="0">
                        <a:spcBef>
                          <a:spcPts val="0"/>
                        </a:spcBef>
                        <a:spcAft>
                          <a:spcPts val="1600"/>
                        </a:spcAft>
                        <a:buNone/>
                      </a:pPr>
                      <a:r>
                        <a:rPr lang="en" sz="2000" dirty="0">
                          <a:solidFill>
                            <a:srgbClr val="1F7EF1"/>
                          </a:solidFill>
                          <a:latin typeface="Georgia" panose="02040502050405020303" pitchFamily="18" charset="0"/>
                          <a:sym typeface="Inter"/>
                        </a:rPr>
                        <a:t>The management of time for project.</a:t>
                      </a:r>
                      <a:endParaRPr sz="2000" dirty="0">
                        <a:solidFill>
                          <a:srgbClr val="1F7EF1"/>
                        </a:solidFill>
                        <a:latin typeface="Georgia" panose="02040502050405020303" pitchFamily="18" charset="0"/>
                        <a:ea typeface="Inter"/>
                        <a:cs typeface="Inter"/>
                        <a:sym typeface="Inter"/>
                      </a:endParaRPr>
                    </a:p>
                  </a:txBody>
                  <a:tcPr marL="91425" marR="91425" marT="0" marB="0" anchor="ctr"/>
                </a:tc>
                <a:extLst>
                  <a:ext uri="{0D108BD9-81ED-4DB2-BD59-A6C34878D82A}">
                    <a16:rowId xmlns:a16="http://schemas.microsoft.com/office/drawing/2014/main" val="2231090446"/>
                  </a:ext>
                </a:extLst>
              </a:tr>
            </a:tbl>
          </a:graphicData>
        </a:graphic>
      </p:graphicFrame>
    </p:spTree>
    <p:extLst>
      <p:ext uri="{BB962C8B-B14F-4D97-AF65-F5344CB8AC3E}">
        <p14:creationId xmlns:p14="http://schemas.microsoft.com/office/powerpoint/2010/main" val="1283187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522;p33">
            <a:extLst>
              <a:ext uri="{FF2B5EF4-FFF2-40B4-BE49-F238E27FC236}">
                <a16:creationId xmlns:a16="http://schemas.microsoft.com/office/drawing/2014/main" id="{0A12B28D-C0E9-15AD-3A50-B38A9A9D7D66}"/>
              </a:ext>
            </a:extLst>
          </p:cNvPr>
          <p:cNvSpPr txBox="1">
            <a:spLocks noGrp="1"/>
          </p:cNvSpPr>
          <p:nvPr>
            <p:ph type="title"/>
          </p:nvPr>
        </p:nvSpPr>
        <p:spPr>
          <a:xfrm>
            <a:off x="2509989" y="2294682"/>
            <a:ext cx="6536400" cy="127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7200" dirty="0">
                <a:effectLst>
                  <a:outerShdw blurRad="38100" dist="38100" dir="2700000" algn="tl">
                    <a:srgbClr val="000000">
                      <a:alpha val="43137"/>
                    </a:srgbClr>
                  </a:outerShdw>
                </a:effectLst>
                <a:latin typeface="Bebas Neue" panose="020B0606020202050201" pitchFamily="34" charset="0"/>
              </a:rPr>
              <a:t>INTRODUCTION</a:t>
            </a:r>
            <a:endParaRPr sz="6600" dirty="0">
              <a:effectLst>
                <a:outerShdw blurRad="38100" dist="38100" dir="2700000" algn="tl">
                  <a:srgbClr val="000000">
                    <a:alpha val="43137"/>
                  </a:srgbClr>
                </a:outerShdw>
              </a:effectLst>
              <a:latin typeface="Bebas Neue" panose="020B0606020202050201" pitchFamily="34" charset="0"/>
            </a:endParaRPr>
          </a:p>
        </p:txBody>
      </p:sp>
      <p:grpSp>
        <p:nvGrpSpPr>
          <p:cNvPr id="8" name="Group 7">
            <a:extLst>
              <a:ext uri="{FF2B5EF4-FFF2-40B4-BE49-F238E27FC236}">
                <a16:creationId xmlns:a16="http://schemas.microsoft.com/office/drawing/2014/main" id="{2ADF36CE-6C57-4A79-F3EB-8BCE87B72586}"/>
              </a:ext>
            </a:extLst>
          </p:cNvPr>
          <p:cNvGrpSpPr/>
          <p:nvPr/>
        </p:nvGrpSpPr>
        <p:grpSpPr>
          <a:xfrm>
            <a:off x="2652551" y="1163499"/>
            <a:ext cx="6251276" cy="2986807"/>
            <a:chOff x="2652551" y="1163499"/>
            <a:chExt cx="6251276" cy="2986807"/>
          </a:xfrm>
        </p:grpSpPr>
        <p:sp>
          <p:nvSpPr>
            <p:cNvPr id="5" name="Google Shape;1523;p33">
              <a:extLst>
                <a:ext uri="{FF2B5EF4-FFF2-40B4-BE49-F238E27FC236}">
                  <a16:creationId xmlns:a16="http://schemas.microsoft.com/office/drawing/2014/main" id="{46DC405C-B92B-E038-6D79-9D9EE33DC129}"/>
                </a:ext>
              </a:extLst>
            </p:cNvPr>
            <p:cNvSpPr txBox="1">
              <a:spLocks/>
            </p:cNvSpPr>
            <p:nvPr/>
          </p:nvSpPr>
          <p:spPr>
            <a:xfrm>
              <a:off x="5320989" y="1163499"/>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01</a:t>
              </a:r>
            </a:p>
          </p:txBody>
        </p:sp>
        <p:sp>
          <p:nvSpPr>
            <p:cNvPr id="6" name="Google Shape;1524;p33">
              <a:extLst>
                <a:ext uri="{FF2B5EF4-FFF2-40B4-BE49-F238E27FC236}">
                  <a16:creationId xmlns:a16="http://schemas.microsoft.com/office/drawing/2014/main" id="{52C38F79-9210-3FCC-5F4F-C2067708E8FD}"/>
                </a:ext>
              </a:extLst>
            </p:cNvPr>
            <p:cNvSpPr txBox="1">
              <a:spLocks/>
            </p:cNvSpPr>
            <p:nvPr/>
          </p:nvSpPr>
          <p:spPr>
            <a:xfrm>
              <a:off x="2652551" y="3572082"/>
              <a:ext cx="6251276"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dirty="0">
                  <a:solidFill>
                    <a:schemeClr val="bg1"/>
                  </a:solidFill>
                  <a:latin typeface="Poppins" panose="00000800000000000000" pitchFamily="2" charset="0"/>
                  <a:cs typeface="Poppins" panose="00000800000000000000" pitchFamily="2" charset="0"/>
                </a:rPr>
                <a:t>BRIEFING ABOUT PROJECT</a:t>
              </a:r>
            </a:p>
          </p:txBody>
        </p:sp>
      </p:grpSp>
    </p:spTree>
    <p:extLst>
      <p:ext uri="{BB962C8B-B14F-4D97-AF65-F5344CB8AC3E}">
        <p14:creationId xmlns:p14="http://schemas.microsoft.com/office/powerpoint/2010/main" val="3113603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FF219-E42C-FE3B-B5E5-2DC19F8534C2}"/>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3ECEA95A-E096-9C26-1562-3ABC60166FF0}"/>
              </a:ext>
            </a:extLst>
          </p:cNvPr>
          <p:cNvSpPr txBox="1">
            <a:spLocks noGrp="1"/>
          </p:cNvSpPr>
          <p:nvPr>
            <p:ph type="title"/>
          </p:nvPr>
        </p:nvSpPr>
        <p:spPr>
          <a:xfrm>
            <a:off x="0" y="188259"/>
            <a:ext cx="5634318"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rPr>
              <a:t>INTRODUCTION</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8731D2C3-176D-EFED-0E9D-739574B3E07D}"/>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01</a:t>
            </a:r>
          </a:p>
        </p:txBody>
      </p:sp>
      <p:grpSp>
        <p:nvGrpSpPr>
          <p:cNvPr id="7" name="Group 6">
            <a:extLst>
              <a:ext uri="{FF2B5EF4-FFF2-40B4-BE49-F238E27FC236}">
                <a16:creationId xmlns:a16="http://schemas.microsoft.com/office/drawing/2014/main" id="{203ABDED-8ABE-7983-613B-FE1E3D0A3A9C}"/>
              </a:ext>
            </a:extLst>
          </p:cNvPr>
          <p:cNvGrpSpPr/>
          <p:nvPr/>
        </p:nvGrpSpPr>
        <p:grpSpPr>
          <a:xfrm>
            <a:off x="548294" y="1743430"/>
            <a:ext cx="11095412" cy="3478717"/>
            <a:chOff x="469059" y="1118562"/>
            <a:chExt cx="11095412" cy="3478717"/>
          </a:xfrm>
        </p:grpSpPr>
        <p:sp>
          <p:nvSpPr>
            <p:cNvPr id="2" name="TextBox 1">
              <a:extLst>
                <a:ext uri="{FF2B5EF4-FFF2-40B4-BE49-F238E27FC236}">
                  <a16:creationId xmlns:a16="http://schemas.microsoft.com/office/drawing/2014/main" id="{94A9F0E3-63FC-9532-BC22-6F9FE06229EB}"/>
                </a:ext>
              </a:extLst>
            </p:cNvPr>
            <p:cNvSpPr txBox="1"/>
            <p:nvPr/>
          </p:nvSpPr>
          <p:spPr>
            <a:xfrm>
              <a:off x="469059" y="1118562"/>
              <a:ext cx="3881191" cy="769441"/>
            </a:xfrm>
            <a:prstGeom prst="rect">
              <a:avLst/>
            </a:prstGeom>
            <a:noFill/>
          </p:spPr>
          <p:txBody>
            <a:bodyPr wrap="none" rtlCol="0">
              <a:spAutoFit/>
            </a:bodyPr>
            <a:lstStyle/>
            <a:p>
              <a:r>
                <a:rPr lang="en-US" sz="4400" dirty="0">
                  <a:solidFill>
                    <a:srgbClr val="1F7EF1"/>
                  </a:solidFill>
                  <a:latin typeface="Bebas Neue" panose="020B0606020202050201" pitchFamily="34" charset="0"/>
                </a:rPr>
                <a:t>PROBLEM STATEMENT</a:t>
              </a:r>
            </a:p>
          </p:txBody>
        </p:sp>
        <p:sp>
          <p:nvSpPr>
            <p:cNvPr id="3" name="TextBox 2">
              <a:extLst>
                <a:ext uri="{FF2B5EF4-FFF2-40B4-BE49-F238E27FC236}">
                  <a16:creationId xmlns:a16="http://schemas.microsoft.com/office/drawing/2014/main" id="{82563A66-76B1-BAB5-9F8A-05D495DC6B47}"/>
                </a:ext>
              </a:extLst>
            </p:cNvPr>
            <p:cNvSpPr txBox="1"/>
            <p:nvPr/>
          </p:nvSpPr>
          <p:spPr>
            <a:xfrm>
              <a:off x="469059" y="2042734"/>
              <a:ext cx="11095412" cy="2554545"/>
            </a:xfrm>
            <a:prstGeom prst="rect">
              <a:avLst/>
            </a:prstGeom>
            <a:noFill/>
          </p:spPr>
          <p:txBody>
            <a:bodyPr wrap="square" rtlCol="0">
              <a:spAutoFit/>
            </a:bodyPr>
            <a:lstStyle/>
            <a:p>
              <a:pPr algn="just"/>
              <a:r>
                <a:rPr lang="en-US" sz="2000" dirty="0">
                  <a:latin typeface="Georgia" panose="02040502050405020303" pitchFamily="18" charset="0"/>
                </a:rPr>
                <a:t>With the rise of 3D printing, plastic waste is becoming a growing issue, especially from failed prints, unused parts, and discarded filament. Currently, most filament is made from new, virgin plastics, which not only drives up costs but also adds to environmental pollution. Unfortunately, options for recycling these plastics back into high-quality filament are limited, as affordable and efficient machines for this purpose are scarce. This project seeks to fill that gap by designing an innovative extrusion machine that can transform waste materials from 3D printing into reusable filament, promoting sustainable recycling and helping to reduce both costs and plastic waste for circular economy.</a:t>
              </a:r>
            </a:p>
          </p:txBody>
        </p:sp>
      </p:grpSp>
    </p:spTree>
    <p:extLst>
      <p:ext uri="{BB962C8B-B14F-4D97-AF65-F5344CB8AC3E}">
        <p14:creationId xmlns:p14="http://schemas.microsoft.com/office/powerpoint/2010/main" val="4199844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45413-F83B-7D52-E9B5-6BEE9CFC0E0F}"/>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7C7842C5-3361-ABFD-4C31-3CFF3060996A}"/>
              </a:ext>
            </a:extLst>
          </p:cNvPr>
          <p:cNvSpPr txBox="1">
            <a:spLocks noGrp="1"/>
          </p:cNvSpPr>
          <p:nvPr>
            <p:ph type="title"/>
          </p:nvPr>
        </p:nvSpPr>
        <p:spPr>
          <a:xfrm>
            <a:off x="0" y="188259"/>
            <a:ext cx="5634318"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rPr>
              <a:t>INTRODUCTION</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82E1C466-EB60-1CF1-87EB-03F1F0F38314}"/>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01</a:t>
            </a:r>
          </a:p>
        </p:txBody>
      </p:sp>
      <p:sp>
        <p:nvSpPr>
          <p:cNvPr id="2" name="Content Placeholder 1">
            <a:extLst>
              <a:ext uri="{FF2B5EF4-FFF2-40B4-BE49-F238E27FC236}">
                <a16:creationId xmlns:a16="http://schemas.microsoft.com/office/drawing/2014/main" id="{D887D070-489F-A117-D7DF-F3470C21482D}"/>
              </a:ext>
            </a:extLst>
          </p:cNvPr>
          <p:cNvSpPr>
            <a:spLocks noGrp="1" noChangeArrowheads="1"/>
          </p:cNvSpPr>
          <p:nvPr>
            <p:ph idx="1"/>
          </p:nvPr>
        </p:nvSpPr>
        <p:spPr bwMode="auto">
          <a:xfrm>
            <a:off x="607454" y="1037430"/>
            <a:ext cx="1097709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dirty="0">
                <a:solidFill>
                  <a:srgbClr val="1F7EF1"/>
                </a:solidFill>
                <a:latin typeface="Bebas Neue" panose="020B0606020202050201" pitchFamily="34" charset="0"/>
              </a:rPr>
              <a:t>EXTRUSION MACHINE</a:t>
            </a:r>
            <a:endParaRPr kumimoji="0" lang="en-US" altLang="en-US" i="0" u="none" strike="noStrike" cap="none" normalizeH="0" baseline="0" dirty="0">
              <a:ln>
                <a:noFill/>
              </a:ln>
              <a:solidFill>
                <a:srgbClr val="1F7EF1"/>
              </a:solidFill>
              <a:latin typeface="Bebas Neue" panose="020B0606020202050201" pitchFamily="34" charset="0"/>
            </a:endParaRPr>
          </a:p>
          <a:p>
            <a:pPr marL="0" indent="0" eaLnBrk="0" fontAlgn="base" hangingPunct="0">
              <a:lnSpc>
                <a:spcPct val="100000"/>
              </a:lnSpc>
              <a:spcBef>
                <a:spcPct val="0"/>
              </a:spcBef>
              <a:spcAft>
                <a:spcPct val="0"/>
              </a:spcAft>
              <a:buNone/>
            </a:pPr>
            <a:r>
              <a:rPr kumimoji="0" lang="en-US" altLang="en-US" sz="2000" b="0" i="0" u="none" strike="noStrike" cap="none" normalizeH="0" baseline="0" dirty="0">
                <a:ln>
                  <a:noFill/>
                </a:ln>
                <a:effectLst/>
                <a:latin typeface="Georgia" panose="02040502050405020303" pitchFamily="18" charset="0"/>
              </a:rPr>
              <a:t>	Equipment designed to melt and shape materials, here specifically for producing 3D printer filament from recycled plastics.</a:t>
            </a:r>
          </a:p>
          <a:p>
            <a:pPr mar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effectLst/>
              <a:latin typeface="+mj-lt"/>
            </a:endParaRPr>
          </a:p>
          <a:p>
            <a:pPr eaLnBrk="0" fontAlgn="base" hangingPunct="0">
              <a:lnSpc>
                <a:spcPct val="100000"/>
              </a:lnSpc>
              <a:spcBef>
                <a:spcPct val="0"/>
              </a:spcBef>
              <a:spcAft>
                <a:spcPct val="0"/>
              </a:spcAft>
            </a:pPr>
            <a:r>
              <a:rPr lang="en-US" altLang="en-US" dirty="0">
                <a:solidFill>
                  <a:srgbClr val="1F7EF1"/>
                </a:solidFill>
                <a:latin typeface="Bebas Neue" panose="020B0606020202050201" pitchFamily="34" charset="0"/>
              </a:rPr>
              <a:t>RECYCLABLE FILAMENT</a:t>
            </a:r>
          </a:p>
          <a:p>
            <a:pPr marL="0" indent="0" eaLnBrk="0" fontAlgn="base" hangingPunct="0">
              <a:lnSpc>
                <a:spcPct val="100000"/>
              </a:lnSpc>
              <a:spcBef>
                <a:spcPct val="0"/>
              </a:spcBef>
              <a:spcAft>
                <a:spcPct val="0"/>
              </a:spcAft>
              <a:buNone/>
            </a:pPr>
            <a:r>
              <a:rPr kumimoji="0" lang="en-US" altLang="en-US" sz="2400" b="0" i="0" u="none" strike="noStrike" cap="none" normalizeH="0" baseline="0" dirty="0">
                <a:ln>
                  <a:noFill/>
                </a:ln>
                <a:effectLst/>
                <a:latin typeface="+mj-lt"/>
              </a:rPr>
              <a:t>	</a:t>
            </a:r>
            <a:r>
              <a:rPr lang="en-US" altLang="en-US" sz="2000" dirty="0">
                <a:latin typeface="Georgia" panose="02040502050405020303" pitchFamily="18" charset="0"/>
              </a:rPr>
              <a:t>Filament made from waste plastic, suitable for reuse in 3D printing, supporting a circular economy.</a:t>
            </a:r>
          </a:p>
          <a:p>
            <a:pPr mar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effectLst/>
              <a:latin typeface="+mj-lt"/>
            </a:endParaRPr>
          </a:p>
          <a:p>
            <a:pPr eaLnBrk="0" fontAlgn="base" hangingPunct="0">
              <a:lnSpc>
                <a:spcPct val="100000"/>
              </a:lnSpc>
              <a:spcBef>
                <a:spcPct val="0"/>
              </a:spcBef>
              <a:spcAft>
                <a:spcPct val="0"/>
              </a:spcAft>
            </a:pPr>
            <a:r>
              <a:rPr lang="en-US" altLang="en-US" dirty="0">
                <a:solidFill>
                  <a:srgbClr val="1F7EF1"/>
                </a:solidFill>
                <a:latin typeface="Bebas Neue" panose="020B0606020202050201" pitchFamily="34" charset="0"/>
              </a:rPr>
              <a:t>3D PRINTING</a:t>
            </a:r>
          </a:p>
          <a:p>
            <a:pPr marL="0" indent="0" eaLnBrk="0" fontAlgn="base" hangingPunct="0">
              <a:lnSpc>
                <a:spcPct val="100000"/>
              </a:lnSpc>
              <a:spcBef>
                <a:spcPct val="0"/>
              </a:spcBef>
              <a:spcAft>
                <a:spcPct val="0"/>
              </a:spcAft>
              <a:buNone/>
            </a:pPr>
            <a:r>
              <a:rPr kumimoji="0" lang="en-US" altLang="en-US" sz="2400" b="0" i="0" u="none" strike="noStrike" cap="none" normalizeH="0" baseline="0" dirty="0">
                <a:ln>
                  <a:noFill/>
                </a:ln>
                <a:effectLst/>
                <a:latin typeface="+mj-lt"/>
              </a:rPr>
              <a:t>	</a:t>
            </a:r>
            <a:r>
              <a:rPr lang="en-US" altLang="en-US" sz="2000" dirty="0">
                <a:latin typeface="Georgia" panose="02040502050405020303" pitchFamily="18" charset="0"/>
              </a:rPr>
              <a:t>Additive manufacturing process that builds objects layer by layer using filaments, typically plastic, as material.</a:t>
            </a:r>
          </a:p>
          <a:p>
            <a:pPr mar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effectLst/>
            </a:endParaRPr>
          </a:p>
          <a:p>
            <a:pPr eaLnBrk="0" fontAlgn="base" hangingPunct="0">
              <a:lnSpc>
                <a:spcPct val="100000"/>
              </a:lnSpc>
              <a:spcBef>
                <a:spcPct val="0"/>
              </a:spcBef>
              <a:spcAft>
                <a:spcPct val="0"/>
              </a:spcAft>
            </a:pPr>
            <a:r>
              <a:rPr lang="en-US" altLang="en-US" dirty="0">
                <a:solidFill>
                  <a:srgbClr val="1F7EF1"/>
                </a:solidFill>
                <a:latin typeface="Bebas Neue" panose="020B0606020202050201" pitchFamily="34" charset="0"/>
              </a:rPr>
              <a:t>SUSTAINABLE MANUFACTURING</a:t>
            </a:r>
          </a:p>
          <a:p>
            <a:pPr marL="0" indent="0" eaLnBrk="0" fontAlgn="base" hangingPunct="0">
              <a:lnSpc>
                <a:spcPct val="100000"/>
              </a:lnSpc>
              <a:spcBef>
                <a:spcPct val="0"/>
              </a:spcBef>
              <a:spcAft>
                <a:spcPct val="0"/>
              </a:spcAft>
              <a:buNone/>
            </a:pPr>
            <a:r>
              <a:rPr kumimoji="0" lang="en-US" altLang="en-US" sz="2400" b="0" i="0" u="none" strike="noStrike" cap="none" normalizeH="0" baseline="0" dirty="0">
                <a:ln>
                  <a:noFill/>
                </a:ln>
                <a:effectLst/>
                <a:latin typeface="+mj-lt"/>
              </a:rPr>
              <a:t>	</a:t>
            </a:r>
            <a:r>
              <a:rPr lang="en-US" altLang="en-US" sz="2000" dirty="0">
                <a:latin typeface="Georgia" panose="02040502050405020303" pitchFamily="18" charset="0"/>
              </a:rPr>
              <a:t>Production process that minimizes environmental impact by reducing waste and reusing resources.</a:t>
            </a:r>
          </a:p>
        </p:txBody>
      </p:sp>
    </p:spTree>
    <p:extLst>
      <p:ext uri="{BB962C8B-B14F-4D97-AF65-F5344CB8AC3E}">
        <p14:creationId xmlns:p14="http://schemas.microsoft.com/office/powerpoint/2010/main" val="3669781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fade">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animEffect transition="in" filter="fade">
                                      <p:cBhvr>
                                        <p:cTn id="37" dur="500"/>
                                        <p:tgtEl>
                                          <p:spTgt spid="2">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fade">
                                      <p:cBhvr>
                                        <p:cTn id="4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FD9CE-4CA2-27F3-2693-568EBDC8588F}"/>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09CF1981-043B-EBA7-D417-E9DC6E249E8F}"/>
              </a:ext>
            </a:extLst>
          </p:cNvPr>
          <p:cNvSpPr txBox="1">
            <a:spLocks noGrp="1"/>
          </p:cNvSpPr>
          <p:nvPr>
            <p:ph type="title"/>
          </p:nvPr>
        </p:nvSpPr>
        <p:spPr>
          <a:xfrm>
            <a:off x="0" y="188259"/>
            <a:ext cx="5634318"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rPr>
              <a:t>INTRODUCTION</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8ACB55E9-BDFF-2D02-C668-8C488E12143B}"/>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01</a:t>
            </a:r>
          </a:p>
        </p:txBody>
      </p:sp>
      <p:sp>
        <p:nvSpPr>
          <p:cNvPr id="2" name="Content Placeholder 1">
            <a:extLst>
              <a:ext uri="{FF2B5EF4-FFF2-40B4-BE49-F238E27FC236}">
                <a16:creationId xmlns:a16="http://schemas.microsoft.com/office/drawing/2014/main" id="{0B40CA88-B4FC-D5E5-4676-5A576D21917E}"/>
              </a:ext>
            </a:extLst>
          </p:cNvPr>
          <p:cNvSpPr>
            <a:spLocks noGrp="1" noChangeArrowheads="1"/>
          </p:cNvSpPr>
          <p:nvPr>
            <p:ph idx="1"/>
          </p:nvPr>
        </p:nvSpPr>
        <p:spPr bwMode="auto">
          <a:xfrm>
            <a:off x="764208" y="1161774"/>
            <a:ext cx="10612192"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dirty="0">
                <a:solidFill>
                  <a:srgbClr val="1F7EF1"/>
                </a:solidFill>
                <a:latin typeface="Bebas Neue" panose="020B0606020202050201" pitchFamily="34" charset="0"/>
              </a:rPr>
              <a:t>Temperature Control</a:t>
            </a:r>
          </a:p>
          <a:p>
            <a:pPr marL="0" indent="0" eaLnBrk="0" fontAlgn="base" hangingPunct="0">
              <a:lnSpc>
                <a:spcPct val="100000"/>
              </a:lnSpc>
              <a:spcBef>
                <a:spcPct val="0"/>
              </a:spcBef>
              <a:spcAft>
                <a:spcPct val="0"/>
              </a:spcAft>
              <a:buNone/>
            </a:pPr>
            <a:r>
              <a:rPr lang="en-US" altLang="en-US" sz="2400" dirty="0">
                <a:latin typeface="+mj-lt"/>
              </a:rPr>
              <a:t>	</a:t>
            </a:r>
            <a:r>
              <a:rPr lang="en-US" altLang="en-US" sz="2000" dirty="0">
                <a:latin typeface="Georgia" panose="02040502050405020303" pitchFamily="18" charset="0"/>
              </a:rPr>
              <a:t>Precise regulation of heat within the extrusion machine is to ensure consistent melting and filament quality.</a:t>
            </a:r>
          </a:p>
          <a:p>
            <a:pPr mar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effectLst/>
              <a:latin typeface="+mj-lt"/>
            </a:endParaRPr>
          </a:p>
          <a:p>
            <a:pPr eaLnBrk="0" fontAlgn="base" hangingPunct="0">
              <a:lnSpc>
                <a:spcPct val="100000"/>
              </a:lnSpc>
              <a:spcBef>
                <a:spcPct val="0"/>
              </a:spcBef>
              <a:spcAft>
                <a:spcPct val="0"/>
              </a:spcAft>
            </a:pPr>
            <a:r>
              <a:rPr lang="en-US" altLang="en-US" dirty="0">
                <a:solidFill>
                  <a:srgbClr val="1F7EF1"/>
                </a:solidFill>
                <a:latin typeface="Bebas Neue" panose="020B0606020202050201" pitchFamily="34" charset="0"/>
              </a:rPr>
              <a:t>Filament Consistency</a:t>
            </a:r>
          </a:p>
          <a:p>
            <a:pPr marL="0" indent="0" eaLnBrk="0" fontAlgn="base" hangingPunct="0">
              <a:lnSpc>
                <a:spcPct val="100000"/>
              </a:lnSpc>
              <a:spcBef>
                <a:spcPct val="0"/>
              </a:spcBef>
              <a:spcAft>
                <a:spcPct val="0"/>
              </a:spcAft>
              <a:buNone/>
            </a:pPr>
            <a:r>
              <a:rPr lang="en-US" altLang="en-US" sz="2400" dirty="0">
                <a:latin typeface="+mj-lt"/>
              </a:rPr>
              <a:t>	</a:t>
            </a:r>
            <a:r>
              <a:rPr lang="en-US" altLang="en-US" sz="2000" dirty="0">
                <a:latin typeface="Georgia" panose="02040502050405020303" pitchFamily="18" charset="0"/>
              </a:rPr>
              <a:t>Uniformity in filament thickness and strength, is essential for reliable 3D printing.</a:t>
            </a:r>
          </a:p>
          <a:p>
            <a:pPr marL="0" indent="0" eaLnBrk="0" fontAlgn="base" hangingPunct="0">
              <a:lnSpc>
                <a:spcPct val="100000"/>
              </a:lnSpc>
              <a:spcBef>
                <a:spcPct val="0"/>
              </a:spcBef>
              <a:spcAft>
                <a:spcPct val="0"/>
              </a:spcAft>
              <a:buNone/>
            </a:pPr>
            <a:endParaRPr lang="en-US" altLang="en-US" sz="1800" dirty="0">
              <a:solidFill>
                <a:srgbClr val="1F7EF1"/>
              </a:solidFill>
              <a:latin typeface="Bebas Neue" panose="020B0606020202050201" pitchFamily="34" charset="0"/>
            </a:endParaRPr>
          </a:p>
          <a:p>
            <a:pPr eaLnBrk="0" fontAlgn="base" hangingPunct="0">
              <a:lnSpc>
                <a:spcPct val="100000"/>
              </a:lnSpc>
              <a:spcBef>
                <a:spcPct val="0"/>
              </a:spcBef>
              <a:spcAft>
                <a:spcPct val="0"/>
              </a:spcAft>
            </a:pPr>
            <a:r>
              <a:rPr lang="en-US" altLang="en-US" dirty="0">
                <a:solidFill>
                  <a:srgbClr val="1F7EF1"/>
                </a:solidFill>
                <a:latin typeface="Bebas Neue" panose="020B0606020202050201" pitchFamily="34" charset="0"/>
              </a:rPr>
              <a:t>Eco-Friendly Production</a:t>
            </a:r>
          </a:p>
          <a:p>
            <a:pPr marL="0" indent="0" eaLnBrk="0" fontAlgn="base" hangingPunct="0">
              <a:lnSpc>
                <a:spcPct val="100000"/>
              </a:lnSpc>
              <a:spcBef>
                <a:spcPct val="0"/>
              </a:spcBef>
              <a:spcAft>
                <a:spcPct val="0"/>
              </a:spcAft>
              <a:buNone/>
            </a:pPr>
            <a:r>
              <a:rPr lang="en-US" altLang="en-US" sz="2400" dirty="0">
                <a:latin typeface="+mj-lt"/>
              </a:rPr>
              <a:t>	</a:t>
            </a:r>
            <a:r>
              <a:rPr lang="en-US" altLang="en-US" sz="2000" dirty="0">
                <a:latin typeface="Georgia" panose="02040502050405020303" pitchFamily="18" charset="0"/>
              </a:rPr>
              <a:t>Manufacturing approach that reduces carbon footprint and waste, aligning with environmental sustainability goals.</a:t>
            </a:r>
          </a:p>
          <a:p>
            <a:pPr mar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effectLst/>
              <a:latin typeface="+mj-lt"/>
            </a:endParaRPr>
          </a:p>
          <a:p>
            <a:pPr eaLnBrk="0" fontAlgn="base" hangingPunct="0">
              <a:lnSpc>
                <a:spcPct val="100000"/>
              </a:lnSpc>
              <a:spcBef>
                <a:spcPct val="0"/>
              </a:spcBef>
              <a:spcAft>
                <a:spcPct val="0"/>
              </a:spcAft>
            </a:pPr>
            <a:r>
              <a:rPr lang="en-US" altLang="en-US" dirty="0">
                <a:solidFill>
                  <a:srgbClr val="1F7EF1"/>
                </a:solidFill>
                <a:latin typeface="Bebas Neue" panose="020B0606020202050201" pitchFamily="34" charset="0"/>
              </a:rPr>
              <a:t>Material Optimization</a:t>
            </a:r>
          </a:p>
          <a:p>
            <a:pPr marL="0" indent="0" eaLnBrk="0" fontAlgn="base" hangingPunct="0">
              <a:lnSpc>
                <a:spcPct val="100000"/>
              </a:lnSpc>
              <a:spcBef>
                <a:spcPct val="0"/>
              </a:spcBef>
              <a:spcAft>
                <a:spcPct val="0"/>
              </a:spcAft>
              <a:buNone/>
            </a:pPr>
            <a:r>
              <a:rPr kumimoji="0" lang="en-US" altLang="en-US" sz="2400" b="0" i="0" u="none" strike="noStrike" cap="none" normalizeH="0" baseline="0" dirty="0">
                <a:ln>
                  <a:noFill/>
                </a:ln>
                <a:effectLst/>
                <a:latin typeface="Railway"/>
              </a:rPr>
              <a:t>	</a:t>
            </a:r>
            <a:r>
              <a:rPr lang="en-US" altLang="en-US" sz="2000" dirty="0">
                <a:latin typeface="Georgia" panose="02040502050405020303" pitchFamily="18" charset="0"/>
              </a:rPr>
              <a:t>Process of selecting and treating recycled plastics for maximum performance and quality in filament output</a:t>
            </a:r>
          </a:p>
        </p:txBody>
      </p:sp>
    </p:spTree>
    <p:extLst>
      <p:ext uri="{BB962C8B-B14F-4D97-AF65-F5344CB8AC3E}">
        <p14:creationId xmlns:p14="http://schemas.microsoft.com/office/powerpoint/2010/main" val="3218948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fade">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animEffect transition="in" filter="fade">
                                      <p:cBhvr>
                                        <p:cTn id="37" dur="500"/>
                                        <p:tgtEl>
                                          <p:spTgt spid="2">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fade">
                                      <p:cBhvr>
                                        <p:cTn id="4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DA0F0-F3A7-7E09-8216-D19A9C6A61A6}"/>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C52EB7F4-0A38-A5A9-CE72-1D502F3E663A}"/>
              </a:ext>
            </a:extLst>
          </p:cNvPr>
          <p:cNvSpPr txBox="1">
            <a:spLocks noGrp="1"/>
          </p:cNvSpPr>
          <p:nvPr>
            <p:ph type="title"/>
          </p:nvPr>
        </p:nvSpPr>
        <p:spPr>
          <a:xfrm>
            <a:off x="0" y="188259"/>
            <a:ext cx="5634318"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rPr>
              <a:t>INTRODUCTION</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A4164AEA-4CD4-09A9-2E39-EB47200F9286}"/>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01</a:t>
            </a:r>
          </a:p>
        </p:txBody>
      </p:sp>
      <p:grpSp>
        <p:nvGrpSpPr>
          <p:cNvPr id="12" name="Group 11">
            <a:extLst>
              <a:ext uri="{FF2B5EF4-FFF2-40B4-BE49-F238E27FC236}">
                <a16:creationId xmlns:a16="http://schemas.microsoft.com/office/drawing/2014/main" id="{B5D8B448-36C9-3E2B-A272-FBCE83AF2168}"/>
              </a:ext>
            </a:extLst>
          </p:cNvPr>
          <p:cNvGrpSpPr/>
          <p:nvPr/>
        </p:nvGrpSpPr>
        <p:grpSpPr>
          <a:xfrm>
            <a:off x="914400" y="1118562"/>
            <a:ext cx="10544081" cy="1173658"/>
            <a:chOff x="469059" y="1118562"/>
            <a:chExt cx="10544081" cy="1173658"/>
          </a:xfrm>
        </p:grpSpPr>
        <p:sp>
          <p:nvSpPr>
            <p:cNvPr id="8" name="TextBox 7">
              <a:extLst>
                <a:ext uri="{FF2B5EF4-FFF2-40B4-BE49-F238E27FC236}">
                  <a16:creationId xmlns:a16="http://schemas.microsoft.com/office/drawing/2014/main" id="{E1A700B5-9AE0-82D4-CCCD-911472E72A57}"/>
                </a:ext>
              </a:extLst>
            </p:cNvPr>
            <p:cNvSpPr txBox="1"/>
            <p:nvPr/>
          </p:nvSpPr>
          <p:spPr>
            <a:xfrm>
              <a:off x="469059" y="1118562"/>
              <a:ext cx="822661" cy="769441"/>
            </a:xfrm>
            <a:prstGeom prst="rect">
              <a:avLst/>
            </a:prstGeom>
            <a:noFill/>
          </p:spPr>
          <p:txBody>
            <a:bodyPr wrap="none" rtlCol="0">
              <a:spAutoFit/>
            </a:bodyPr>
            <a:lstStyle/>
            <a:p>
              <a:pPr eaLnBrk="0" fontAlgn="base" hangingPunct="0">
                <a:spcBef>
                  <a:spcPct val="0"/>
                </a:spcBef>
                <a:spcAft>
                  <a:spcPct val="0"/>
                </a:spcAft>
              </a:pPr>
              <a:r>
                <a:rPr lang="en-US" sz="4400" dirty="0">
                  <a:solidFill>
                    <a:srgbClr val="1F7EF1"/>
                  </a:solidFill>
                  <a:latin typeface="Bebas Neue" panose="020B0606020202050201" pitchFamily="34" charset="0"/>
                </a:rPr>
                <a:t>AIM</a:t>
              </a:r>
            </a:p>
          </p:txBody>
        </p:sp>
        <p:sp>
          <p:nvSpPr>
            <p:cNvPr id="9" name="TextBox 8">
              <a:extLst>
                <a:ext uri="{FF2B5EF4-FFF2-40B4-BE49-F238E27FC236}">
                  <a16:creationId xmlns:a16="http://schemas.microsoft.com/office/drawing/2014/main" id="{506E7EB4-F0CD-D2FC-4F49-CF7365A7F1CA}"/>
                </a:ext>
              </a:extLst>
            </p:cNvPr>
            <p:cNvSpPr txBox="1"/>
            <p:nvPr/>
          </p:nvSpPr>
          <p:spPr>
            <a:xfrm>
              <a:off x="566669" y="1892110"/>
              <a:ext cx="10446471" cy="400110"/>
            </a:xfrm>
            <a:prstGeom prst="rect">
              <a:avLst/>
            </a:prstGeom>
            <a:noFill/>
          </p:spPr>
          <p:txBody>
            <a:bodyPr wrap="square" rtlCol="0">
              <a:spAutoFit/>
            </a:bodyPr>
            <a:lstStyle/>
            <a:p>
              <a:r>
                <a:rPr lang="en-US" sz="2000" dirty="0">
                  <a:latin typeface="Georgia" panose="02040502050405020303" pitchFamily="18" charset="0"/>
                </a:rPr>
                <a:t>To design and develop an innovative extrusion machine for recyclable filaments.</a:t>
              </a:r>
            </a:p>
          </p:txBody>
        </p:sp>
      </p:grpSp>
      <p:sp>
        <p:nvSpPr>
          <p:cNvPr id="10" name="TextBox 9">
            <a:extLst>
              <a:ext uri="{FF2B5EF4-FFF2-40B4-BE49-F238E27FC236}">
                <a16:creationId xmlns:a16="http://schemas.microsoft.com/office/drawing/2014/main" id="{544C7021-B257-9A44-B863-14C577FB5C9A}"/>
              </a:ext>
            </a:extLst>
          </p:cNvPr>
          <p:cNvSpPr txBox="1"/>
          <p:nvPr/>
        </p:nvSpPr>
        <p:spPr>
          <a:xfrm>
            <a:off x="914400" y="2596692"/>
            <a:ext cx="2153154" cy="769441"/>
          </a:xfrm>
          <a:prstGeom prst="rect">
            <a:avLst/>
          </a:prstGeom>
          <a:noFill/>
        </p:spPr>
        <p:txBody>
          <a:bodyPr wrap="none" rtlCol="0">
            <a:spAutoFit/>
          </a:bodyPr>
          <a:lstStyle/>
          <a:p>
            <a:pPr eaLnBrk="0" fontAlgn="base" hangingPunct="0">
              <a:spcBef>
                <a:spcPct val="0"/>
              </a:spcBef>
              <a:spcAft>
                <a:spcPct val="0"/>
              </a:spcAft>
            </a:pPr>
            <a:r>
              <a:rPr lang="en-US" sz="4400" dirty="0">
                <a:solidFill>
                  <a:srgbClr val="1F7EF1"/>
                </a:solidFill>
                <a:latin typeface="Bebas Neue" panose="020B0606020202050201" pitchFamily="34" charset="0"/>
              </a:rPr>
              <a:t>Objectives</a:t>
            </a:r>
          </a:p>
        </p:txBody>
      </p:sp>
      <p:sp>
        <p:nvSpPr>
          <p:cNvPr id="15" name="TextBox 14">
            <a:extLst>
              <a:ext uri="{FF2B5EF4-FFF2-40B4-BE49-F238E27FC236}">
                <a16:creationId xmlns:a16="http://schemas.microsoft.com/office/drawing/2014/main" id="{9E02AD8B-AFC0-8CF7-BC21-5328BD86F197}"/>
              </a:ext>
            </a:extLst>
          </p:cNvPr>
          <p:cNvSpPr txBox="1"/>
          <p:nvPr/>
        </p:nvSpPr>
        <p:spPr>
          <a:xfrm>
            <a:off x="1012010" y="3269930"/>
            <a:ext cx="10446471" cy="2743443"/>
          </a:xfrm>
          <a:prstGeom prst="rect">
            <a:avLst/>
          </a:prstGeom>
          <a:noFill/>
        </p:spPr>
        <p:txBody>
          <a:bodyPr wrap="square">
            <a:spAutoFit/>
          </a:bodyPr>
          <a:lstStyle/>
          <a:p>
            <a:pPr marL="342900" marR="455295" lvl="2" indent="-342900" algn="just">
              <a:lnSpc>
                <a:spcPct val="145000"/>
              </a:lnSpc>
              <a:spcBef>
                <a:spcPts val="1190"/>
              </a:spcBef>
              <a:buClr>
                <a:srgbClr val="1F7EF1"/>
              </a:buClr>
              <a:buSzPct val="63000"/>
              <a:buFont typeface="Arial" panose="020B0604020202020204" pitchFamily="34" charset="0"/>
              <a:buChar char="•"/>
              <a:tabLst>
                <a:tab pos="914400" algn="l"/>
              </a:tabLst>
            </a:pPr>
            <a:r>
              <a:rPr lang="en-US" sz="2000" dirty="0">
                <a:latin typeface="Georgia" panose="02040502050405020303" pitchFamily="18" charset="0"/>
              </a:rPr>
              <a:t>To design a low-cost extrusion machine that provides an affordable solution without compromising on quality or efficiency.</a:t>
            </a:r>
          </a:p>
          <a:p>
            <a:pPr marL="342900" marR="457835" lvl="2" indent="-342900" algn="just">
              <a:lnSpc>
                <a:spcPct val="145000"/>
              </a:lnSpc>
              <a:spcBef>
                <a:spcPts val="65"/>
              </a:spcBef>
              <a:buClr>
                <a:srgbClr val="1F7EF1"/>
              </a:buClr>
              <a:buSzPct val="63000"/>
              <a:buFont typeface="Arial" panose="020B0604020202020204" pitchFamily="34" charset="0"/>
              <a:buChar char="•"/>
              <a:tabLst>
                <a:tab pos="914400" algn="l"/>
              </a:tabLst>
            </a:pPr>
            <a:r>
              <a:rPr lang="en-US" sz="2000" dirty="0">
                <a:latin typeface="Georgia" panose="02040502050405020303" pitchFamily="18" charset="0"/>
              </a:rPr>
              <a:t>To develop an innovative and portable design for the machine, ensuring ease of use and mobility for various applications.</a:t>
            </a:r>
          </a:p>
          <a:p>
            <a:pPr marL="342900" marR="457200" lvl="2" indent="-342900" algn="just">
              <a:lnSpc>
                <a:spcPct val="145000"/>
              </a:lnSpc>
              <a:spcBef>
                <a:spcPts val="60"/>
              </a:spcBef>
              <a:buClr>
                <a:srgbClr val="1F7EF1"/>
              </a:buClr>
              <a:buSzPct val="63000"/>
              <a:buFont typeface="Arial" panose="020B0604020202020204" pitchFamily="34" charset="0"/>
              <a:buChar char="•"/>
              <a:tabLst>
                <a:tab pos="914400" algn="l"/>
              </a:tabLst>
            </a:pPr>
            <a:r>
              <a:rPr lang="en-US" sz="2000" dirty="0">
                <a:latin typeface="Georgia" panose="02040502050405020303" pitchFamily="18" charset="0"/>
              </a:rPr>
              <a:t>To recycle waste filament generated from 3D printing, allowing for the reuse of materials and promoting sustainability in the 3D printing process.</a:t>
            </a:r>
          </a:p>
        </p:txBody>
      </p:sp>
    </p:spTree>
    <p:extLst>
      <p:ext uri="{BB962C8B-B14F-4D97-AF65-F5344CB8AC3E}">
        <p14:creationId xmlns:p14="http://schemas.microsoft.com/office/powerpoint/2010/main" val="1332512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09DC8-65D4-5267-5D38-BF4EBD1B5C34}"/>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8BDCDF55-8B31-B626-DE8D-314F31E1B7D5}"/>
              </a:ext>
            </a:extLst>
          </p:cNvPr>
          <p:cNvSpPr txBox="1">
            <a:spLocks noGrp="1"/>
          </p:cNvSpPr>
          <p:nvPr>
            <p:ph type="title"/>
          </p:nvPr>
        </p:nvSpPr>
        <p:spPr>
          <a:xfrm>
            <a:off x="0" y="188259"/>
            <a:ext cx="5634318"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rPr>
              <a:t>INTRODUCTION</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F6602222-9E9B-46FE-4D29-35EE3643CC98}"/>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01</a:t>
            </a:r>
          </a:p>
        </p:txBody>
      </p:sp>
      <p:sp>
        <p:nvSpPr>
          <p:cNvPr id="8" name="TextBox 7">
            <a:extLst>
              <a:ext uri="{FF2B5EF4-FFF2-40B4-BE49-F238E27FC236}">
                <a16:creationId xmlns:a16="http://schemas.microsoft.com/office/drawing/2014/main" id="{5F758D75-614C-D13C-10F8-0D6D3021F796}"/>
              </a:ext>
            </a:extLst>
          </p:cNvPr>
          <p:cNvSpPr txBox="1"/>
          <p:nvPr/>
        </p:nvSpPr>
        <p:spPr>
          <a:xfrm>
            <a:off x="5597306" y="529679"/>
            <a:ext cx="997389" cy="769441"/>
          </a:xfrm>
          <a:prstGeom prst="rect">
            <a:avLst/>
          </a:prstGeom>
          <a:noFill/>
        </p:spPr>
        <p:txBody>
          <a:bodyPr wrap="none" rtlCol="0">
            <a:spAutoFit/>
          </a:bodyPr>
          <a:lstStyle/>
          <a:p>
            <a:pPr eaLnBrk="0" fontAlgn="base" hangingPunct="0">
              <a:spcBef>
                <a:spcPct val="0"/>
              </a:spcBef>
              <a:spcAft>
                <a:spcPct val="0"/>
              </a:spcAft>
            </a:pPr>
            <a:r>
              <a:rPr lang="en-US" sz="4400" dirty="0">
                <a:solidFill>
                  <a:srgbClr val="1F7EF1"/>
                </a:solidFill>
                <a:latin typeface="Bebas Neue" panose="020B0606020202050201" pitchFamily="34" charset="0"/>
              </a:rPr>
              <a:t>SDG</a:t>
            </a:r>
            <a:r>
              <a:rPr lang="en-US" sz="3200" dirty="0">
                <a:solidFill>
                  <a:srgbClr val="1F7EF1"/>
                </a:solidFill>
                <a:latin typeface="Bebas Neue" panose="020B0606020202050201" pitchFamily="34" charset="0"/>
              </a:rPr>
              <a:t>s</a:t>
            </a:r>
            <a:endParaRPr lang="en-US" sz="4400" dirty="0">
              <a:solidFill>
                <a:srgbClr val="1F7EF1"/>
              </a:solidFill>
              <a:latin typeface="Bebas Neue" panose="020B0606020202050201" pitchFamily="34" charset="0"/>
            </a:endParaRPr>
          </a:p>
        </p:txBody>
      </p:sp>
      <p:graphicFrame>
        <p:nvGraphicFramePr>
          <p:cNvPr id="2" name="Table 1">
            <a:extLst>
              <a:ext uri="{FF2B5EF4-FFF2-40B4-BE49-F238E27FC236}">
                <a16:creationId xmlns:a16="http://schemas.microsoft.com/office/drawing/2014/main" id="{5770DB10-99BC-ED36-997F-0CB0D7859CF0}"/>
              </a:ext>
            </a:extLst>
          </p:cNvPr>
          <p:cNvGraphicFramePr>
            <a:graphicFrameLocks noGrp="1"/>
          </p:cNvGraphicFramePr>
          <p:nvPr>
            <p:extLst>
              <p:ext uri="{D42A27DB-BD31-4B8C-83A1-F6EECF244321}">
                <p14:modId xmlns:p14="http://schemas.microsoft.com/office/powerpoint/2010/main" val="1436537756"/>
              </p:ext>
            </p:extLst>
          </p:nvPr>
        </p:nvGraphicFramePr>
        <p:xfrm>
          <a:off x="759759" y="1219867"/>
          <a:ext cx="10672482" cy="5091569"/>
        </p:xfrm>
        <a:graphic>
          <a:graphicData uri="http://schemas.openxmlformats.org/drawingml/2006/table">
            <a:tbl>
              <a:tblPr firstRow="1" firstCol="1" lastRow="1" lastCol="1" bandRow="1" bandCol="1">
                <a:tableStyleId>{5940675A-B579-460E-94D1-54222C63F5DA}</a:tableStyleId>
              </a:tblPr>
              <a:tblGrid>
                <a:gridCol w="1432357">
                  <a:extLst>
                    <a:ext uri="{9D8B030D-6E8A-4147-A177-3AD203B41FA5}">
                      <a16:colId xmlns:a16="http://schemas.microsoft.com/office/drawing/2014/main" val="516982571"/>
                    </a:ext>
                  </a:extLst>
                </a:gridCol>
                <a:gridCol w="3832166">
                  <a:extLst>
                    <a:ext uri="{9D8B030D-6E8A-4147-A177-3AD203B41FA5}">
                      <a16:colId xmlns:a16="http://schemas.microsoft.com/office/drawing/2014/main" val="1090275022"/>
                    </a:ext>
                  </a:extLst>
                </a:gridCol>
                <a:gridCol w="5407959">
                  <a:extLst>
                    <a:ext uri="{9D8B030D-6E8A-4147-A177-3AD203B41FA5}">
                      <a16:colId xmlns:a16="http://schemas.microsoft.com/office/drawing/2014/main" val="2260894148"/>
                    </a:ext>
                  </a:extLst>
                </a:gridCol>
              </a:tblGrid>
              <a:tr h="400028">
                <a:tc>
                  <a:txBody>
                    <a:bodyPr/>
                    <a:lstStyle/>
                    <a:p>
                      <a:pPr marL="6350" marR="0" algn="ctr">
                        <a:spcBef>
                          <a:spcPts val="515"/>
                        </a:spcBef>
                      </a:pPr>
                      <a:r>
                        <a:rPr lang="en-US" sz="1600" dirty="0">
                          <a:solidFill>
                            <a:srgbClr val="1F7EF1"/>
                          </a:solidFill>
                          <a:effectLst/>
                          <a:latin typeface="Poppins" panose="00000800000000000000" pitchFamily="2" charset="0"/>
                          <a:cs typeface="Poppins" panose="00000800000000000000" pitchFamily="2" charset="0"/>
                        </a:rPr>
                        <a:t>GOAL ID</a:t>
                      </a:r>
                      <a:endParaRPr lang="en-US" sz="1100" dirty="0">
                        <a:solidFill>
                          <a:srgbClr val="1F7EF1"/>
                        </a:solidFill>
                        <a:effectLst/>
                        <a:latin typeface="Poppins" panose="00000800000000000000" pitchFamily="2" charset="0"/>
                        <a:ea typeface="Times New Roman" panose="02020603050405020304" pitchFamily="18" charset="0"/>
                        <a:cs typeface="Poppins" panose="00000800000000000000" pitchFamily="2" charset="0"/>
                      </a:endParaRPr>
                    </a:p>
                  </a:txBody>
                  <a:tcPr marL="0" marR="0" marT="0" marB="0" anchor="ctr"/>
                </a:tc>
                <a:tc>
                  <a:txBody>
                    <a:bodyPr/>
                    <a:lstStyle/>
                    <a:p>
                      <a:pPr marL="3175" marR="0" algn="ctr">
                        <a:spcBef>
                          <a:spcPts val="515"/>
                        </a:spcBef>
                      </a:pPr>
                      <a:r>
                        <a:rPr lang="en-US" sz="1600" dirty="0">
                          <a:solidFill>
                            <a:srgbClr val="1F7EF1"/>
                          </a:solidFill>
                          <a:effectLst/>
                          <a:latin typeface="Poppins" panose="00000800000000000000" pitchFamily="2" charset="0"/>
                          <a:cs typeface="Poppins" panose="00000800000000000000" pitchFamily="2" charset="0"/>
                        </a:rPr>
                        <a:t>SUSTAINABLE DEVELOPMENT GOAL</a:t>
                      </a:r>
                      <a:endParaRPr lang="en-US" sz="1100" dirty="0">
                        <a:solidFill>
                          <a:srgbClr val="1F7EF1"/>
                        </a:solidFill>
                        <a:effectLst/>
                        <a:latin typeface="Poppins" panose="00000800000000000000" pitchFamily="2" charset="0"/>
                        <a:ea typeface="Times New Roman" panose="02020603050405020304" pitchFamily="18" charset="0"/>
                        <a:cs typeface="Poppins" panose="00000800000000000000" pitchFamily="2" charset="0"/>
                      </a:endParaRPr>
                    </a:p>
                  </a:txBody>
                  <a:tcPr marL="0" marR="0" marT="0" marB="0" anchor="ctr"/>
                </a:tc>
                <a:tc>
                  <a:txBody>
                    <a:bodyPr/>
                    <a:lstStyle/>
                    <a:p>
                      <a:pPr marL="842645" marR="0" algn="ctr">
                        <a:spcBef>
                          <a:spcPts val="515"/>
                        </a:spcBef>
                      </a:pPr>
                      <a:r>
                        <a:rPr lang="en-US" sz="1600" spc="-10" dirty="0">
                          <a:solidFill>
                            <a:srgbClr val="1F7EF1"/>
                          </a:solidFill>
                          <a:effectLst/>
                          <a:latin typeface="Poppins" panose="00000800000000000000" pitchFamily="2" charset="0"/>
                          <a:ea typeface="Times New Roman" panose="02020603050405020304" pitchFamily="18" charset="0"/>
                          <a:cs typeface="Poppins" panose="00000800000000000000" pitchFamily="2" charset="0"/>
                        </a:rPr>
                        <a:t>DESCRIPTION</a:t>
                      </a:r>
                      <a:endParaRPr lang="en-US" sz="1100" dirty="0">
                        <a:solidFill>
                          <a:srgbClr val="1F7EF1"/>
                        </a:solidFill>
                        <a:effectLst/>
                        <a:latin typeface="Poppins" panose="00000800000000000000" pitchFamily="2" charset="0"/>
                        <a:ea typeface="Times New Roman" panose="02020603050405020304" pitchFamily="18" charset="0"/>
                        <a:cs typeface="Poppins" panose="00000800000000000000" pitchFamily="2" charset="0"/>
                      </a:endParaRPr>
                    </a:p>
                  </a:txBody>
                  <a:tcPr marL="0" marR="0" marT="0" marB="0" anchor="ctr"/>
                </a:tc>
                <a:extLst>
                  <a:ext uri="{0D108BD9-81ED-4DB2-BD59-A6C34878D82A}">
                    <a16:rowId xmlns:a16="http://schemas.microsoft.com/office/drawing/2014/main" val="2496294213"/>
                  </a:ext>
                </a:extLst>
              </a:tr>
              <a:tr h="2987455">
                <a:tc>
                  <a:txBody>
                    <a:bodyPr/>
                    <a:lstStyle/>
                    <a:p>
                      <a:pPr marL="6350" marR="635" algn="ctr"/>
                      <a:r>
                        <a:rPr lang="en-US" sz="1600" dirty="0">
                          <a:effectLst/>
                          <a:latin typeface="Georgia" panose="02040502050405020303" pitchFamily="18" charset="0"/>
                        </a:rPr>
                        <a:t>Goal </a:t>
                      </a:r>
                      <a:r>
                        <a:rPr lang="en-US" sz="1600" spc="-50" dirty="0">
                          <a:effectLst/>
                          <a:latin typeface="Georgia" panose="02040502050405020303" pitchFamily="18" charset="0"/>
                        </a:rPr>
                        <a:t>9</a:t>
                      </a:r>
                      <a:endParaRPr lang="en-US" sz="1200" dirty="0">
                        <a:effectLst/>
                        <a:latin typeface="Georgia" panose="02040502050405020303" pitchFamily="18" charset="0"/>
                        <a:ea typeface="Times New Roman" panose="02020603050405020304" pitchFamily="18" charset="0"/>
                        <a:cs typeface="Arial" panose="020B0604020202020204" pitchFamily="34" charset="0"/>
                      </a:endParaRPr>
                    </a:p>
                  </a:txBody>
                  <a:tcPr marL="0" marR="0" marT="0" marB="0" anchor="ctr"/>
                </a:tc>
                <a:tc>
                  <a:txBody>
                    <a:bodyPr/>
                    <a:lstStyle/>
                    <a:p>
                      <a:pPr marL="3175" marR="1905" algn="ctr"/>
                      <a:r>
                        <a:rPr lang="en-US" sz="1600" dirty="0">
                          <a:effectLst/>
                          <a:latin typeface="Georgia" panose="02040502050405020303" pitchFamily="18" charset="0"/>
                        </a:rPr>
                        <a:t>Industry,</a:t>
                      </a:r>
                      <a:r>
                        <a:rPr lang="en-US" sz="1600" spc="-35" dirty="0">
                          <a:effectLst/>
                          <a:latin typeface="Georgia" panose="02040502050405020303" pitchFamily="18" charset="0"/>
                        </a:rPr>
                        <a:t> </a:t>
                      </a:r>
                      <a:r>
                        <a:rPr lang="en-US" sz="1600" dirty="0">
                          <a:effectLst/>
                          <a:latin typeface="Georgia" panose="02040502050405020303" pitchFamily="18" charset="0"/>
                        </a:rPr>
                        <a:t>Innovation,</a:t>
                      </a:r>
                      <a:r>
                        <a:rPr lang="en-US" sz="1600" spc="-30" dirty="0">
                          <a:effectLst/>
                          <a:latin typeface="Georgia" panose="02040502050405020303" pitchFamily="18" charset="0"/>
                        </a:rPr>
                        <a:t> </a:t>
                      </a:r>
                      <a:r>
                        <a:rPr lang="en-US" sz="1600" dirty="0">
                          <a:effectLst/>
                          <a:latin typeface="Georgia" panose="02040502050405020303" pitchFamily="18" charset="0"/>
                        </a:rPr>
                        <a:t>and</a:t>
                      </a:r>
                      <a:r>
                        <a:rPr lang="en-US" sz="1600" spc="-20" dirty="0">
                          <a:effectLst/>
                          <a:latin typeface="Georgia" panose="02040502050405020303" pitchFamily="18" charset="0"/>
                        </a:rPr>
                        <a:t> </a:t>
                      </a:r>
                      <a:r>
                        <a:rPr lang="en-US" sz="1600" spc="-10" dirty="0">
                          <a:effectLst/>
                          <a:latin typeface="Georgia" panose="02040502050405020303" pitchFamily="18" charset="0"/>
                        </a:rPr>
                        <a:t>Infrastructure</a:t>
                      </a:r>
                      <a:endParaRPr lang="en-US" sz="1200" dirty="0">
                        <a:effectLst/>
                        <a:latin typeface="Georgia" panose="02040502050405020303" pitchFamily="18" charset="0"/>
                        <a:ea typeface="Times New Roman" panose="02020603050405020304" pitchFamily="18" charset="0"/>
                        <a:cs typeface="Arial" panose="020B0604020202020204" pitchFamily="34" charset="0"/>
                      </a:endParaRPr>
                    </a:p>
                  </a:txBody>
                  <a:tcPr marL="0" marR="0" marT="0" marB="0" anchor="ctr"/>
                </a:tc>
                <a:tc>
                  <a:txBody>
                    <a:bodyPr/>
                    <a:lstStyle/>
                    <a:p>
                      <a:pPr marL="66675" marR="61595" algn="just">
                        <a:lnSpc>
                          <a:spcPct val="150000"/>
                        </a:lnSpc>
                      </a:pPr>
                      <a:r>
                        <a:rPr lang="en-US" sz="1600" dirty="0">
                          <a:effectLst/>
                          <a:latin typeface="Georgia" panose="02040502050405020303" pitchFamily="18" charset="0"/>
                        </a:rPr>
                        <a:t>The design of an extrusion machine for </a:t>
                      </a:r>
                      <a:r>
                        <a:rPr lang="en-US" sz="1600" spc="-10" dirty="0">
                          <a:effectLst/>
                          <a:latin typeface="Georgia" panose="02040502050405020303" pitchFamily="18" charset="0"/>
                        </a:rPr>
                        <a:t>recyclable</a:t>
                      </a:r>
                      <a:r>
                        <a:rPr lang="en-US" sz="1600" spc="-15" dirty="0">
                          <a:effectLst/>
                          <a:latin typeface="Georgia" panose="02040502050405020303" pitchFamily="18" charset="0"/>
                        </a:rPr>
                        <a:t> </a:t>
                      </a:r>
                      <a:r>
                        <a:rPr lang="en-US" sz="1600" spc="-10" dirty="0">
                          <a:effectLst/>
                          <a:latin typeface="Georgia" panose="02040502050405020303" pitchFamily="18" charset="0"/>
                        </a:rPr>
                        <a:t>filament</a:t>
                      </a:r>
                      <a:r>
                        <a:rPr lang="en-US" sz="1600" spc="-15" dirty="0">
                          <a:effectLst/>
                          <a:latin typeface="Georgia" panose="02040502050405020303" pitchFamily="18" charset="0"/>
                        </a:rPr>
                        <a:t> </a:t>
                      </a:r>
                      <a:r>
                        <a:rPr lang="en-US" sz="1600" spc="-10" dirty="0">
                          <a:effectLst/>
                          <a:latin typeface="Georgia" panose="02040502050405020303" pitchFamily="18" charset="0"/>
                        </a:rPr>
                        <a:t>promotes</a:t>
                      </a:r>
                      <a:r>
                        <a:rPr lang="en-US" sz="1600" spc="-15" dirty="0">
                          <a:effectLst/>
                          <a:latin typeface="Georgia" panose="02040502050405020303" pitchFamily="18" charset="0"/>
                        </a:rPr>
                        <a:t> </a:t>
                      </a:r>
                      <a:r>
                        <a:rPr lang="en-US" sz="1600" spc="-10" dirty="0">
                          <a:effectLst/>
                          <a:latin typeface="Georgia" panose="02040502050405020303" pitchFamily="18" charset="0"/>
                        </a:rPr>
                        <a:t>innovative </a:t>
                      </a:r>
                      <a:r>
                        <a:rPr lang="en-US" sz="1600" dirty="0">
                          <a:effectLst/>
                          <a:latin typeface="Georgia" panose="02040502050405020303" pitchFamily="18" charset="0"/>
                        </a:rPr>
                        <a:t>manufacturing techniques that enhance the efficiency of the 3D printing industry by using sustainable, recyclable materials. The project helps advance infrastructure in the additive manufacturing industry by reducing reliance on non-recycled filaments and contributing</a:t>
                      </a:r>
                      <a:r>
                        <a:rPr lang="en-US" sz="1600" spc="200" dirty="0">
                          <a:effectLst/>
                          <a:latin typeface="Georgia" panose="02040502050405020303" pitchFamily="18" charset="0"/>
                        </a:rPr>
                        <a:t> </a:t>
                      </a:r>
                      <a:r>
                        <a:rPr lang="en-US" sz="1600" dirty="0">
                          <a:effectLst/>
                          <a:latin typeface="Georgia" panose="02040502050405020303" pitchFamily="18" charset="0"/>
                        </a:rPr>
                        <a:t>to</a:t>
                      </a:r>
                      <a:r>
                        <a:rPr lang="en-US" sz="1600" spc="200" dirty="0">
                          <a:effectLst/>
                          <a:latin typeface="Georgia" panose="02040502050405020303" pitchFamily="18" charset="0"/>
                        </a:rPr>
                        <a:t> </a:t>
                      </a:r>
                      <a:r>
                        <a:rPr lang="en-US" sz="1600" dirty="0">
                          <a:effectLst/>
                          <a:latin typeface="Georgia" panose="02040502050405020303" pitchFamily="18" charset="0"/>
                        </a:rPr>
                        <a:t>efficient,</a:t>
                      </a:r>
                      <a:r>
                        <a:rPr lang="en-US" sz="1600" spc="215" dirty="0">
                          <a:effectLst/>
                          <a:latin typeface="Georgia" panose="02040502050405020303" pitchFamily="18" charset="0"/>
                        </a:rPr>
                        <a:t> </a:t>
                      </a:r>
                      <a:r>
                        <a:rPr lang="en-US" sz="1600" dirty="0">
                          <a:effectLst/>
                          <a:latin typeface="Georgia" panose="02040502050405020303" pitchFamily="18" charset="0"/>
                        </a:rPr>
                        <a:t>cost-</a:t>
                      </a:r>
                      <a:r>
                        <a:rPr lang="en-US" sz="1600" spc="-10" dirty="0">
                          <a:effectLst/>
                          <a:latin typeface="Georgia" panose="02040502050405020303" pitchFamily="18" charset="0"/>
                        </a:rPr>
                        <a:t>effective</a:t>
                      </a:r>
                      <a:r>
                        <a:rPr lang="en-US" sz="1200" spc="-10" dirty="0">
                          <a:effectLst/>
                          <a:latin typeface="Georgia" panose="02040502050405020303" pitchFamily="18" charset="0"/>
                        </a:rPr>
                        <a:t> </a:t>
                      </a:r>
                      <a:r>
                        <a:rPr lang="en-US" sz="1600" dirty="0">
                          <a:effectLst/>
                          <a:latin typeface="Georgia" panose="02040502050405020303" pitchFamily="18" charset="0"/>
                        </a:rPr>
                        <a:t>material</a:t>
                      </a:r>
                      <a:r>
                        <a:rPr lang="en-US" sz="1600" spc="-15" dirty="0">
                          <a:effectLst/>
                          <a:latin typeface="Georgia" panose="02040502050405020303" pitchFamily="18" charset="0"/>
                        </a:rPr>
                        <a:t> </a:t>
                      </a:r>
                      <a:r>
                        <a:rPr lang="en-US" sz="1600" spc="-10" dirty="0">
                          <a:effectLst/>
                          <a:latin typeface="Georgia" panose="02040502050405020303" pitchFamily="18" charset="0"/>
                        </a:rPr>
                        <a:t>production.</a:t>
                      </a:r>
                      <a:endParaRPr lang="en-US" sz="1200" dirty="0">
                        <a:effectLst/>
                        <a:latin typeface="Georgia" panose="02040502050405020303" pitchFamily="18" charset="0"/>
                        <a:ea typeface="Times New Roman" panose="02020603050405020304" pitchFamily="18" charset="0"/>
                        <a:cs typeface="Arial" panose="020B0604020202020204" pitchFamily="34" charset="0"/>
                      </a:endParaRPr>
                    </a:p>
                  </a:txBody>
                  <a:tcPr marL="0" marR="0" marT="0" marB="0" anchor="ctr"/>
                </a:tc>
                <a:extLst>
                  <a:ext uri="{0D108BD9-81ED-4DB2-BD59-A6C34878D82A}">
                    <a16:rowId xmlns:a16="http://schemas.microsoft.com/office/drawing/2014/main" val="2378660250"/>
                  </a:ext>
                </a:extLst>
              </a:tr>
              <a:tr h="1470720">
                <a:tc>
                  <a:txBody>
                    <a:bodyPr/>
                    <a:lstStyle/>
                    <a:p>
                      <a:pPr marL="0" marR="0" algn="ctr"/>
                      <a:r>
                        <a:rPr lang="en-US" sz="1600" dirty="0">
                          <a:effectLst/>
                          <a:latin typeface="Georgia" panose="02040502050405020303" pitchFamily="18" charset="0"/>
                        </a:rPr>
                        <a:t>Goal </a:t>
                      </a:r>
                      <a:r>
                        <a:rPr lang="en-US" sz="1600" spc="-25" dirty="0">
                          <a:effectLst/>
                          <a:latin typeface="Georgia" panose="02040502050405020303" pitchFamily="18" charset="0"/>
                        </a:rPr>
                        <a:t>12</a:t>
                      </a:r>
                      <a:endParaRPr lang="en-US" sz="1200" dirty="0">
                        <a:effectLst/>
                        <a:latin typeface="Georgia" panose="02040502050405020303" pitchFamily="18" charset="0"/>
                        <a:ea typeface="Times New Roman" panose="02020603050405020304" pitchFamily="18" charset="0"/>
                        <a:cs typeface="Arial" panose="020B0604020202020204" pitchFamily="34" charset="0"/>
                      </a:endParaRPr>
                    </a:p>
                  </a:txBody>
                  <a:tcPr marL="0" marR="0" marT="0" marB="0" anchor="ctr"/>
                </a:tc>
                <a:tc>
                  <a:txBody>
                    <a:bodyPr/>
                    <a:lstStyle/>
                    <a:p>
                      <a:pPr marL="951230" marR="0" indent="-598170" algn="ctr">
                        <a:lnSpc>
                          <a:spcPct val="150000"/>
                        </a:lnSpc>
                        <a:spcBef>
                          <a:spcPts val="5"/>
                        </a:spcBef>
                      </a:pPr>
                      <a:r>
                        <a:rPr lang="en-US" sz="1600" dirty="0">
                          <a:effectLst/>
                          <a:latin typeface="Georgia" panose="02040502050405020303" pitchFamily="18" charset="0"/>
                        </a:rPr>
                        <a:t>Responsible</a:t>
                      </a:r>
                      <a:r>
                        <a:rPr lang="en-US" sz="1600" spc="-75" dirty="0">
                          <a:effectLst/>
                          <a:latin typeface="Georgia" panose="02040502050405020303" pitchFamily="18" charset="0"/>
                        </a:rPr>
                        <a:t> </a:t>
                      </a:r>
                      <a:r>
                        <a:rPr lang="en-US" sz="1600" dirty="0">
                          <a:effectLst/>
                          <a:latin typeface="Georgia" panose="02040502050405020303" pitchFamily="18" charset="0"/>
                        </a:rPr>
                        <a:t>Consumption</a:t>
                      </a:r>
                      <a:r>
                        <a:rPr lang="en-US" sz="1600" spc="-75" dirty="0">
                          <a:effectLst/>
                          <a:latin typeface="Georgia" panose="02040502050405020303" pitchFamily="18" charset="0"/>
                        </a:rPr>
                        <a:t> </a:t>
                      </a:r>
                      <a:r>
                        <a:rPr lang="en-US" sz="1600" dirty="0">
                          <a:effectLst/>
                          <a:latin typeface="Georgia" panose="02040502050405020303" pitchFamily="18" charset="0"/>
                        </a:rPr>
                        <a:t>and </a:t>
                      </a:r>
                      <a:r>
                        <a:rPr lang="en-US" sz="1600" spc="-10" dirty="0">
                          <a:effectLst/>
                          <a:latin typeface="Georgia" panose="02040502050405020303" pitchFamily="18" charset="0"/>
                        </a:rPr>
                        <a:t>Production</a:t>
                      </a:r>
                      <a:endParaRPr lang="en-US" sz="1200" dirty="0">
                        <a:effectLst/>
                        <a:latin typeface="Georgia" panose="02040502050405020303" pitchFamily="18" charset="0"/>
                        <a:ea typeface="Times New Roman" panose="02020603050405020304" pitchFamily="18" charset="0"/>
                        <a:cs typeface="Arial" panose="020B0604020202020204" pitchFamily="34" charset="0"/>
                      </a:endParaRPr>
                    </a:p>
                  </a:txBody>
                  <a:tcPr marL="0" marR="0" marT="0" marB="0" anchor="ctr"/>
                </a:tc>
                <a:tc>
                  <a:txBody>
                    <a:bodyPr/>
                    <a:lstStyle/>
                    <a:p>
                      <a:pPr marL="66675" marR="60960" algn="just">
                        <a:lnSpc>
                          <a:spcPct val="150000"/>
                        </a:lnSpc>
                      </a:pPr>
                      <a:r>
                        <a:rPr lang="en-US" sz="1600" dirty="0">
                          <a:effectLst/>
                          <a:latin typeface="Georgia" panose="02040502050405020303" pitchFamily="18" charset="0"/>
                        </a:rPr>
                        <a:t>The development of this extrusion machine for recyclable filament production</a:t>
                      </a:r>
                      <a:r>
                        <a:rPr lang="en-US" sz="1600" spc="-5" dirty="0">
                          <a:effectLst/>
                          <a:latin typeface="Georgia" panose="02040502050405020303" pitchFamily="18" charset="0"/>
                        </a:rPr>
                        <a:t> </a:t>
                      </a:r>
                      <a:r>
                        <a:rPr lang="en-US" sz="1600" dirty="0">
                          <a:effectLst/>
                          <a:latin typeface="Georgia" panose="02040502050405020303" pitchFamily="18" charset="0"/>
                        </a:rPr>
                        <a:t>directly</a:t>
                      </a:r>
                      <a:r>
                        <a:rPr lang="en-US" sz="1600" spc="-5" dirty="0">
                          <a:effectLst/>
                          <a:latin typeface="Georgia" panose="02040502050405020303" pitchFamily="18" charset="0"/>
                        </a:rPr>
                        <a:t> </a:t>
                      </a:r>
                      <a:r>
                        <a:rPr lang="en-US" sz="1600" dirty="0">
                          <a:effectLst/>
                          <a:latin typeface="Georgia" panose="02040502050405020303" pitchFamily="18" charset="0"/>
                        </a:rPr>
                        <a:t>aligns with SDG</a:t>
                      </a:r>
                      <a:r>
                        <a:rPr lang="en-US" sz="1600" spc="-10" dirty="0">
                          <a:effectLst/>
                          <a:latin typeface="Georgia" panose="02040502050405020303" pitchFamily="18" charset="0"/>
                        </a:rPr>
                        <a:t> </a:t>
                      </a:r>
                      <a:r>
                        <a:rPr lang="en-US" sz="1600" dirty="0">
                          <a:effectLst/>
                          <a:latin typeface="Georgia" panose="02040502050405020303" pitchFamily="18" charset="0"/>
                        </a:rPr>
                        <a:t>12 by promoting responsible consumption and</a:t>
                      </a:r>
                      <a:r>
                        <a:rPr lang="en-US" sz="1600" spc="340" dirty="0">
                          <a:effectLst/>
                          <a:latin typeface="Georgia" panose="02040502050405020303" pitchFamily="18" charset="0"/>
                        </a:rPr>
                        <a:t>  </a:t>
                      </a:r>
                      <a:r>
                        <a:rPr lang="en-US" sz="1600" dirty="0">
                          <a:effectLst/>
                          <a:latin typeface="Georgia" panose="02040502050405020303" pitchFamily="18" charset="0"/>
                        </a:rPr>
                        <a:t>production.</a:t>
                      </a:r>
                      <a:r>
                        <a:rPr lang="en-US" sz="1600" spc="340" dirty="0">
                          <a:effectLst/>
                          <a:latin typeface="Georgia" panose="02040502050405020303" pitchFamily="18" charset="0"/>
                        </a:rPr>
                        <a:t>  </a:t>
                      </a:r>
                      <a:r>
                        <a:rPr lang="en-US" sz="1600" dirty="0">
                          <a:effectLst/>
                          <a:latin typeface="Georgia" panose="02040502050405020303" pitchFamily="18" charset="0"/>
                        </a:rPr>
                        <a:t>By</a:t>
                      </a:r>
                      <a:r>
                        <a:rPr lang="en-US" sz="1600" spc="345" dirty="0">
                          <a:effectLst/>
                          <a:latin typeface="Georgia" panose="02040502050405020303" pitchFamily="18" charset="0"/>
                        </a:rPr>
                        <a:t>  </a:t>
                      </a:r>
                      <a:r>
                        <a:rPr lang="en-US" sz="1600" dirty="0">
                          <a:effectLst/>
                          <a:latin typeface="Georgia" panose="02040502050405020303" pitchFamily="18" charset="0"/>
                        </a:rPr>
                        <a:t>focusing</a:t>
                      </a:r>
                      <a:r>
                        <a:rPr lang="en-US" sz="1600" spc="345" dirty="0">
                          <a:effectLst/>
                          <a:latin typeface="Georgia" panose="02040502050405020303" pitchFamily="18" charset="0"/>
                        </a:rPr>
                        <a:t>  </a:t>
                      </a:r>
                      <a:r>
                        <a:rPr lang="en-US" sz="1600" spc="-25" dirty="0">
                          <a:effectLst/>
                          <a:latin typeface="Georgia" panose="02040502050405020303" pitchFamily="18" charset="0"/>
                        </a:rPr>
                        <a:t>on</a:t>
                      </a:r>
                      <a:r>
                        <a:rPr lang="en-US" sz="1200" spc="-25" dirty="0">
                          <a:effectLst/>
                          <a:latin typeface="Georgia" panose="02040502050405020303" pitchFamily="18" charset="0"/>
                        </a:rPr>
                        <a:t> </a:t>
                      </a:r>
                      <a:r>
                        <a:rPr lang="en-US" sz="1600" dirty="0">
                          <a:effectLst/>
                          <a:latin typeface="Georgia" panose="02040502050405020303" pitchFamily="18" charset="0"/>
                        </a:rPr>
                        <a:t>recycling</a:t>
                      </a:r>
                      <a:r>
                        <a:rPr lang="en-US" sz="1600" spc="55" dirty="0">
                          <a:effectLst/>
                          <a:latin typeface="Georgia" panose="02040502050405020303" pitchFamily="18" charset="0"/>
                        </a:rPr>
                        <a:t> </a:t>
                      </a:r>
                      <a:r>
                        <a:rPr lang="en-US" sz="1600" dirty="0">
                          <a:effectLst/>
                          <a:latin typeface="Georgia" panose="02040502050405020303" pitchFamily="18" charset="0"/>
                        </a:rPr>
                        <a:t>plastics</a:t>
                      </a:r>
                      <a:r>
                        <a:rPr lang="en-US" sz="1600" spc="55" dirty="0">
                          <a:effectLst/>
                          <a:latin typeface="Georgia" panose="02040502050405020303" pitchFamily="18" charset="0"/>
                        </a:rPr>
                        <a:t> </a:t>
                      </a:r>
                      <a:r>
                        <a:rPr lang="en-US" sz="1600" dirty="0">
                          <a:effectLst/>
                          <a:latin typeface="Georgia" panose="02040502050405020303" pitchFamily="18" charset="0"/>
                        </a:rPr>
                        <a:t>and</a:t>
                      </a:r>
                      <a:r>
                        <a:rPr lang="en-US" sz="1600" spc="60" dirty="0">
                          <a:effectLst/>
                          <a:latin typeface="Georgia" panose="02040502050405020303" pitchFamily="18" charset="0"/>
                        </a:rPr>
                        <a:t> </a:t>
                      </a:r>
                      <a:r>
                        <a:rPr lang="en-US" sz="1600" dirty="0">
                          <a:effectLst/>
                          <a:latin typeface="Georgia" panose="02040502050405020303" pitchFamily="18" charset="0"/>
                        </a:rPr>
                        <a:t>converting</a:t>
                      </a:r>
                      <a:r>
                        <a:rPr lang="en-US" sz="1600" spc="60" dirty="0">
                          <a:effectLst/>
                          <a:latin typeface="Georgia" panose="02040502050405020303" pitchFamily="18" charset="0"/>
                        </a:rPr>
                        <a:t> </a:t>
                      </a:r>
                      <a:r>
                        <a:rPr lang="en-US" sz="1600" spc="-10" dirty="0">
                          <a:effectLst/>
                          <a:latin typeface="Georgia" panose="02040502050405020303" pitchFamily="18" charset="0"/>
                        </a:rPr>
                        <a:t>waste</a:t>
                      </a:r>
                    </a:p>
                    <a:p>
                      <a:pPr marL="66675" marR="60960" algn="just">
                        <a:lnSpc>
                          <a:spcPct val="150000"/>
                        </a:lnSpc>
                      </a:pPr>
                      <a:endParaRPr lang="en-US" sz="1200" dirty="0">
                        <a:effectLst/>
                        <a:latin typeface="Georgia" panose="02040502050405020303" pitchFamily="18" charset="0"/>
                        <a:ea typeface="Times New Roman" panose="02020603050405020304" pitchFamily="18" charset="0"/>
                        <a:cs typeface="Arial" panose="020B0604020202020204" pitchFamily="34" charset="0"/>
                      </a:endParaRPr>
                    </a:p>
                  </a:txBody>
                  <a:tcPr marL="0" marR="0" marT="0" marB="0" anchor="ctr"/>
                </a:tc>
                <a:extLst>
                  <a:ext uri="{0D108BD9-81ED-4DB2-BD59-A6C34878D82A}">
                    <a16:rowId xmlns:a16="http://schemas.microsoft.com/office/drawing/2014/main" val="1096637107"/>
                  </a:ext>
                </a:extLst>
              </a:tr>
            </a:tbl>
          </a:graphicData>
        </a:graphic>
      </p:graphicFrame>
    </p:spTree>
    <p:extLst>
      <p:ext uri="{BB962C8B-B14F-4D97-AF65-F5344CB8AC3E}">
        <p14:creationId xmlns:p14="http://schemas.microsoft.com/office/powerpoint/2010/main" val="4278099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2F5D4-17F7-A4A9-55D7-7CB5829251C2}"/>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9B26C2B2-29D5-6D58-6F95-4346FA431A05}"/>
              </a:ext>
            </a:extLst>
          </p:cNvPr>
          <p:cNvSpPr txBox="1">
            <a:spLocks noGrp="1"/>
          </p:cNvSpPr>
          <p:nvPr>
            <p:ph type="title"/>
          </p:nvPr>
        </p:nvSpPr>
        <p:spPr>
          <a:xfrm>
            <a:off x="2509989" y="2294682"/>
            <a:ext cx="6536400" cy="127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7200" dirty="0">
                <a:latin typeface="Bebas Neue" panose="020B0606020202050201" pitchFamily="34" charset="0"/>
              </a:rPr>
              <a:t>LITERATURE REVIEW</a:t>
            </a:r>
            <a:endParaRPr sz="6600" dirty="0">
              <a:effectLst>
                <a:outerShdw blurRad="38100" dist="38100" dir="2700000" algn="tl">
                  <a:srgbClr val="000000">
                    <a:alpha val="43137"/>
                  </a:srgbClr>
                </a:outerShdw>
              </a:effectLst>
              <a:latin typeface="Bebas Neue" panose="020B0606020202050201" pitchFamily="34" charset="0"/>
            </a:endParaRPr>
          </a:p>
        </p:txBody>
      </p:sp>
      <p:grpSp>
        <p:nvGrpSpPr>
          <p:cNvPr id="8" name="Group 7">
            <a:extLst>
              <a:ext uri="{FF2B5EF4-FFF2-40B4-BE49-F238E27FC236}">
                <a16:creationId xmlns:a16="http://schemas.microsoft.com/office/drawing/2014/main" id="{446228E0-7692-69A0-5644-49A5D11278D4}"/>
              </a:ext>
            </a:extLst>
          </p:cNvPr>
          <p:cNvGrpSpPr/>
          <p:nvPr/>
        </p:nvGrpSpPr>
        <p:grpSpPr>
          <a:xfrm>
            <a:off x="2652551" y="1163499"/>
            <a:ext cx="6251276" cy="2986807"/>
            <a:chOff x="2652551" y="1163499"/>
            <a:chExt cx="6251276" cy="2986807"/>
          </a:xfrm>
        </p:grpSpPr>
        <p:sp>
          <p:nvSpPr>
            <p:cNvPr id="5" name="Google Shape;1523;p33">
              <a:extLst>
                <a:ext uri="{FF2B5EF4-FFF2-40B4-BE49-F238E27FC236}">
                  <a16:creationId xmlns:a16="http://schemas.microsoft.com/office/drawing/2014/main" id="{F3BDFBBE-9153-2BB0-04EA-5DD63B056FBC}"/>
                </a:ext>
              </a:extLst>
            </p:cNvPr>
            <p:cNvSpPr txBox="1">
              <a:spLocks/>
            </p:cNvSpPr>
            <p:nvPr/>
          </p:nvSpPr>
          <p:spPr>
            <a:xfrm>
              <a:off x="5320989" y="1163499"/>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02</a:t>
              </a:r>
            </a:p>
          </p:txBody>
        </p:sp>
        <p:sp>
          <p:nvSpPr>
            <p:cNvPr id="6" name="Google Shape;1524;p33">
              <a:extLst>
                <a:ext uri="{FF2B5EF4-FFF2-40B4-BE49-F238E27FC236}">
                  <a16:creationId xmlns:a16="http://schemas.microsoft.com/office/drawing/2014/main" id="{8C340E38-0D32-A81B-750A-0048FEBB2A89}"/>
                </a:ext>
              </a:extLst>
            </p:cNvPr>
            <p:cNvSpPr txBox="1">
              <a:spLocks/>
            </p:cNvSpPr>
            <p:nvPr/>
          </p:nvSpPr>
          <p:spPr>
            <a:xfrm>
              <a:off x="2652551" y="3572082"/>
              <a:ext cx="6251276"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 sz="2000" b="1" dirty="0">
                  <a:solidFill>
                    <a:schemeClr val="lt1"/>
                  </a:solidFill>
                  <a:effectLst>
                    <a:outerShdw blurRad="38100" dist="38100" dir="2700000" algn="tl">
                      <a:srgbClr val="000000">
                        <a:alpha val="43137"/>
                      </a:srgbClr>
                    </a:outerShdw>
                  </a:effectLst>
                  <a:latin typeface="Poppins" panose="00000800000000000000" pitchFamily="2" charset="0"/>
                  <a:ea typeface="Inter"/>
                  <a:cs typeface="Poppins" panose="00000800000000000000" pitchFamily="2" charset="0"/>
                  <a:sym typeface="Inter"/>
                </a:rPr>
                <a:t>PREVIOUS WORK DONE BY RESEARCHERS</a:t>
              </a:r>
              <a:endParaRPr lang="en-US" sz="2000"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grpSp>
    </p:spTree>
    <p:extLst>
      <p:ext uri="{BB962C8B-B14F-4D97-AF65-F5344CB8AC3E}">
        <p14:creationId xmlns:p14="http://schemas.microsoft.com/office/powerpoint/2010/main" val="2708410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D2B99-4EF3-AF3B-766E-A1492B61D8B6}"/>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7A543471-D831-BC1D-6A1D-970BF158C398}"/>
              </a:ext>
            </a:extLst>
          </p:cNvPr>
          <p:cNvSpPr txBox="1">
            <a:spLocks noGrp="1"/>
          </p:cNvSpPr>
          <p:nvPr>
            <p:ph type="title"/>
          </p:nvPr>
        </p:nvSpPr>
        <p:spPr>
          <a:xfrm>
            <a:off x="618565" y="188259"/>
            <a:ext cx="5634318"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rPr>
              <a:t>LITERATURE REVIEW</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23B4AC2E-0DBB-1F9D-B702-06270CF97521}"/>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02</a:t>
            </a:r>
          </a:p>
        </p:txBody>
      </p:sp>
      <p:graphicFrame>
        <p:nvGraphicFramePr>
          <p:cNvPr id="2" name="Table 1">
            <a:extLst>
              <a:ext uri="{FF2B5EF4-FFF2-40B4-BE49-F238E27FC236}">
                <a16:creationId xmlns:a16="http://schemas.microsoft.com/office/drawing/2014/main" id="{64CAA99C-6C3B-917F-E769-5EB592534E33}"/>
              </a:ext>
            </a:extLst>
          </p:cNvPr>
          <p:cNvGraphicFramePr>
            <a:graphicFrameLocks noGrp="1"/>
          </p:cNvGraphicFramePr>
          <p:nvPr>
            <p:extLst>
              <p:ext uri="{D42A27DB-BD31-4B8C-83A1-F6EECF244321}">
                <p14:modId xmlns:p14="http://schemas.microsoft.com/office/powerpoint/2010/main" val="2825867602"/>
              </p:ext>
            </p:extLst>
          </p:nvPr>
        </p:nvGraphicFramePr>
        <p:xfrm>
          <a:off x="299484" y="1064871"/>
          <a:ext cx="11644423" cy="5268694"/>
        </p:xfrm>
        <a:graphic>
          <a:graphicData uri="http://schemas.openxmlformats.org/drawingml/2006/table">
            <a:tbl>
              <a:tblPr>
                <a:tableStyleId>{616DA210-FB5B-4158-B5E0-FEB733F419BA}</a:tableStyleId>
              </a:tblPr>
              <a:tblGrid>
                <a:gridCol w="597789">
                  <a:extLst>
                    <a:ext uri="{9D8B030D-6E8A-4147-A177-3AD203B41FA5}">
                      <a16:colId xmlns:a16="http://schemas.microsoft.com/office/drawing/2014/main" val="3301208514"/>
                    </a:ext>
                  </a:extLst>
                </a:gridCol>
                <a:gridCol w="3002858">
                  <a:extLst>
                    <a:ext uri="{9D8B030D-6E8A-4147-A177-3AD203B41FA5}">
                      <a16:colId xmlns:a16="http://schemas.microsoft.com/office/drawing/2014/main" val="2381019729"/>
                    </a:ext>
                  </a:extLst>
                </a:gridCol>
                <a:gridCol w="1117661">
                  <a:extLst>
                    <a:ext uri="{9D8B030D-6E8A-4147-A177-3AD203B41FA5}">
                      <a16:colId xmlns:a16="http://schemas.microsoft.com/office/drawing/2014/main" val="2393908042"/>
                    </a:ext>
                  </a:extLst>
                </a:gridCol>
                <a:gridCol w="925808">
                  <a:extLst>
                    <a:ext uri="{9D8B030D-6E8A-4147-A177-3AD203B41FA5}">
                      <a16:colId xmlns:a16="http://schemas.microsoft.com/office/drawing/2014/main" val="3672542724"/>
                    </a:ext>
                  </a:extLst>
                </a:gridCol>
                <a:gridCol w="6000307">
                  <a:extLst>
                    <a:ext uri="{9D8B030D-6E8A-4147-A177-3AD203B41FA5}">
                      <a16:colId xmlns:a16="http://schemas.microsoft.com/office/drawing/2014/main" val="2553863674"/>
                    </a:ext>
                  </a:extLst>
                </a:gridCol>
              </a:tblGrid>
              <a:tr h="624138">
                <a:tc>
                  <a:txBody>
                    <a:bodyPr/>
                    <a:lstStyle/>
                    <a:p>
                      <a:pPr algn="ctr" fontAlgn="b"/>
                      <a:r>
                        <a:rPr lang="en-US" sz="1600" b="0" u="none" strike="noStrike" dirty="0">
                          <a:effectLst/>
                          <a:latin typeface="Bebas Neue" panose="020B0606020202050201" pitchFamily="34" charset="0"/>
                        </a:rPr>
                        <a:t>Paper  #</a:t>
                      </a:r>
                      <a:endParaRPr lang="en-US" sz="1600" b="0" i="0" u="none" strike="noStrike" dirty="0">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2400" b="0" u="none" strike="noStrike" dirty="0">
                          <a:effectLst/>
                          <a:latin typeface="Bebas Neue" panose="020B0606020202050201" pitchFamily="34" charset="0"/>
                        </a:rPr>
                        <a:t>Title</a:t>
                      </a:r>
                      <a:endParaRPr lang="en-US" sz="2400" b="0" i="0" u="none" strike="noStrike" dirty="0">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1600" b="0" u="none" strike="noStrike">
                          <a:effectLst/>
                          <a:latin typeface="Bebas Neue" panose="020B0606020202050201" pitchFamily="34" charset="0"/>
                        </a:rPr>
                        <a:t>Author</a:t>
                      </a:r>
                      <a:endParaRPr lang="en-US" sz="1600" b="0" i="0" u="none" strike="noStrike">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1600" b="0" u="none" strike="noStrike">
                          <a:effectLst/>
                          <a:latin typeface="Bebas Neue" panose="020B0606020202050201" pitchFamily="34" charset="0"/>
                        </a:rPr>
                        <a:t>Published Year</a:t>
                      </a:r>
                      <a:endParaRPr lang="en-US" sz="1600" b="0" i="0" u="none" strike="noStrike">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2000" b="0" u="none" strike="noStrike" dirty="0">
                          <a:effectLst/>
                          <a:latin typeface="Bebas Neue" panose="020B0606020202050201" pitchFamily="34" charset="0"/>
                        </a:rPr>
                        <a:t>Remarks</a:t>
                      </a:r>
                      <a:endParaRPr lang="en-US" sz="2000" b="0" i="0" u="none" strike="noStrike" dirty="0">
                        <a:solidFill>
                          <a:srgbClr val="000000"/>
                        </a:solidFill>
                        <a:effectLst/>
                        <a:latin typeface="Bebas Neue" panose="020B0606020202050201" pitchFamily="34" charset="0"/>
                      </a:endParaRPr>
                    </a:p>
                  </a:txBody>
                  <a:tcPr marL="5736" marR="5736" marT="5736" marB="0" anchor="ctr"/>
                </a:tc>
                <a:extLst>
                  <a:ext uri="{0D108BD9-81ED-4DB2-BD59-A6C34878D82A}">
                    <a16:rowId xmlns:a16="http://schemas.microsoft.com/office/drawing/2014/main" val="4204608426"/>
                  </a:ext>
                </a:extLst>
              </a:tr>
              <a:tr h="2070286">
                <a:tc>
                  <a:txBody>
                    <a:bodyPr/>
                    <a:lstStyle/>
                    <a:p>
                      <a:pPr algn="ctr" fontAlgn="ctr"/>
                      <a:r>
                        <a:rPr lang="en-US" sz="1400" u="none" strike="noStrike" dirty="0">
                          <a:effectLst/>
                        </a:rPr>
                        <a:t>1</a:t>
                      </a:r>
                      <a:endParaRPr lang="en-US" sz="1400" b="0" i="0" u="none" strike="noStrike" dirty="0">
                        <a:solidFill>
                          <a:srgbClr val="000000"/>
                        </a:solidFill>
                        <a:effectLst/>
                        <a:latin typeface="Georgia" panose="02040502050405020303" pitchFamily="18" charset="0"/>
                      </a:endParaRPr>
                    </a:p>
                  </a:txBody>
                  <a:tcPr marL="5736" marR="5736" marT="5736" marB="0" anchor="ctr"/>
                </a:tc>
                <a:tc>
                  <a:txBody>
                    <a:bodyPr/>
                    <a:lstStyle/>
                    <a:p>
                      <a:pPr algn="ctr" fontAlgn="ctr"/>
                      <a:r>
                        <a:rPr lang="en-US" sz="1600" u="none" strike="noStrike" dirty="0">
                          <a:effectLst/>
                        </a:rPr>
                        <a:t>Design And Fabrication Of Extrusion Machine For Recycling Plastics</a:t>
                      </a:r>
                      <a:endParaRPr lang="en-US" sz="1600" b="0" i="0" u="none" strike="noStrike" dirty="0">
                        <a:solidFill>
                          <a:srgbClr val="000000"/>
                        </a:solidFill>
                        <a:effectLst/>
                        <a:latin typeface="Georgia" panose="02040502050405020303" pitchFamily="18" charset="0"/>
                      </a:endParaRPr>
                    </a:p>
                  </a:txBody>
                  <a:tcPr marL="5736" marR="5736" marT="5736" marB="0" anchor="ctr"/>
                </a:tc>
                <a:tc>
                  <a:txBody>
                    <a:bodyPr/>
                    <a:lstStyle/>
                    <a:p>
                      <a:pPr algn="ctr"/>
                      <a:r>
                        <a:rPr lang="pt-BR" sz="1400" dirty="0">
                          <a:hlinkClick r:id="rId2"/>
                        </a:rPr>
                        <a:t>S Kumar</a:t>
                      </a:r>
                      <a:r>
                        <a:rPr lang="pt-BR" sz="1400" dirty="0"/>
                        <a:t>, R Sooraj, </a:t>
                      </a:r>
                      <a:r>
                        <a:rPr lang="pt-BR" sz="1400" dirty="0">
                          <a:hlinkClick r:id="rId3"/>
                        </a:rPr>
                        <a:t>MVV Kumar</a:t>
                      </a:r>
                      <a:endParaRPr lang="pt-BR" sz="1400" dirty="0">
                        <a:latin typeface="Georgia" panose="02040502050405020303" pitchFamily="18" charset="0"/>
                      </a:endParaRPr>
                    </a:p>
                  </a:txBody>
                  <a:tcPr marL="5736" marR="5736" marT="5736" marB="0" anchor="ctr"/>
                </a:tc>
                <a:tc>
                  <a:txBody>
                    <a:bodyPr/>
                    <a:lstStyle/>
                    <a:p>
                      <a:pPr algn="ctr" fontAlgn="ctr"/>
                      <a:r>
                        <a:rPr lang="en-US" sz="1400" u="none" strike="noStrike" dirty="0">
                          <a:effectLst/>
                        </a:rPr>
                        <a:t>2021</a:t>
                      </a:r>
                      <a:endParaRPr lang="en-US" sz="1400" b="0" i="0" u="none" strike="noStrike" dirty="0">
                        <a:solidFill>
                          <a:srgbClr val="000000"/>
                        </a:solidFill>
                        <a:effectLst/>
                        <a:latin typeface="Georgia" panose="02040502050405020303" pitchFamily="18" charset="0"/>
                      </a:endParaRPr>
                    </a:p>
                  </a:txBody>
                  <a:tcPr marL="5736" marR="5736" marT="5736" marB="0" anchor="ctr"/>
                </a:tc>
                <a:tc>
                  <a:txBody>
                    <a:bodyPr/>
                    <a:lstStyle/>
                    <a:p>
                      <a:pPr marL="285750" indent="-285750" algn="just" fontAlgn="b">
                        <a:buFont typeface="Arial" panose="020B0604020202020204" pitchFamily="34" charset="0"/>
                        <a:buChar char="•"/>
                      </a:pPr>
                      <a:r>
                        <a:rPr lang="en-US" sz="1400" u="none" strike="noStrike" dirty="0">
                          <a:effectLst/>
                        </a:rPr>
                        <a:t>The extruder is designed to produce 3D printer filament with a diameter range of 2-2.5 mm.</a:t>
                      </a:r>
                      <a:endParaRPr lang="en-US" sz="1400" b="0" u="none" strike="noStrike" dirty="0">
                        <a:solidFill>
                          <a:srgbClr val="000000"/>
                        </a:solidFill>
                        <a:effectLst/>
                      </a:endParaRPr>
                    </a:p>
                    <a:p>
                      <a:pPr marL="285750" indent="-285750" algn="just" fontAlgn="b">
                        <a:buFont typeface="Arial" panose="020B0604020202020204" pitchFamily="34" charset="0"/>
                        <a:buChar char="•"/>
                      </a:pPr>
                      <a:r>
                        <a:rPr lang="en-US" sz="1400" u="none" strike="noStrike" dirty="0">
                          <a:effectLst/>
                        </a:rPr>
                        <a:t>The screw extrusion process is used to achieve a fixed cross-section for the filament.</a:t>
                      </a:r>
                      <a:endParaRPr lang="en-US" sz="1400" b="0" u="none" strike="noStrike" dirty="0">
                        <a:solidFill>
                          <a:srgbClr val="000000"/>
                        </a:solidFill>
                        <a:effectLst/>
                      </a:endParaRPr>
                    </a:p>
                    <a:p>
                      <a:pPr marL="285750" indent="-285750" algn="just" fontAlgn="b">
                        <a:buFont typeface="Arial" panose="020B0604020202020204" pitchFamily="34" charset="0"/>
                        <a:buChar char="•"/>
                      </a:pPr>
                      <a:r>
                        <a:rPr lang="en-US" sz="1400" u="none" strike="noStrike" dirty="0">
                          <a:effectLst/>
                        </a:rPr>
                        <a:t>PET pellets are heated to temperatures between 230°C and 250°C and extruded through a nozzle.</a:t>
                      </a:r>
                      <a:endParaRPr lang="en-US" sz="1400" b="0" u="none" strike="noStrike" dirty="0">
                        <a:solidFill>
                          <a:srgbClr val="000000"/>
                        </a:solidFill>
                        <a:effectLst/>
                      </a:endParaRPr>
                    </a:p>
                    <a:p>
                      <a:pPr marL="285750" indent="-285750" algn="just" fontAlgn="b">
                        <a:buFont typeface="Arial" panose="020B0604020202020204" pitchFamily="34" charset="0"/>
                        <a:buChar char="•"/>
                      </a:pPr>
                      <a:r>
                        <a:rPr lang="en-US" sz="1400" u="none" strike="noStrike" dirty="0">
                          <a:effectLst/>
                        </a:rPr>
                        <a:t>The process ensures a continuous filament free of air bubbles and roughness, meeting the specified quality requirements</a:t>
                      </a:r>
                      <a:endParaRPr lang="en-US" sz="1400" b="0" i="0" u="none" strike="noStrike" dirty="0">
                        <a:solidFill>
                          <a:srgbClr val="000000"/>
                        </a:solidFill>
                        <a:effectLst/>
                        <a:latin typeface="Georgia" panose="02040502050405020303" pitchFamily="18" charset="0"/>
                      </a:endParaRPr>
                    </a:p>
                  </a:txBody>
                  <a:tcPr marL="5736" marR="5736" marT="5736" marB="0" anchor="ctr"/>
                </a:tc>
                <a:extLst>
                  <a:ext uri="{0D108BD9-81ED-4DB2-BD59-A6C34878D82A}">
                    <a16:rowId xmlns:a16="http://schemas.microsoft.com/office/drawing/2014/main" val="1366447206"/>
                  </a:ext>
                </a:extLst>
              </a:tr>
              <a:tr h="2574270">
                <a:tc>
                  <a:txBody>
                    <a:bodyPr/>
                    <a:lstStyle/>
                    <a:p>
                      <a:pPr algn="ctr" fontAlgn="ctr"/>
                      <a:r>
                        <a:rPr lang="en-US" sz="1400" u="none" strike="noStrike">
                          <a:effectLst/>
                        </a:rPr>
                        <a:t>2</a:t>
                      </a:r>
                      <a:endParaRPr lang="en-US" sz="1400" b="0" i="0" u="none" strike="noStrike">
                        <a:solidFill>
                          <a:srgbClr val="000000"/>
                        </a:solidFill>
                        <a:effectLst/>
                        <a:latin typeface="Georgia" panose="02040502050405020303" pitchFamily="18" charset="0"/>
                      </a:endParaRPr>
                    </a:p>
                  </a:txBody>
                  <a:tcPr marL="5736" marR="5736" marT="5736" marB="0" anchor="ctr"/>
                </a:tc>
                <a:tc>
                  <a:txBody>
                    <a:bodyPr/>
                    <a:lstStyle/>
                    <a:p>
                      <a:pPr algn="ctr" fontAlgn="ctr"/>
                      <a:r>
                        <a:rPr lang="en-US" sz="1600" u="none" strike="noStrike" dirty="0">
                          <a:effectLst/>
                        </a:rPr>
                        <a:t>Design and development of 3D printer filament extruder</a:t>
                      </a:r>
                      <a:endParaRPr lang="en-US" sz="1600" b="0" i="0" u="none" strike="noStrike" dirty="0">
                        <a:solidFill>
                          <a:srgbClr val="000000"/>
                        </a:solidFill>
                        <a:effectLst/>
                        <a:latin typeface="Georgia" panose="02040502050405020303" pitchFamily="18" charset="0"/>
                      </a:endParaRPr>
                    </a:p>
                  </a:txBody>
                  <a:tcPr marL="5736" marR="5736" marT="5736" marB="0" anchor="ctr"/>
                </a:tc>
                <a:tc>
                  <a:txBody>
                    <a:bodyPr/>
                    <a:lstStyle/>
                    <a:p>
                      <a:pPr algn="ctr" fontAlgn="ctr"/>
                      <a:r>
                        <a:rPr lang="en-US" sz="1400" dirty="0"/>
                        <a:t>M Aris, </a:t>
                      </a:r>
                      <a:r>
                        <a:rPr lang="en-US" sz="1400" dirty="0">
                          <a:hlinkClick r:id="rId4"/>
                        </a:rPr>
                        <a:t>S Mat</a:t>
                      </a:r>
                      <a:r>
                        <a:rPr lang="en-US" sz="1400" dirty="0"/>
                        <a:t>, MS Sam, </a:t>
                      </a:r>
                      <a:r>
                        <a:rPr lang="en-US" sz="1400" dirty="0">
                          <a:hlinkClick r:id="rId5"/>
                        </a:rPr>
                        <a:t>FR Ramli</a:t>
                      </a:r>
                      <a:r>
                        <a:rPr lang="en-US" sz="1400" dirty="0"/>
                        <a:t>, </a:t>
                      </a:r>
                      <a:r>
                        <a:rPr lang="en-US" sz="1400" dirty="0">
                          <a:hlinkClick r:id="rId6"/>
                        </a:rPr>
                        <a:t>MR </a:t>
                      </a:r>
                      <a:r>
                        <a:rPr lang="en-US" sz="1400" dirty="0" err="1">
                          <a:hlinkClick r:id="rId6"/>
                        </a:rPr>
                        <a:t>Alkahari</a:t>
                      </a:r>
                      <a:r>
                        <a:rPr lang="en-US" sz="1400" dirty="0"/>
                        <a:t>, </a:t>
                      </a:r>
                      <a:r>
                        <a:rPr lang="en-US" sz="1400" dirty="0">
                          <a:hlinkClick r:id="rId7"/>
                        </a:rPr>
                        <a:t>SIA Kudus</a:t>
                      </a:r>
                      <a:endParaRPr lang="en-US" sz="1400" b="0" i="0" u="none" strike="noStrike" dirty="0">
                        <a:solidFill>
                          <a:srgbClr val="000000"/>
                        </a:solidFill>
                        <a:effectLst/>
                        <a:latin typeface="Georgia" panose="02040502050405020303" pitchFamily="18" charset="0"/>
                      </a:endParaRPr>
                    </a:p>
                  </a:txBody>
                  <a:tcPr marL="5736" marR="5736" marT="5736" marB="0" anchor="ctr"/>
                </a:tc>
                <a:tc>
                  <a:txBody>
                    <a:bodyPr/>
                    <a:lstStyle/>
                    <a:p>
                      <a:pPr algn="ctr" fontAlgn="ctr"/>
                      <a:r>
                        <a:rPr lang="en-US" sz="1400" u="none" strike="noStrike">
                          <a:effectLst/>
                        </a:rPr>
                        <a:t>2020</a:t>
                      </a:r>
                      <a:endParaRPr lang="en-US" sz="1400" b="0" i="0" u="none" strike="noStrike">
                        <a:solidFill>
                          <a:srgbClr val="000000"/>
                        </a:solidFill>
                        <a:effectLst/>
                        <a:latin typeface="Georgia" panose="02040502050405020303" pitchFamily="18" charset="0"/>
                      </a:endParaRPr>
                    </a:p>
                  </a:txBody>
                  <a:tcPr marL="5736" marR="5736" marT="5736" marB="0" anchor="ctr"/>
                </a:tc>
                <a:tc>
                  <a:txBody>
                    <a:bodyPr/>
                    <a:lstStyle/>
                    <a:p>
                      <a:pPr marL="285750" indent="-285750" algn="just" fontAlgn="b">
                        <a:buFont typeface="Arial" panose="020B0604020202020204" pitchFamily="34" charset="0"/>
                        <a:buChar char="•"/>
                      </a:pPr>
                      <a:r>
                        <a:rPr lang="en-US" sz="1400" u="none" strike="noStrike" dirty="0">
                          <a:effectLst/>
                        </a:rPr>
                        <a:t>The project aims to recycle 3D printing waste into usable filament using an extruder machine, focusing on recycled Acrylonitrile Butadiene Styrene (ABS).</a:t>
                      </a:r>
                      <a:endParaRPr lang="en-US" sz="1400" b="0" u="none" strike="noStrike" dirty="0">
                        <a:solidFill>
                          <a:srgbClr val="000000"/>
                        </a:solidFill>
                        <a:effectLst/>
                      </a:endParaRPr>
                    </a:p>
                    <a:p>
                      <a:pPr marL="285750" indent="-285750" algn="just" fontAlgn="b">
                        <a:buFont typeface="Arial" panose="020B0604020202020204" pitchFamily="34" charset="0"/>
                        <a:buChar char="•"/>
                      </a:pPr>
                      <a:r>
                        <a:rPr lang="en-US" sz="1400" u="none" strike="noStrike" dirty="0">
                          <a:effectLst/>
                        </a:rPr>
                        <a:t>The recycled filament is utilized in an open-source 3D printer to create a specimen.</a:t>
                      </a:r>
                      <a:endParaRPr lang="en-US" sz="1400" b="0" u="none" strike="noStrike" dirty="0">
                        <a:solidFill>
                          <a:srgbClr val="000000"/>
                        </a:solidFill>
                        <a:effectLst/>
                      </a:endParaRPr>
                    </a:p>
                    <a:p>
                      <a:pPr marL="285750" indent="-285750" algn="just" fontAlgn="b">
                        <a:buFont typeface="Arial" panose="020B0604020202020204" pitchFamily="34" charset="0"/>
                        <a:buChar char="•"/>
                      </a:pPr>
                      <a:r>
                        <a:rPr lang="en-US" sz="1400" u="none" strike="noStrike" dirty="0">
                          <a:effectLst/>
                        </a:rPr>
                        <a:t>Mechanical properties, including tensile strength, tensile strain, maximum load, and Young's modulus, are compared between recycled and pure ABS.</a:t>
                      </a:r>
                      <a:endParaRPr lang="en-US" sz="1400" b="0" u="none" strike="noStrike" dirty="0">
                        <a:solidFill>
                          <a:srgbClr val="000000"/>
                        </a:solidFill>
                        <a:effectLst/>
                      </a:endParaRPr>
                    </a:p>
                    <a:p>
                      <a:pPr marL="285750" indent="-285750" algn="just" fontAlgn="b">
                        <a:buFont typeface="Arial" panose="020B0604020202020204" pitchFamily="34" charset="0"/>
                        <a:buChar char="•"/>
                      </a:pPr>
                      <a:r>
                        <a:rPr lang="en-US" sz="1400" u="none" strike="noStrike" dirty="0">
                          <a:effectLst/>
                        </a:rPr>
                        <a:t>Results indicate that the original ABS specimen can withstand a maximum load of 724N, while the recycled ABS specimen can handle 713N.</a:t>
                      </a:r>
                      <a:endParaRPr lang="en-US" sz="1400" b="0" i="0" u="none" strike="noStrike" dirty="0">
                        <a:solidFill>
                          <a:srgbClr val="000000"/>
                        </a:solidFill>
                        <a:effectLst/>
                        <a:latin typeface="Georgia" panose="02040502050405020303" pitchFamily="18" charset="0"/>
                      </a:endParaRPr>
                    </a:p>
                  </a:txBody>
                  <a:tcPr marL="5736" marR="5736" marT="5736" marB="0" anchor="ctr"/>
                </a:tc>
                <a:extLst>
                  <a:ext uri="{0D108BD9-81ED-4DB2-BD59-A6C34878D82A}">
                    <a16:rowId xmlns:a16="http://schemas.microsoft.com/office/drawing/2014/main" val="53540705"/>
                  </a:ext>
                </a:extLst>
              </a:tr>
            </a:tbl>
          </a:graphicData>
        </a:graphic>
      </p:graphicFrame>
    </p:spTree>
    <p:extLst>
      <p:ext uri="{BB962C8B-B14F-4D97-AF65-F5344CB8AC3E}">
        <p14:creationId xmlns:p14="http://schemas.microsoft.com/office/powerpoint/2010/main" val="3120077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EBC4A-8BEE-CFB0-492A-42CD6FAEC87A}"/>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8AAA9A67-D852-EB33-658A-8702F687F0FB}"/>
              </a:ext>
            </a:extLst>
          </p:cNvPr>
          <p:cNvSpPr txBox="1">
            <a:spLocks noGrp="1"/>
          </p:cNvSpPr>
          <p:nvPr>
            <p:ph type="title"/>
          </p:nvPr>
        </p:nvSpPr>
        <p:spPr>
          <a:xfrm>
            <a:off x="618565" y="188259"/>
            <a:ext cx="5634318"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rPr>
              <a:t>LITERATURE REVIEW</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ADC17CB7-FA3E-F9FE-1F4C-25B9B744B9CD}"/>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02</a:t>
            </a:r>
          </a:p>
        </p:txBody>
      </p:sp>
      <p:graphicFrame>
        <p:nvGraphicFramePr>
          <p:cNvPr id="2" name="Table 1">
            <a:extLst>
              <a:ext uri="{FF2B5EF4-FFF2-40B4-BE49-F238E27FC236}">
                <a16:creationId xmlns:a16="http://schemas.microsoft.com/office/drawing/2014/main" id="{6F29CBBA-5040-7C89-D660-123CF9A46E90}"/>
              </a:ext>
            </a:extLst>
          </p:cNvPr>
          <p:cNvGraphicFramePr>
            <a:graphicFrameLocks noGrp="1"/>
          </p:cNvGraphicFramePr>
          <p:nvPr>
            <p:extLst>
              <p:ext uri="{D42A27DB-BD31-4B8C-83A1-F6EECF244321}">
                <p14:modId xmlns:p14="http://schemas.microsoft.com/office/powerpoint/2010/main" val="4090192196"/>
              </p:ext>
            </p:extLst>
          </p:nvPr>
        </p:nvGraphicFramePr>
        <p:xfrm>
          <a:off x="299484" y="1064871"/>
          <a:ext cx="11644423" cy="5597555"/>
        </p:xfrm>
        <a:graphic>
          <a:graphicData uri="http://schemas.openxmlformats.org/drawingml/2006/table">
            <a:tbl>
              <a:tblPr>
                <a:tableStyleId>{616DA210-FB5B-4158-B5E0-FEB733F419BA}</a:tableStyleId>
              </a:tblPr>
              <a:tblGrid>
                <a:gridCol w="597789">
                  <a:extLst>
                    <a:ext uri="{9D8B030D-6E8A-4147-A177-3AD203B41FA5}">
                      <a16:colId xmlns:a16="http://schemas.microsoft.com/office/drawing/2014/main" val="3301208514"/>
                    </a:ext>
                  </a:extLst>
                </a:gridCol>
                <a:gridCol w="3002858">
                  <a:extLst>
                    <a:ext uri="{9D8B030D-6E8A-4147-A177-3AD203B41FA5}">
                      <a16:colId xmlns:a16="http://schemas.microsoft.com/office/drawing/2014/main" val="2381019729"/>
                    </a:ext>
                  </a:extLst>
                </a:gridCol>
                <a:gridCol w="1117661">
                  <a:extLst>
                    <a:ext uri="{9D8B030D-6E8A-4147-A177-3AD203B41FA5}">
                      <a16:colId xmlns:a16="http://schemas.microsoft.com/office/drawing/2014/main" val="2393908042"/>
                    </a:ext>
                  </a:extLst>
                </a:gridCol>
                <a:gridCol w="925808">
                  <a:extLst>
                    <a:ext uri="{9D8B030D-6E8A-4147-A177-3AD203B41FA5}">
                      <a16:colId xmlns:a16="http://schemas.microsoft.com/office/drawing/2014/main" val="3672542724"/>
                    </a:ext>
                  </a:extLst>
                </a:gridCol>
                <a:gridCol w="6000307">
                  <a:extLst>
                    <a:ext uri="{9D8B030D-6E8A-4147-A177-3AD203B41FA5}">
                      <a16:colId xmlns:a16="http://schemas.microsoft.com/office/drawing/2014/main" val="2553863674"/>
                    </a:ext>
                  </a:extLst>
                </a:gridCol>
              </a:tblGrid>
              <a:tr h="549932">
                <a:tc>
                  <a:txBody>
                    <a:bodyPr/>
                    <a:lstStyle/>
                    <a:p>
                      <a:pPr algn="ctr" fontAlgn="b"/>
                      <a:r>
                        <a:rPr lang="en-US" sz="1600" b="0" u="none" strike="noStrike" dirty="0">
                          <a:effectLst/>
                          <a:latin typeface="Bebas Neue" panose="020B0606020202050201" pitchFamily="34" charset="0"/>
                        </a:rPr>
                        <a:t>Paper  #</a:t>
                      </a:r>
                      <a:endParaRPr lang="en-US" sz="1600" b="0" i="0" u="none" strike="noStrike" dirty="0">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2400" b="0" u="none" strike="noStrike" dirty="0">
                          <a:effectLst/>
                          <a:latin typeface="Bebas Neue" panose="020B0606020202050201" pitchFamily="34" charset="0"/>
                        </a:rPr>
                        <a:t>Title</a:t>
                      </a:r>
                      <a:endParaRPr lang="en-US" sz="2400" b="0" i="0" u="none" strike="noStrike" dirty="0">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1600" b="0" u="none" strike="noStrike">
                          <a:effectLst/>
                          <a:latin typeface="Bebas Neue" panose="020B0606020202050201" pitchFamily="34" charset="0"/>
                        </a:rPr>
                        <a:t>Author</a:t>
                      </a:r>
                      <a:endParaRPr lang="en-US" sz="1600" b="0" i="0" u="none" strike="noStrike">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1600" b="0" u="none" strike="noStrike">
                          <a:effectLst/>
                          <a:latin typeface="Bebas Neue" panose="020B0606020202050201" pitchFamily="34" charset="0"/>
                        </a:rPr>
                        <a:t>Published Year</a:t>
                      </a:r>
                      <a:endParaRPr lang="en-US" sz="1600" b="0" i="0" u="none" strike="noStrike">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2000" b="0" u="none" strike="noStrike" dirty="0">
                          <a:effectLst/>
                          <a:latin typeface="Bebas Neue" panose="020B0606020202050201" pitchFamily="34" charset="0"/>
                        </a:rPr>
                        <a:t>Remarks</a:t>
                      </a:r>
                      <a:endParaRPr lang="en-US" sz="2000" b="0" i="0" u="none" strike="noStrike" dirty="0">
                        <a:solidFill>
                          <a:srgbClr val="000000"/>
                        </a:solidFill>
                        <a:effectLst/>
                        <a:latin typeface="Bebas Neue" panose="020B0606020202050201" pitchFamily="34" charset="0"/>
                      </a:endParaRPr>
                    </a:p>
                  </a:txBody>
                  <a:tcPr marL="5736" marR="5736" marT="5736" marB="0" anchor="ctr"/>
                </a:tc>
                <a:extLst>
                  <a:ext uri="{0D108BD9-81ED-4DB2-BD59-A6C34878D82A}">
                    <a16:rowId xmlns:a16="http://schemas.microsoft.com/office/drawing/2014/main" val="4204608426"/>
                  </a:ext>
                </a:extLst>
              </a:tr>
              <a:tr h="2611919">
                <a:tc>
                  <a:txBody>
                    <a:bodyPr/>
                    <a:lstStyle/>
                    <a:p>
                      <a:pPr algn="ctr" fontAlgn="ctr"/>
                      <a:r>
                        <a:rPr lang="en-US" sz="1400" u="none" strike="noStrike" dirty="0">
                          <a:effectLst/>
                        </a:rPr>
                        <a:t>3</a:t>
                      </a:r>
                      <a:endParaRPr lang="en-US" sz="1400" b="0" i="0" u="none" strike="noStrike" dirty="0">
                        <a:solidFill>
                          <a:srgbClr val="000000"/>
                        </a:solidFill>
                        <a:effectLst/>
                        <a:latin typeface="Calibri" panose="020F0502020204030204" pitchFamily="34" charset="0"/>
                      </a:endParaRPr>
                    </a:p>
                  </a:txBody>
                  <a:tcPr marL="5736" marR="5736" marT="5736" marB="0" anchor="ctr"/>
                </a:tc>
                <a:tc>
                  <a:txBody>
                    <a:bodyPr/>
                    <a:lstStyle/>
                    <a:p>
                      <a:pPr marL="0" algn="ctr" defTabSz="914400" rtl="0" eaLnBrk="1" fontAlgn="ctr" latinLnBrk="0" hangingPunct="1"/>
                      <a:r>
                        <a:rPr lang="en-US" sz="1600" u="none" strike="noStrike" kern="1200" dirty="0">
                          <a:solidFill>
                            <a:schemeClr val="tx1"/>
                          </a:solidFill>
                          <a:effectLst/>
                          <a:latin typeface="+mn-lt"/>
                          <a:ea typeface="+mn-ea"/>
                          <a:cs typeface="+mn-cs"/>
                        </a:rPr>
                        <a:t>Developing Filament Extruder and Characterization of Recycled High-Density Polyethylene for 3D Printing Filament Material</a:t>
                      </a:r>
                    </a:p>
                  </a:txBody>
                  <a:tcPr marL="5736" marR="5736" marT="5736" marB="0" anchor="ctr"/>
                </a:tc>
                <a:tc>
                  <a:txBody>
                    <a:bodyPr/>
                    <a:lstStyle/>
                    <a:p>
                      <a:pPr algn="ctr" fontAlgn="ctr"/>
                      <a:r>
                        <a:rPr lang="pt-BR" sz="1400" dirty="0"/>
                        <a:t>M Shiferaw, </a:t>
                      </a:r>
                      <a:r>
                        <a:rPr lang="pt-BR" sz="1400" dirty="0">
                          <a:hlinkClick r:id="rId2"/>
                        </a:rPr>
                        <a:t>H Gebremedhen</a:t>
                      </a:r>
                      <a:r>
                        <a:rPr lang="pt-BR" sz="1400" dirty="0"/>
                        <a:t>, A Mengistie</a:t>
                      </a:r>
                      <a:endParaRPr lang="en-US" sz="1400" b="0" i="0" u="none" strike="noStrike" dirty="0">
                        <a:solidFill>
                          <a:srgbClr val="000000"/>
                        </a:solidFill>
                        <a:effectLst/>
                        <a:latin typeface="Calibri" panose="020F0502020204030204" pitchFamily="34" charset="0"/>
                      </a:endParaRPr>
                    </a:p>
                  </a:txBody>
                  <a:tcPr marL="5736" marR="5736" marT="5736" marB="0" anchor="ctr"/>
                </a:tc>
                <a:tc>
                  <a:txBody>
                    <a:bodyPr/>
                    <a:lstStyle/>
                    <a:p>
                      <a:pPr algn="ctr" fontAlgn="ctr"/>
                      <a:r>
                        <a:rPr lang="en-US" sz="1400" u="none" strike="noStrike" dirty="0">
                          <a:effectLst/>
                        </a:rPr>
                        <a:t>2023</a:t>
                      </a:r>
                      <a:endParaRPr lang="en-US" sz="1400" b="0" i="0" u="none" strike="noStrike" dirty="0">
                        <a:solidFill>
                          <a:srgbClr val="000000"/>
                        </a:solidFill>
                        <a:effectLst/>
                        <a:latin typeface="Calibri" panose="020F0502020204030204" pitchFamily="34" charset="0"/>
                      </a:endParaRPr>
                    </a:p>
                  </a:txBody>
                  <a:tcPr marL="5736" marR="5736" marT="5736" marB="0" anchor="ctr"/>
                </a:tc>
                <a:tc>
                  <a:txBody>
                    <a:bodyPr/>
                    <a:lstStyle/>
                    <a:p>
                      <a:pPr marL="285750" indent="-285750" algn="just" fontAlgn="ctr">
                        <a:buFont typeface="Arial" panose="020B0604020202020204" pitchFamily="34" charset="0"/>
                        <a:buChar char="•"/>
                      </a:pPr>
                      <a:r>
                        <a:rPr lang="en-US" sz="1400" u="none" strike="noStrike" dirty="0">
                          <a:effectLst/>
                        </a:rPr>
                        <a:t>The study developed a desktop-sized filament extruder machine to create 1.75 mm diameter recycled HDPE filament for 3D printing, achieving a smooth, round shape suitable for prototyping.</a:t>
                      </a:r>
                    </a:p>
                    <a:p>
                      <a:pPr marL="285750" indent="-285750" algn="just" fontAlgn="ctr">
                        <a:buFont typeface="Arial" panose="020B0604020202020204" pitchFamily="34" charset="0"/>
                        <a:buChar char="•"/>
                      </a:pPr>
                      <a:r>
                        <a:rPr lang="en-US" sz="1400" u="none" strike="noStrike" dirty="0">
                          <a:effectLst/>
                        </a:rPr>
                        <a:t>Mechanical and thermal tests showed that the recycled HDPE filament had an ultimate tensile strength of 19.02 MPa, comparable to virgin HDPE, along with high thermal stability (degradation onset at 430°C).</a:t>
                      </a:r>
                    </a:p>
                    <a:p>
                      <a:pPr marL="285750" indent="-285750" algn="just" fontAlgn="ctr">
                        <a:buFont typeface="Arial" panose="020B0604020202020204" pitchFamily="34" charset="0"/>
                        <a:buChar char="•"/>
                      </a:pPr>
                      <a:r>
                        <a:rPr lang="en-US" sz="1400" u="none" strike="noStrike" dirty="0">
                          <a:effectLst/>
                        </a:rPr>
                        <a:t>FTIR analysis confirmed that the recycled HDPE retained the same functional groups as virgin HDPE, and it also displayed excellent water-repellent properties.</a:t>
                      </a:r>
                    </a:p>
                    <a:p>
                      <a:pPr marL="285750" indent="-285750" algn="just" fontAlgn="ctr">
                        <a:buFont typeface="Arial" panose="020B0604020202020204" pitchFamily="34" charset="0"/>
                        <a:buChar char="•"/>
                      </a:pPr>
                      <a:r>
                        <a:rPr lang="en-US" sz="1400" u="none" strike="noStrike" dirty="0">
                          <a:effectLst/>
                        </a:rPr>
                        <a:t>The study suggests that recycled HDPE filament could be a sustainable alternative for 3D printing, but further research is needed to enhance filament quality, optimize extrusion parameters, and improve product performance.</a:t>
                      </a:r>
                      <a:endParaRPr lang="en-US" sz="1400" b="0" i="0" u="none" strike="noStrike" dirty="0">
                        <a:solidFill>
                          <a:srgbClr val="000000"/>
                        </a:solidFill>
                        <a:effectLst/>
                        <a:latin typeface="Calibri" panose="020F0502020204030204" pitchFamily="34" charset="0"/>
                      </a:endParaRPr>
                    </a:p>
                  </a:txBody>
                  <a:tcPr marL="5736" marR="5736" marT="5736" marB="0" anchor="ctr"/>
                </a:tc>
                <a:extLst>
                  <a:ext uri="{0D108BD9-81ED-4DB2-BD59-A6C34878D82A}">
                    <a16:rowId xmlns:a16="http://schemas.microsoft.com/office/drawing/2014/main" val="1366447206"/>
                  </a:ext>
                </a:extLst>
              </a:tr>
              <a:tr h="2268207">
                <a:tc>
                  <a:txBody>
                    <a:bodyPr/>
                    <a:lstStyle/>
                    <a:p>
                      <a:pPr algn="ctr" fontAlgn="ctr"/>
                      <a:r>
                        <a:rPr lang="en-US" sz="1400" u="none" strike="noStrike" dirty="0">
                          <a:effectLst/>
                        </a:rPr>
                        <a:t>4</a:t>
                      </a:r>
                      <a:endParaRPr lang="en-US" sz="1400" b="0" i="0" u="none" strike="noStrike" dirty="0">
                        <a:solidFill>
                          <a:srgbClr val="000000"/>
                        </a:solidFill>
                        <a:effectLst/>
                        <a:latin typeface="Calibri" panose="020F0502020204030204" pitchFamily="34" charset="0"/>
                      </a:endParaRPr>
                    </a:p>
                  </a:txBody>
                  <a:tcPr marL="5736" marR="5736" marT="5736" marB="0" anchor="ctr"/>
                </a:tc>
                <a:tc>
                  <a:txBody>
                    <a:bodyPr/>
                    <a:lstStyle/>
                    <a:p>
                      <a:pPr marL="0" algn="ctr" defTabSz="914400" rtl="0" eaLnBrk="1" fontAlgn="ctr" latinLnBrk="0" hangingPunct="1"/>
                      <a:r>
                        <a:rPr lang="en-US" sz="1600" u="none" strike="noStrike" kern="1200" dirty="0">
                          <a:solidFill>
                            <a:schemeClr val="tx1"/>
                          </a:solidFill>
                          <a:effectLst/>
                          <a:latin typeface="+mn-lt"/>
                          <a:ea typeface="+mn-ea"/>
                          <a:cs typeface="+mn-cs"/>
                        </a:rPr>
                        <a:t>Development of filament extruder using recycled plastic material for 3D printer</a:t>
                      </a:r>
                    </a:p>
                  </a:txBody>
                  <a:tcPr marL="5736" marR="5736" marT="5736" marB="0" anchor="ctr"/>
                </a:tc>
                <a:tc>
                  <a:txBody>
                    <a:bodyPr/>
                    <a:lstStyle/>
                    <a:p>
                      <a:pPr algn="ctr" fontAlgn="ctr"/>
                      <a:r>
                        <a:rPr lang="en-US" sz="1400" u="none" strike="noStrike" dirty="0">
                          <a:effectLst/>
                        </a:rPr>
                        <a:t>Jen </a:t>
                      </a:r>
                      <a:r>
                        <a:rPr lang="en-US" sz="1400" u="none" strike="noStrike" dirty="0" err="1">
                          <a:effectLst/>
                        </a:rPr>
                        <a:t>Aldwayne</a:t>
                      </a:r>
                      <a:r>
                        <a:rPr lang="en-US" sz="1400" u="none" strike="noStrike" dirty="0">
                          <a:effectLst/>
                        </a:rPr>
                        <a:t> M., </a:t>
                      </a:r>
                      <a:r>
                        <a:rPr lang="en-US" sz="1400" u="none" strike="noStrike" dirty="0" err="1">
                          <a:effectLst/>
                        </a:rPr>
                        <a:t>Banaag</a:t>
                      </a:r>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736" marR="5736" marT="5736" marB="0" anchor="ctr"/>
                </a:tc>
                <a:tc>
                  <a:txBody>
                    <a:bodyPr/>
                    <a:lstStyle/>
                    <a:p>
                      <a:pPr algn="ctr" fontAlgn="ctr"/>
                      <a:r>
                        <a:rPr lang="en-US" sz="1400" u="none" strike="noStrike" dirty="0">
                          <a:effectLst/>
                        </a:rPr>
                        <a:t>2016</a:t>
                      </a:r>
                      <a:endParaRPr lang="en-US" sz="1400" b="0" i="0" u="none" strike="noStrike" dirty="0">
                        <a:solidFill>
                          <a:srgbClr val="000000"/>
                        </a:solidFill>
                        <a:effectLst/>
                        <a:latin typeface="Calibri" panose="020F0502020204030204" pitchFamily="34" charset="0"/>
                      </a:endParaRPr>
                    </a:p>
                  </a:txBody>
                  <a:tcPr marL="5736" marR="5736" marT="5736" marB="0" anchor="ctr"/>
                </a:tc>
                <a:tc>
                  <a:txBody>
                    <a:bodyPr/>
                    <a:lstStyle/>
                    <a:p>
                      <a:pPr marL="285750" indent="-285750" algn="just" fontAlgn="ctr">
                        <a:buFont typeface="Arial" panose="020B0604020202020204" pitchFamily="34" charset="0"/>
                        <a:buChar char="•"/>
                      </a:pPr>
                      <a:r>
                        <a:rPr lang="en-US" sz="1400" u="none" strike="noStrike" dirty="0">
                          <a:effectLst/>
                        </a:rPr>
                        <a:t>Developed an extruder machine to recycle waste plastic bottles into 1.00-1.75 mm diameter 3D printer filament.</a:t>
                      </a:r>
                    </a:p>
                    <a:p>
                      <a:pPr marL="285750" indent="-285750" algn="just" fontAlgn="ctr">
                        <a:buFont typeface="Arial" panose="020B0604020202020204" pitchFamily="34" charset="0"/>
                        <a:buChar char="•"/>
                      </a:pPr>
                      <a:r>
                        <a:rPr lang="en-US" sz="1400" u="none" strike="noStrike" dirty="0">
                          <a:effectLst/>
                        </a:rPr>
                        <a:t>Controlled heating (220-260°C) and Arduino automation ensured consistent output.</a:t>
                      </a:r>
                    </a:p>
                    <a:p>
                      <a:pPr marL="285750" indent="-285750" algn="just" fontAlgn="ctr">
                        <a:buFont typeface="Arial" panose="020B0604020202020204" pitchFamily="34" charset="0"/>
                        <a:buChar char="•"/>
                      </a:pPr>
                      <a:r>
                        <a:rPr lang="en-US" sz="1400" u="none" strike="noStrike" dirty="0">
                          <a:effectLst/>
                        </a:rPr>
                        <a:t>Motor speed and cooling fan were key to achieving stable filament for successful 3D printing</a:t>
                      </a:r>
                      <a:endParaRPr lang="en-US" sz="1400" b="0" i="0" u="none" strike="noStrike" dirty="0">
                        <a:solidFill>
                          <a:srgbClr val="000000"/>
                        </a:solidFill>
                        <a:effectLst/>
                        <a:latin typeface="Calibri" panose="020F0502020204030204" pitchFamily="34" charset="0"/>
                      </a:endParaRPr>
                    </a:p>
                  </a:txBody>
                  <a:tcPr marL="5736" marR="5736" marT="5736" marB="0" anchor="ctr"/>
                </a:tc>
                <a:extLst>
                  <a:ext uri="{0D108BD9-81ED-4DB2-BD59-A6C34878D82A}">
                    <a16:rowId xmlns:a16="http://schemas.microsoft.com/office/drawing/2014/main" val="53540705"/>
                  </a:ext>
                </a:extLst>
              </a:tr>
            </a:tbl>
          </a:graphicData>
        </a:graphic>
      </p:graphicFrame>
    </p:spTree>
    <p:extLst>
      <p:ext uri="{BB962C8B-B14F-4D97-AF65-F5344CB8AC3E}">
        <p14:creationId xmlns:p14="http://schemas.microsoft.com/office/powerpoint/2010/main" val="3402292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F98B3-DF43-1B48-CB4B-47CEEF9DCF18}"/>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8CC0EA3C-1134-70F8-8F04-CC7A6E0D4785}"/>
              </a:ext>
            </a:extLst>
          </p:cNvPr>
          <p:cNvSpPr txBox="1">
            <a:spLocks noGrp="1"/>
          </p:cNvSpPr>
          <p:nvPr>
            <p:ph type="title"/>
          </p:nvPr>
        </p:nvSpPr>
        <p:spPr>
          <a:xfrm>
            <a:off x="618565" y="188259"/>
            <a:ext cx="5634318"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rPr>
              <a:t>LITERATURE REVIEW</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0D782142-FF30-0C6E-B96B-7A8DC1A7D498}"/>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02</a:t>
            </a:r>
          </a:p>
        </p:txBody>
      </p:sp>
      <p:graphicFrame>
        <p:nvGraphicFramePr>
          <p:cNvPr id="2" name="Table 1">
            <a:extLst>
              <a:ext uri="{FF2B5EF4-FFF2-40B4-BE49-F238E27FC236}">
                <a16:creationId xmlns:a16="http://schemas.microsoft.com/office/drawing/2014/main" id="{6B2D9E20-CFA3-16A8-C4B3-7A88BE778DF8}"/>
              </a:ext>
            </a:extLst>
          </p:cNvPr>
          <p:cNvGraphicFramePr>
            <a:graphicFrameLocks noGrp="1"/>
          </p:cNvGraphicFramePr>
          <p:nvPr>
            <p:extLst>
              <p:ext uri="{D42A27DB-BD31-4B8C-83A1-F6EECF244321}">
                <p14:modId xmlns:p14="http://schemas.microsoft.com/office/powerpoint/2010/main" val="709025235"/>
              </p:ext>
            </p:extLst>
          </p:nvPr>
        </p:nvGraphicFramePr>
        <p:xfrm>
          <a:off x="299484" y="1064871"/>
          <a:ext cx="11628058" cy="4162488"/>
        </p:xfrm>
        <a:graphic>
          <a:graphicData uri="http://schemas.openxmlformats.org/drawingml/2006/table">
            <a:tbl>
              <a:tblPr>
                <a:tableStyleId>{616DA210-FB5B-4158-B5E0-FEB733F419BA}</a:tableStyleId>
              </a:tblPr>
              <a:tblGrid>
                <a:gridCol w="596949">
                  <a:extLst>
                    <a:ext uri="{9D8B030D-6E8A-4147-A177-3AD203B41FA5}">
                      <a16:colId xmlns:a16="http://schemas.microsoft.com/office/drawing/2014/main" val="3301208514"/>
                    </a:ext>
                  </a:extLst>
                </a:gridCol>
                <a:gridCol w="2998638">
                  <a:extLst>
                    <a:ext uri="{9D8B030D-6E8A-4147-A177-3AD203B41FA5}">
                      <a16:colId xmlns:a16="http://schemas.microsoft.com/office/drawing/2014/main" val="2381019729"/>
                    </a:ext>
                  </a:extLst>
                </a:gridCol>
                <a:gridCol w="1116090">
                  <a:extLst>
                    <a:ext uri="{9D8B030D-6E8A-4147-A177-3AD203B41FA5}">
                      <a16:colId xmlns:a16="http://schemas.microsoft.com/office/drawing/2014/main" val="2393908042"/>
                    </a:ext>
                  </a:extLst>
                </a:gridCol>
                <a:gridCol w="924507">
                  <a:extLst>
                    <a:ext uri="{9D8B030D-6E8A-4147-A177-3AD203B41FA5}">
                      <a16:colId xmlns:a16="http://schemas.microsoft.com/office/drawing/2014/main" val="3672542724"/>
                    </a:ext>
                  </a:extLst>
                </a:gridCol>
                <a:gridCol w="5991874">
                  <a:extLst>
                    <a:ext uri="{9D8B030D-6E8A-4147-A177-3AD203B41FA5}">
                      <a16:colId xmlns:a16="http://schemas.microsoft.com/office/drawing/2014/main" val="2553863674"/>
                    </a:ext>
                  </a:extLst>
                </a:gridCol>
              </a:tblGrid>
              <a:tr h="274966">
                <a:tc>
                  <a:txBody>
                    <a:bodyPr/>
                    <a:lstStyle/>
                    <a:p>
                      <a:pPr algn="ctr" fontAlgn="b"/>
                      <a:r>
                        <a:rPr lang="en-US" sz="1600" b="0" u="none" strike="noStrike" dirty="0">
                          <a:effectLst/>
                          <a:latin typeface="Bebas Neue" panose="020B0606020202050201" pitchFamily="34" charset="0"/>
                        </a:rPr>
                        <a:t>Paper  #</a:t>
                      </a:r>
                      <a:endParaRPr lang="en-US" sz="1600" b="0" i="0" u="none" strike="noStrike" dirty="0">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2400" b="0" u="none" strike="noStrike" dirty="0">
                          <a:effectLst/>
                          <a:latin typeface="Bebas Neue" panose="020B0606020202050201" pitchFamily="34" charset="0"/>
                        </a:rPr>
                        <a:t>Title</a:t>
                      </a:r>
                      <a:endParaRPr lang="en-US" sz="2400" b="0" i="0" u="none" strike="noStrike" dirty="0">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1600" b="0" u="none" strike="noStrike">
                          <a:effectLst/>
                          <a:latin typeface="Bebas Neue" panose="020B0606020202050201" pitchFamily="34" charset="0"/>
                        </a:rPr>
                        <a:t>Author</a:t>
                      </a:r>
                      <a:endParaRPr lang="en-US" sz="1600" b="0" i="0" u="none" strike="noStrike">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1600" b="0" u="none" strike="noStrike">
                          <a:effectLst/>
                          <a:latin typeface="Bebas Neue" panose="020B0606020202050201" pitchFamily="34" charset="0"/>
                        </a:rPr>
                        <a:t>Published Year</a:t>
                      </a:r>
                      <a:endParaRPr lang="en-US" sz="1600" b="0" i="0" u="none" strike="noStrike">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2000" b="0" u="none" strike="noStrike" dirty="0">
                          <a:effectLst/>
                          <a:latin typeface="Bebas Neue" panose="020B0606020202050201" pitchFamily="34" charset="0"/>
                        </a:rPr>
                        <a:t>Remarks</a:t>
                      </a:r>
                      <a:endParaRPr lang="en-US" sz="2000" b="0" i="0" u="none" strike="noStrike" dirty="0">
                        <a:solidFill>
                          <a:srgbClr val="000000"/>
                        </a:solidFill>
                        <a:effectLst/>
                        <a:latin typeface="Bebas Neue" panose="020B0606020202050201" pitchFamily="34" charset="0"/>
                      </a:endParaRPr>
                    </a:p>
                  </a:txBody>
                  <a:tcPr marL="5736" marR="5736" marT="5736" marB="0" anchor="ctr"/>
                </a:tc>
                <a:extLst>
                  <a:ext uri="{0D108BD9-81ED-4DB2-BD59-A6C34878D82A}">
                    <a16:rowId xmlns:a16="http://schemas.microsoft.com/office/drawing/2014/main" val="4204608426"/>
                  </a:ext>
                </a:extLst>
              </a:tr>
              <a:tr h="185748">
                <a:tc>
                  <a:txBody>
                    <a:bodyPr/>
                    <a:lstStyle/>
                    <a:p>
                      <a:pPr algn="ctr" fontAlgn="b"/>
                      <a:r>
                        <a:rPr lang="en-US" sz="1600" b="0" i="0" u="none" strike="noStrike" dirty="0">
                          <a:solidFill>
                            <a:srgbClr val="000000"/>
                          </a:solidFill>
                          <a:effectLst/>
                          <a:latin typeface="Bebas Neue" panose="020B0606020202050201" pitchFamily="34" charset="0"/>
                        </a:rPr>
                        <a:t>5</a:t>
                      </a:r>
                    </a:p>
                  </a:txBody>
                  <a:tcPr marL="5736" marR="5736" marT="5736"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u="none" strike="noStrike" kern="1200" dirty="0">
                          <a:solidFill>
                            <a:schemeClr val="tx1"/>
                          </a:solidFill>
                          <a:effectLst/>
                          <a:latin typeface="+mn-lt"/>
                          <a:ea typeface="+mn-ea"/>
                          <a:cs typeface="+mn-cs"/>
                        </a:rPr>
                        <a:t>Temperature-induced pressure gradient in the clearance between screw flight and barrel of a single screw extruder</a:t>
                      </a:r>
                    </a:p>
                  </a:txBody>
                  <a:tcPr marL="5736" marR="5736" marT="5736" marB="0" anchor="ctr"/>
                </a:tc>
                <a:tc>
                  <a:txBody>
                    <a:bodyPr/>
                    <a:lstStyle/>
                    <a:p>
                      <a:pPr algn="ctr" fontAlgn="b"/>
                      <a:r>
                        <a:rPr lang="en-US" sz="1600" b="0" i="0" kern="1200" dirty="0">
                          <a:solidFill>
                            <a:schemeClr val="tx1"/>
                          </a:solidFill>
                          <a:effectLst/>
                          <a:latin typeface="+mn-lt"/>
                          <a:ea typeface="+mn-ea"/>
                          <a:cs typeface="+mn-cs"/>
                        </a:rPr>
                        <a:t>Winter, Horst Henning.</a:t>
                      </a:r>
                      <a:endParaRPr lang="en-US" sz="1600" b="0" i="0" u="none" strike="noStrike" dirty="0">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1600" b="0" i="0" kern="1200" dirty="0">
                          <a:solidFill>
                            <a:schemeClr val="tx1"/>
                          </a:solidFill>
                          <a:effectLst/>
                          <a:latin typeface="+mn-lt"/>
                          <a:ea typeface="+mn-ea"/>
                          <a:cs typeface="+mn-cs"/>
                        </a:rPr>
                        <a:t>1980</a:t>
                      </a:r>
                      <a:endParaRPr lang="en-US" sz="1600" b="0" i="0" u="none" strike="noStrike" dirty="0">
                        <a:solidFill>
                          <a:srgbClr val="000000"/>
                        </a:solidFill>
                        <a:effectLst/>
                        <a:latin typeface="Bebas Neue" panose="020B0606020202050201" pitchFamily="34" charset="0"/>
                      </a:endParaRPr>
                    </a:p>
                  </a:txBody>
                  <a:tcPr marL="5736" marR="5736" marT="5736" marB="0" anchor="ctr"/>
                </a:tc>
                <a:tc>
                  <a:txBody>
                    <a:bodyPr/>
                    <a:lstStyle/>
                    <a:p>
                      <a:pPr marL="285750" indent="-285750" algn="just" defTabSz="914400" rtl="0" eaLnBrk="1" fontAlgn="ctr" latinLnBrk="0" hangingPunct="1">
                        <a:buFont typeface="Arial" panose="020B0604020202020204" pitchFamily="34" charset="0"/>
                        <a:buChar char="•"/>
                      </a:pPr>
                      <a:r>
                        <a:rPr lang="en-US" sz="1600" u="none" strike="noStrike" kern="1200" dirty="0">
                          <a:solidFill>
                            <a:schemeClr val="tx1"/>
                          </a:solidFill>
                          <a:effectLst/>
                          <a:latin typeface="+mn-lt"/>
                          <a:ea typeface="+mn-ea"/>
                          <a:cs typeface="+mn-cs"/>
                        </a:rPr>
                        <a:t>Examines temperature-induced pressure gradients in drag flow with a viscosity gradient due to temperature changes.</a:t>
                      </a:r>
                    </a:p>
                    <a:p>
                      <a:pPr marL="285750" indent="-285750" algn="just" defTabSz="914400" rtl="0" eaLnBrk="1" fontAlgn="ctr" latinLnBrk="0" hangingPunct="1">
                        <a:buFont typeface="Arial" panose="020B0604020202020204" pitchFamily="34" charset="0"/>
                        <a:buChar char="•"/>
                      </a:pPr>
                      <a:r>
                        <a:rPr lang="en-US" sz="1600" u="none" strike="noStrike" kern="1200" dirty="0">
                          <a:solidFill>
                            <a:schemeClr val="tx1"/>
                          </a:solidFill>
                          <a:effectLst/>
                          <a:latin typeface="+mn-lt"/>
                          <a:ea typeface="+mn-ea"/>
                          <a:cs typeface="+mn-cs"/>
                        </a:rPr>
                        <a:t>Focuses on clearance flow in single screw extruders, where a polymer layer prevents metal-to-metal contact.</a:t>
                      </a:r>
                    </a:p>
                    <a:p>
                      <a:pPr marL="285750" indent="-285750" algn="just" defTabSz="914400" rtl="0" eaLnBrk="1" fontAlgn="ctr" latinLnBrk="0" hangingPunct="1">
                        <a:buFont typeface="Arial" panose="020B0604020202020204" pitchFamily="34" charset="0"/>
                        <a:buChar char="•"/>
                      </a:pPr>
                      <a:r>
                        <a:rPr lang="en-US" sz="1600" u="none" strike="noStrike" kern="1200" dirty="0">
                          <a:solidFill>
                            <a:schemeClr val="tx1"/>
                          </a:solidFill>
                          <a:effectLst/>
                          <a:latin typeface="+mn-lt"/>
                          <a:ea typeface="+mn-ea"/>
                          <a:cs typeface="+mn-cs"/>
                        </a:rPr>
                        <a:t>Concludes that failure of this layer, leading to dry friction, is caused by temperature-induced pressure flow.</a:t>
                      </a:r>
                    </a:p>
                  </a:txBody>
                  <a:tcPr marL="5736" marR="5736" marT="5736" marB="0" anchor="ctr"/>
                </a:tc>
                <a:extLst>
                  <a:ext uri="{0D108BD9-81ED-4DB2-BD59-A6C34878D82A}">
                    <a16:rowId xmlns:a16="http://schemas.microsoft.com/office/drawing/2014/main" val="1988907034"/>
                  </a:ext>
                </a:extLst>
              </a:tr>
              <a:tr h="185748">
                <a:tc>
                  <a:txBody>
                    <a:bodyPr/>
                    <a:lstStyle/>
                    <a:p>
                      <a:pPr algn="ctr" fontAlgn="b"/>
                      <a:r>
                        <a:rPr lang="en-US" sz="1600" b="0" i="0" u="none" strike="noStrike" dirty="0">
                          <a:solidFill>
                            <a:srgbClr val="000000"/>
                          </a:solidFill>
                          <a:effectLst/>
                          <a:latin typeface="Bebas Neue" panose="020B0606020202050201" pitchFamily="34" charset="0"/>
                        </a:rPr>
                        <a:t>6</a:t>
                      </a:r>
                    </a:p>
                  </a:txBody>
                  <a:tcPr marL="5736" marR="5736" marT="5736"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dirty="0"/>
                        <a:t>Design and Manufacture of the Cooling and Collection System of a Single Screw Extruder</a:t>
                      </a:r>
                      <a:endParaRPr lang="en-US" sz="2400" b="0" i="0" u="none" strike="noStrike" dirty="0">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1600" dirty="0"/>
                        <a:t>Opeyemi </a:t>
                      </a:r>
                      <a:r>
                        <a:rPr lang="en-US" sz="1600" dirty="0" err="1"/>
                        <a:t>Osideko</a:t>
                      </a:r>
                      <a:r>
                        <a:rPr lang="el-GR" sz="1600" dirty="0"/>
                        <a:t>, </a:t>
                      </a:r>
                      <a:r>
                        <a:rPr lang="en-US" sz="1600" dirty="0" err="1"/>
                        <a:t>Favour</a:t>
                      </a:r>
                      <a:r>
                        <a:rPr lang="en-US" sz="1600" dirty="0"/>
                        <a:t> </a:t>
                      </a:r>
                      <a:r>
                        <a:rPr lang="en-US" sz="1600" dirty="0" err="1"/>
                        <a:t>Eboh</a:t>
                      </a:r>
                      <a:r>
                        <a:rPr lang="en-US" sz="1600" dirty="0"/>
                        <a:t>, and Modupe </a:t>
                      </a:r>
                      <a:r>
                        <a:rPr lang="en-US" sz="1600" dirty="0" err="1"/>
                        <a:t>Onitiri</a:t>
                      </a:r>
                      <a:endParaRPr lang="en-US" sz="1600" b="0" i="0" u="none" strike="noStrike" dirty="0">
                        <a:solidFill>
                          <a:srgbClr val="000000"/>
                        </a:solidFill>
                        <a:effectLst/>
                        <a:latin typeface="Bebas Neue" panose="020B0606020202050201" pitchFamily="34" charset="0"/>
                      </a:endParaRPr>
                    </a:p>
                  </a:txBody>
                  <a:tcPr marL="5736" marR="5736" marT="5736" marB="0" anchor="ctr"/>
                </a:tc>
                <a:tc>
                  <a:txBody>
                    <a:bodyPr/>
                    <a:lstStyle/>
                    <a:p>
                      <a:pPr algn="ctr" fontAlgn="b"/>
                      <a:r>
                        <a:rPr lang="en-US" sz="1600" dirty="0"/>
                        <a:t>5 April 2022</a:t>
                      </a:r>
                      <a:endParaRPr lang="en-US" sz="1600" b="0" i="0" u="none" strike="noStrike" dirty="0">
                        <a:solidFill>
                          <a:srgbClr val="000000"/>
                        </a:solidFill>
                        <a:effectLst/>
                        <a:latin typeface="Bebas Neue" panose="020B0606020202050201" pitchFamily="34" charset="0"/>
                      </a:endParaRPr>
                    </a:p>
                  </a:txBody>
                  <a:tcPr marL="5736" marR="5736" marT="5736" marB="0" anchor="ctr"/>
                </a:tc>
                <a:tc>
                  <a:txBody>
                    <a:bodyPr/>
                    <a:lstStyle/>
                    <a:p>
                      <a:pPr marL="285750" indent="-285750" algn="just" defTabSz="914400" rtl="0" eaLnBrk="1" fontAlgn="ctr" latinLnBrk="0" hangingPunct="1">
                        <a:buFont typeface="Arial" panose="020B0604020202020204" pitchFamily="34" charset="0"/>
                        <a:buChar char="•"/>
                      </a:pPr>
                      <a:r>
                        <a:rPr lang="en-US" sz="1600" u="none" strike="noStrike" kern="1200" dirty="0">
                          <a:solidFill>
                            <a:schemeClr val="tx1"/>
                          </a:solidFill>
                          <a:effectLst/>
                          <a:latin typeface="+mn-lt"/>
                          <a:ea typeface="+mn-ea"/>
                          <a:cs typeface="+mn-cs"/>
                        </a:rPr>
                        <a:t>Focuses on designing and constructing a lightweight, cost-effective filament collection system to improve cooling efficiency in a single screw extruder.</a:t>
                      </a:r>
                    </a:p>
                    <a:p>
                      <a:pPr marL="285750" indent="-285750" algn="just" defTabSz="914400" rtl="0" eaLnBrk="1" fontAlgn="ctr" latinLnBrk="0" hangingPunct="1">
                        <a:buFont typeface="Arial" panose="020B0604020202020204" pitchFamily="34" charset="0"/>
                        <a:buChar char="•"/>
                      </a:pPr>
                      <a:r>
                        <a:rPr lang="en-US" sz="1600" u="none" strike="noStrike" kern="1200" dirty="0">
                          <a:solidFill>
                            <a:schemeClr val="tx1"/>
                          </a:solidFill>
                          <a:effectLst/>
                          <a:latin typeface="+mn-lt"/>
                          <a:ea typeface="+mn-ea"/>
                          <a:cs typeface="+mn-cs"/>
                        </a:rPr>
                        <a:t>Implements a filament winding machine with a circumferential winding pattern, integrating a motor, gear system, and additional cooling fan, leading to a 35% increase in cooling rate.</a:t>
                      </a:r>
                    </a:p>
                    <a:p>
                      <a:pPr marL="285750" indent="-285750" algn="just" defTabSz="914400" rtl="0" eaLnBrk="1" fontAlgn="ctr" latinLnBrk="0" hangingPunct="1">
                        <a:buFont typeface="Arial" panose="020B0604020202020204" pitchFamily="34" charset="0"/>
                        <a:buChar char="•"/>
                      </a:pPr>
                      <a:r>
                        <a:rPr lang="en-US" sz="1600" u="none" strike="noStrike" kern="1200" dirty="0">
                          <a:solidFill>
                            <a:schemeClr val="tx1"/>
                          </a:solidFill>
                          <a:effectLst/>
                          <a:latin typeface="+mn-lt"/>
                          <a:ea typeface="+mn-ea"/>
                          <a:cs typeface="+mn-cs"/>
                        </a:rPr>
                        <a:t>Highlights the benefits of an automated collection system in reducing filament waste, contamination, and enhancing productivity.</a:t>
                      </a:r>
                    </a:p>
                  </a:txBody>
                  <a:tcPr marL="5736" marR="5736" marT="5736" marB="0" anchor="ctr"/>
                </a:tc>
                <a:extLst>
                  <a:ext uri="{0D108BD9-81ED-4DB2-BD59-A6C34878D82A}">
                    <a16:rowId xmlns:a16="http://schemas.microsoft.com/office/drawing/2014/main" val="3427436408"/>
                  </a:ext>
                </a:extLst>
              </a:tr>
            </a:tbl>
          </a:graphicData>
        </a:graphic>
      </p:graphicFrame>
    </p:spTree>
    <p:extLst>
      <p:ext uri="{BB962C8B-B14F-4D97-AF65-F5344CB8AC3E}">
        <p14:creationId xmlns:p14="http://schemas.microsoft.com/office/powerpoint/2010/main" val="3565613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ADAB-FFCD-FDC8-F446-0C985D2F1649}"/>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E3BF8038-9AA5-8C0E-E7E6-5C071403C27A}"/>
              </a:ext>
            </a:extLst>
          </p:cNvPr>
          <p:cNvSpPr txBox="1">
            <a:spLocks noGrp="1"/>
          </p:cNvSpPr>
          <p:nvPr>
            <p:ph type="title"/>
          </p:nvPr>
        </p:nvSpPr>
        <p:spPr>
          <a:xfrm>
            <a:off x="2509989" y="2294682"/>
            <a:ext cx="6536400" cy="127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7200" dirty="0">
                <a:latin typeface="Bebas Neue" panose="020B0606020202050201" pitchFamily="34" charset="0"/>
                <a:ea typeface="Inter"/>
                <a:cs typeface="Inter"/>
                <a:sym typeface="Inter"/>
              </a:rPr>
              <a:t>METHODOLOGY</a:t>
            </a:r>
          </a:p>
        </p:txBody>
      </p:sp>
      <p:grpSp>
        <p:nvGrpSpPr>
          <p:cNvPr id="8" name="Group 7">
            <a:extLst>
              <a:ext uri="{FF2B5EF4-FFF2-40B4-BE49-F238E27FC236}">
                <a16:creationId xmlns:a16="http://schemas.microsoft.com/office/drawing/2014/main" id="{40C062D1-04C5-D797-386F-FEB8E4EB0470}"/>
              </a:ext>
            </a:extLst>
          </p:cNvPr>
          <p:cNvGrpSpPr/>
          <p:nvPr/>
        </p:nvGrpSpPr>
        <p:grpSpPr>
          <a:xfrm>
            <a:off x="2652551" y="1163499"/>
            <a:ext cx="6251276" cy="2986807"/>
            <a:chOff x="2652551" y="1163499"/>
            <a:chExt cx="6251276" cy="2986807"/>
          </a:xfrm>
        </p:grpSpPr>
        <p:sp>
          <p:nvSpPr>
            <p:cNvPr id="5" name="Google Shape;1523;p33">
              <a:extLst>
                <a:ext uri="{FF2B5EF4-FFF2-40B4-BE49-F238E27FC236}">
                  <a16:creationId xmlns:a16="http://schemas.microsoft.com/office/drawing/2014/main" id="{1101966E-9F07-30C4-96C4-2ABB7325913C}"/>
                </a:ext>
              </a:extLst>
            </p:cNvPr>
            <p:cNvSpPr txBox="1">
              <a:spLocks/>
            </p:cNvSpPr>
            <p:nvPr/>
          </p:nvSpPr>
          <p:spPr>
            <a:xfrm>
              <a:off x="5320989" y="1163499"/>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6" name="Google Shape;1524;p33">
              <a:extLst>
                <a:ext uri="{FF2B5EF4-FFF2-40B4-BE49-F238E27FC236}">
                  <a16:creationId xmlns:a16="http://schemas.microsoft.com/office/drawing/2014/main" id="{FD5D2D71-8993-38DF-33CF-4CF9008DB8B8}"/>
                </a:ext>
              </a:extLst>
            </p:cNvPr>
            <p:cNvSpPr txBox="1">
              <a:spLocks/>
            </p:cNvSpPr>
            <p:nvPr/>
          </p:nvSpPr>
          <p:spPr>
            <a:xfrm>
              <a:off x="2652551" y="3572082"/>
              <a:ext cx="6251276"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 sz="2000" b="1" dirty="0">
                  <a:solidFill>
                    <a:schemeClr val="lt1"/>
                  </a:solidFill>
                  <a:effectLst>
                    <a:outerShdw blurRad="38100" dist="38100" dir="2700000" algn="tl">
                      <a:srgbClr val="000000">
                        <a:alpha val="43137"/>
                      </a:srgbClr>
                    </a:outerShdw>
                  </a:effectLst>
                  <a:latin typeface="Poppins" panose="00000800000000000000" pitchFamily="2" charset="0"/>
                  <a:ea typeface="Inter"/>
                  <a:cs typeface="Poppins" panose="00000800000000000000" pitchFamily="2" charset="0"/>
                  <a:sym typeface="Inter"/>
                </a:rPr>
                <a:t>MAKING AND WORKING OF PROJECT</a:t>
              </a:r>
              <a:endParaRPr lang="en-US" sz="2000"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grpSp>
    </p:spTree>
    <p:extLst>
      <p:ext uri="{BB962C8B-B14F-4D97-AF65-F5344CB8AC3E}">
        <p14:creationId xmlns:p14="http://schemas.microsoft.com/office/powerpoint/2010/main" val="1077227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409F1-F12C-4D48-9789-5646EF77BCE3}"/>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363134F0-1DD2-D319-966A-4B65D5A7CA38}"/>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610920BE-023F-EBDB-872A-EA9ADC23B3B1}"/>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11" name="TextBox 10">
            <a:extLst>
              <a:ext uri="{FF2B5EF4-FFF2-40B4-BE49-F238E27FC236}">
                <a16:creationId xmlns:a16="http://schemas.microsoft.com/office/drawing/2014/main" id="{C00A47C3-3A30-0590-5046-587FC3F96E12}"/>
              </a:ext>
            </a:extLst>
          </p:cNvPr>
          <p:cNvSpPr txBox="1"/>
          <p:nvPr/>
        </p:nvSpPr>
        <p:spPr>
          <a:xfrm>
            <a:off x="4191559" y="673473"/>
            <a:ext cx="4199405" cy="615553"/>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lang="en-US" sz="4000" kern="0" dirty="0">
                <a:solidFill>
                  <a:srgbClr val="1F7EF1"/>
                </a:solidFill>
                <a:effectLst>
                  <a:outerShdw blurRad="38100" dist="38100" dir="2700000" algn="tl">
                    <a:srgbClr val="000000">
                      <a:alpha val="43137"/>
                    </a:srgbClr>
                  </a:outerShdw>
                </a:effectLst>
                <a:latin typeface="Bebas Neue" panose="020B0606020202050201" pitchFamily="34" charset="0"/>
              </a:rPr>
              <a:t>SCHEMATIC DIAGRAM</a:t>
            </a:r>
            <a:endParaRPr kumimoji="0" lang="en-US" sz="40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endParaRPr>
          </a:p>
        </p:txBody>
      </p:sp>
      <p:grpSp>
        <p:nvGrpSpPr>
          <p:cNvPr id="12" name="Group 11">
            <a:extLst>
              <a:ext uri="{FF2B5EF4-FFF2-40B4-BE49-F238E27FC236}">
                <a16:creationId xmlns:a16="http://schemas.microsoft.com/office/drawing/2014/main" id="{641FC16F-DE2D-5C32-CAA0-7AD8B07B773E}"/>
              </a:ext>
            </a:extLst>
          </p:cNvPr>
          <p:cNvGrpSpPr/>
          <p:nvPr/>
        </p:nvGrpSpPr>
        <p:grpSpPr>
          <a:xfrm>
            <a:off x="2844053" y="1102659"/>
            <a:ext cx="6851275" cy="5459507"/>
            <a:chOff x="0" y="0"/>
            <a:chExt cx="5098415" cy="4316095"/>
          </a:xfrm>
        </p:grpSpPr>
        <p:pic>
          <p:nvPicPr>
            <p:cNvPr id="13" name="Picture 12">
              <a:extLst>
                <a:ext uri="{FF2B5EF4-FFF2-40B4-BE49-F238E27FC236}">
                  <a16:creationId xmlns:a16="http://schemas.microsoft.com/office/drawing/2014/main" id="{843220B3-69CC-FE84-3DE7-B33BB0B531F7}"/>
                </a:ext>
              </a:extLst>
            </p:cNvPr>
            <p:cNvPicPr>
              <a:picLocks noChangeAspect="1"/>
            </p:cNvPicPr>
            <p:nvPr/>
          </p:nvPicPr>
          <p:blipFill rotWithShape="1">
            <a:blip r:embed="rId2">
              <a:extLst>
                <a:ext uri="{28A0092B-C50C-407E-A947-70E740481C1C}">
                  <a14:useLocalDpi xmlns:a14="http://schemas.microsoft.com/office/drawing/2010/main" val="0"/>
                </a:ext>
              </a:extLst>
            </a:blip>
            <a:srcRect l="18883" t="7046" r="23194" b="12146"/>
            <a:stretch/>
          </p:blipFill>
          <p:spPr bwMode="auto">
            <a:xfrm>
              <a:off x="0" y="0"/>
              <a:ext cx="5098415" cy="4000500"/>
            </a:xfrm>
            <a:prstGeom prst="rect">
              <a:avLst/>
            </a:prstGeom>
            <a:ln>
              <a:noFill/>
            </a:ln>
            <a:extLst>
              <a:ext uri="{53640926-AAD7-44D8-BBD7-CCE9431645EC}">
                <a14:shadowObscured xmlns:a14="http://schemas.microsoft.com/office/drawing/2010/main"/>
              </a:ext>
            </a:extLst>
          </p:spPr>
        </p:pic>
        <p:sp>
          <p:nvSpPr>
            <p:cNvPr id="14" name="Text Box 1">
              <a:extLst>
                <a:ext uri="{FF2B5EF4-FFF2-40B4-BE49-F238E27FC236}">
                  <a16:creationId xmlns:a16="http://schemas.microsoft.com/office/drawing/2014/main" id="{7A2802D4-45AE-ED13-3485-CDB1EA83B130}"/>
                </a:ext>
              </a:extLst>
            </p:cNvPr>
            <p:cNvSpPr txBox="1"/>
            <p:nvPr/>
          </p:nvSpPr>
          <p:spPr>
            <a:xfrm>
              <a:off x="0" y="4057650"/>
              <a:ext cx="5098415" cy="258445"/>
            </a:xfrm>
            <a:prstGeom prst="rect">
              <a:avLst/>
            </a:prstGeom>
            <a:solidFill>
              <a:prstClr val="white"/>
            </a:solidFill>
            <a:ln>
              <a:noFill/>
            </a:ln>
          </p:spPr>
          <p:txBody>
            <a:bodyPr rot="0" spcFirstLastPara="0" vert="horz" wrap="square" lIns="0" tIns="0" rIns="0" bIns="0" numCol="1" spcCol="0" rtlCol="0" fromWordArt="0" anchor="t" anchorCtr="0" forceAA="0" compatLnSpc="1">
              <a:prstTxWarp prst="textNoShape">
                <a:avLst/>
              </a:prstTxWarp>
              <a:spAutoFit/>
            </a:bodyPr>
            <a:lstStyle/>
            <a:p>
              <a:pPr marL="0" marR="0" algn="ctr">
                <a:spcAft>
                  <a:spcPts val="1000"/>
                </a:spcAft>
              </a:pPr>
              <a:r>
                <a:rPr lang="en-US" sz="900" i="1" kern="100">
                  <a:solidFill>
                    <a:srgbClr val="0E2841"/>
                  </a:solidFill>
                  <a:effectLst/>
                  <a:latin typeface="Times New Roman" panose="02020603050405020304" pitchFamily="18" charset="0"/>
                  <a:ea typeface="Aptos" panose="020B0004020202020204" pitchFamily="34" charset="0"/>
                  <a:cs typeface="Arial" panose="020B0604020202020204" pitchFamily="34" charset="0"/>
                </a:rPr>
                <a:t>Figure 1: Conventional vs Smart Extrusion System</a:t>
              </a:r>
            </a:p>
          </p:txBody>
        </p:sp>
      </p:grpSp>
    </p:spTree>
    <p:extLst>
      <p:ext uri="{BB962C8B-B14F-4D97-AF65-F5344CB8AC3E}">
        <p14:creationId xmlns:p14="http://schemas.microsoft.com/office/powerpoint/2010/main" val="2015731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C690C-6FF7-6F60-15CA-F7326AC7908D}"/>
            </a:ext>
          </a:extLst>
        </p:cNvPr>
        <p:cNvGrpSpPr/>
        <p:nvPr/>
      </p:nvGrpSpPr>
      <p:grpSpPr>
        <a:xfrm>
          <a:off x="0" y="0"/>
          <a:ext cx="0" cy="0"/>
          <a:chOff x="0" y="0"/>
          <a:chExt cx="0" cy="0"/>
        </a:xfrm>
      </p:grpSpPr>
      <p:pic>
        <p:nvPicPr>
          <p:cNvPr id="25" name="Picture 24" descr="A diagram of a machine&#10;&#10;AI-generated content may be incorrect.">
            <a:extLst>
              <a:ext uri="{FF2B5EF4-FFF2-40B4-BE49-F238E27FC236}">
                <a16:creationId xmlns:a16="http://schemas.microsoft.com/office/drawing/2014/main" id="{11EF2146-80C4-C185-8B8B-7177914B1B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1182"/>
            <a:ext cx="9807677" cy="5516818"/>
          </a:xfrm>
          <a:prstGeom prst="rect">
            <a:avLst/>
          </a:prstGeom>
        </p:spPr>
      </p:pic>
      <p:sp>
        <p:nvSpPr>
          <p:cNvPr id="4" name="Google Shape;1522;p33">
            <a:extLst>
              <a:ext uri="{FF2B5EF4-FFF2-40B4-BE49-F238E27FC236}">
                <a16:creationId xmlns:a16="http://schemas.microsoft.com/office/drawing/2014/main" id="{59BCCE1F-E09B-22F3-286E-50B23F4ED61A}"/>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91DA490E-5382-857C-A9DC-49D0A6E40BBE}"/>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EAB66E90-A62C-ACD9-F46A-2EF8D68DCCF1}"/>
              </a:ext>
            </a:extLst>
          </p:cNvPr>
          <p:cNvSpPr txBox="1"/>
          <p:nvPr/>
        </p:nvSpPr>
        <p:spPr>
          <a:xfrm>
            <a:off x="2928097" y="1049185"/>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3D Model</a:t>
            </a:r>
          </a:p>
        </p:txBody>
      </p:sp>
      <p:sp>
        <p:nvSpPr>
          <p:cNvPr id="26" name="TextBox 25">
            <a:extLst>
              <a:ext uri="{FF2B5EF4-FFF2-40B4-BE49-F238E27FC236}">
                <a16:creationId xmlns:a16="http://schemas.microsoft.com/office/drawing/2014/main" id="{B8A08001-EF5F-F142-D54D-BE3A62F2CCC5}"/>
              </a:ext>
            </a:extLst>
          </p:cNvPr>
          <p:cNvSpPr txBox="1"/>
          <p:nvPr/>
        </p:nvSpPr>
        <p:spPr>
          <a:xfrm>
            <a:off x="8517806" y="1344102"/>
            <a:ext cx="3517310" cy="5114605"/>
          </a:xfrm>
          <a:prstGeom prst="rect">
            <a:avLst/>
          </a:prstGeom>
          <a:noFill/>
        </p:spPr>
        <p:txBody>
          <a:bodyPr wrap="none" rtlCol="0">
            <a:spAutoFit/>
          </a:bodyPr>
          <a:lstStyle/>
          <a:p>
            <a:pPr marL="342900" indent="-342900">
              <a:lnSpc>
                <a:spcPct val="150000"/>
              </a:lnSpc>
              <a:buFont typeface="+mj-lt"/>
              <a:buAutoNum type="arabicPeriod"/>
            </a:pPr>
            <a:r>
              <a:rPr lang="en-US" sz="2000" dirty="0">
                <a:latin typeface="Georgia" panose="02040502050405020303" pitchFamily="18" charset="0"/>
              </a:rPr>
              <a:t>Winding Spool</a:t>
            </a:r>
          </a:p>
          <a:p>
            <a:pPr marL="342900" indent="-342900">
              <a:lnSpc>
                <a:spcPct val="150000"/>
              </a:lnSpc>
              <a:buFont typeface="+mj-lt"/>
              <a:buAutoNum type="arabicPeriod"/>
            </a:pPr>
            <a:r>
              <a:rPr lang="en-US" sz="2000" dirty="0">
                <a:latin typeface="Georgia" panose="02040502050405020303" pitchFamily="18" charset="0"/>
              </a:rPr>
              <a:t>Puller Assembly</a:t>
            </a:r>
          </a:p>
          <a:p>
            <a:pPr marL="342900" indent="-342900">
              <a:lnSpc>
                <a:spcPct val="150000"/>
              </a:lnSpc>
              <a:buFont typeface="+mj-lt"/>
              <a:buAutoNum type="arabicPeriod"/>
            </a:pPr>
            <a:r>
              <a:rPr lang="en-US" sz="2000" dirty="0">
                <a:latin typeface="Georgia" panose="02040502050405020303" pitchFamily="18" charset="0"/>
              </a:rPr>
              <a:t>Filament Diameter Sensor</a:t>
            </a:r>
          </a:p>
          <a:p>
            <a:pPr marL="342900" indent="-342900">
              <a:lnSpc>
                <a:spcPct val="150000"/>
              </a:lnSpc>
              <a:buFont typeface="+mj-lt"/>
              <a:buAutoNum type="arabicPeriod"/>
            </a:pPr>
            <a:r>
              <a:rPr lang="en-US" sz="2000" dirty="0">
                <a:latin typeface="Georgia" panose="02040502050405020303" pitchFamily="18" charset="0"/>
              </a:rPr>
              <a:t>Cooling Fan</a:t>
            </a:r>
          </a:p>
          <a:p>
            <a:pPr marL="342900" indent="-342900">
              <a:lnSpc>
                <a:spcPct val="150000"/>
              </a:lnSpc>
              <a:buFont typeface="+mj-lt"/>
              <a:buAutoNum type="arabicPeriod"/>
            </a:pPr>
            <a:r>
              <a:rPr lang="en-US" sz="2000" dirty="0">
                <a:latin typeface="Georgia" panose="02040502050405020303" pitchFamily="18" charset="0"/>
              </a:rPr>
              <a:t>Thermocouple</a:t>
            </a:r>
          </a:p>
          <a:p>
            <a:pPr marL="342900" indent="-342900">
              <a:lnSpc>
                <a:spcPct val="150000"/>
              </a:lnSpc>
              <a:buFont typeface="+mj-lt"/>
              <a:buAutoNum type="arabicPeriod"/>
            </a:pPr>
            <a:r>
              <a:rPr lang="en-US" sz="2000" dirty="0">
                <a:latin typeface="Georgia" panose="02040502050405020303" pitchFamily="18" charset="0"/>
              </a:rPr>
              <a:t>Heaters</a:t>
            </a:r>
          </a:p>
          <a:p>
            <a:pPr marL="342900" indent="-342900">
              <a:lnSpc>
                <a:spcPct val="150000"/>
              </a:lnSpc>
              <a:buFont typeface="+mj-lt"/>
              <a:buAutoNum type="arabicPeriod"/>
            </a:pPr>
            <a:r>
              <a:rPr lang="en-US" sz="2000" dirty="0">
                <a:latin typeface="Georgia" panose="02040502050405020303" pitchFamily="18" charset="0"/>
              </a:rPr>
              <a:t>Funnel</a:t>
            </a:r>
          </a:p>
          <a:p>
            <a:pPr marL="342900" indent="-342900">
              <a:lnSpc>
                <a:spcPct val="150000"/>
              </a:lnSpc>
              <a:buFont typeface="+mj-lt"/>
              <a:buAutoNum type="arabicPeriod"/>
            </a:pPr>
            <a:r>
              <a:rPr lang="en-US" sz="2000" dirty="0">
                <a:latin typeface="Georgia" panose="02040502050405020303" pitchFamily="18" charset="0"/>
              </a:rPr>
              <a:t>Coupling</a:t>
            </a:r>
          </a:p>
          <a:p>
            <a:pPr marL="342900" indent="-342900">
              <a:lnSpc>
                <a:spcPct val="150000"/>
              </a:lnSpc>
              <a:buFont typeface="+mj-lt"/>
              <a:buAutoNum type="arabicPeriod"/>
            </a:pPr>
            <a:r>
              <a:rPr lang="en-US" sz="2000" dirty="0">
                <a:latin typeface="Georgia" panose="02040502050405020303" pitchFamily="18" charset="0"/>
              </a:rPr>
              <a:t>DC Motor</a:t>
            </a:r>
          </a:p>
          <a:p>
            <a:pPr marL="342900" indent="-342900">
              <a:lnSpc>
                <a:spcPct val="150000"/>
              </a:lnSpc>
              <a:buFont typeface="+mj-lt"/>
              <a:buAutoNum type="arabicPeriod"/>
            </a:pPr>
            <a:r>
              <a:rPr lang="en-US" sz="2000" dirty="0">
                <a:latin typeface="Georgia" panose="02040502050405020303" pitchFamily="18" charset="0"/>
              </a:rPr>
              <a:t>Nozzle</a:t>
            </a:r>
          </a:p>
          <a:p>
            <a:pPr marL="342900" indent="-342900">
              <a:lnSpc>
                <a:spcPct val="150000"/>
              </a:lnSpc>
              <a:buFont typeface="+mj-lt"/>
              <a:buAutoNum type="arabicPeriod"/>
            </a:pPr>
            <a:r>
              <a:rPr lang="en-US" sz="2000" dirty="0">
                <a:latin typeface="Georgia" panose="02040502050405020303" pitchFamily="18" charset="0"/>
              </a:rPr>
              <a:t>Barrel</a:t>
            </a:r>
            <a:endParaRPr lang="en-PK" sz="2000" dirty="0">
              <a:latin typeface="Georgia" panose="02040502050405020303" pitchFamily="18" charset="0"/>
            </a:endParaRPr>
          </a:p>
        </p:txBody>
      </p:sp>
    </p:spTree>
    <p:extLst>
      <p:ext uri="{BB962C8B-B14F-4D97-AF65-F5344CB8AC3E}">
        <p14:creationId xmlns:p14="http://schemas.microsoft.com/office/powerpoint/2010/main" val="315581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BD0BD-4616-19E8-0DC1-16F2A3D34DE5}"/>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479A7B11-9A56-94AF-6FC4-3497D217C48A}"/>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3D64EFB5-38E0-E90C-AF05-E4A128F42D76}"/>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38B017AD-2427-E737-616C-8E3003D8F3C3}"/>
              </a:ext>
            </a:extLst>
          </p:cNvPr>
          <p:cNvSpPr txBox="1"/>
          <p:nvPr/>
        </p:nvSpPr>
        <p:spPr>
          <a:xfrm>
            <a:off x="2928097" y="914400"/>
            <a:ext cx="6178922" cy="720197"/>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48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Cost estimation</a:t>
            </a:r>
          </a:p>
        </p:txBody>
      </p:sp>
      <p:graphicFrame>
        <p:nvGraphicFramePr>
          <p:cNvPr id="2" name="Table 1">
            <a:extLst>
              <a:ext uri="{FF2B5EF4-FFF2-40B4-BE49-F238E27FC236}">
                <a16:creationId xmlns:a16="http://schemas.microsoft.com/office/drawing/2014/main" id="{83A4A8C3-B252-1CA3-E452-C082DB03334E}"/>
              </a:ext>
            </a:extLst>
          </p:cNvPr>
          <p:cNvGraphicFramePr>
            <a:graphicFrameLocks noGrp="1"/>
          </p:cNvGraphicFramePr>
          <p:nvPr>
            <p:extLst>
              <p:ext uri="{D42A27DB-BD31-4B8C-83A1-F6EECF244321}">
                <p14:modId xmlns:p14="http://schemas.microsoft.com/office/powerpoint/2010/main" val="2896446388"/>
              </p:ext>
            </p:extLst>
          </p:nvPr>
        </p:nvGraphicFramePr>
        <p:xfrm>
          <a:off x="698090" y="1516613"/>
          <a:ext cx="10795820" cy="5291277"/>
        </p:xfrm>
        <a:graphic>
          <a:graphicData uri="http://schemas.openxmlformats.org/drawingml/2006/table">
            <a:tbl>
              <a:tblPr firstRow="1" firstCol="1" bandRow="1">
                <a:tableStyleId>{5940675A-B579-460E-94D1-54222C63F5DA}</a:tableStyleId>
              </a:tblPr>
              <a:tblGrid>
                <a:gridCol w="2420423">
                  <a:extLst>
                    <a:ext uri="{9D8B030D-6E8A-4147-A177-3AD203B41FA5}">
                      <a16:colId xmlns:a16="http://schemas.microsoft.com/office/drawing/2014/main" val="929740425"/>
                    </a:ext>
                  </a:extLst>
                </a:gridCol>
                <a:gridCol w="5954974">
                  <a:extLst>
                    <a:ext uri="{9D8B030D-6E8A-4147-A177-3AD203B41FA5}">
                      <a16:colId xmlns:a16="http://schemas.microsoft.com/office/drawing/2014/main" val="2142281535"/>
                    </a:ext>
                  </a:extLst>
                </a:gridCol>
                <a:gridCol w="2420423">
                  <a:extLst>
                    <a:ext uri="{9D8B030D-6E8A-4147-A177-3AD203B41FA5}">
                      <a16:colId xmlns:a16="http://schemas.microsoft.com/office/drawing/2014/main" val="1282894525"/>
                    </a:ext>
                  </a:extLst>
                </a:gridCol>
              </a:tblGrid>
              <a:tr h="217353">
                <a:tc>
                  <a:txBody>
                    <a:bodyPr/>
                    <a:lstStyle/>
                    <a:p>
                      <a:pPr algn="ctr">
                        <a:lnSpc>
                          <a:spcPct val="150000"/>
                        </a:lnSpc>
                        <a:spcAft>
                          <a:spcPts val="800"/>
                        </a:spcAft>
                        <a:buNone/>
                      </a:pPr>
                      <a:r>
                        <a:rPr lang="en-PK" sz="1100" b="1" kern="100" dirty="0">
                          <a:effectLst/>
                          <a:latin typeface="Georgia" panose="02040502050405020303" pitchFamily="18" charset="0"/>
                        </a:rPr>
                        <a:t>Sr. No.</a:t>
                      </a:r>
                      <a:endParaRPr lang="en-PK" sz="1050" b="1" kern="100" dirty="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100" b="1" kern="100">
                          <a:effectLst/>
                          <a:latin typeface="Georgia" panose="02040502050405020303" pitchFamily="18" charset="0"/>
                        </a:rPr>
                        <a:t>Product</a:t>
                      </a:r>
                      <a:endParaRPr lang="en-PK" sz="1050" b="1"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100" b="1" kern="100" dirty="0">
                          <a:effectLst/>
                          <a:latin typeface="Georgia" panose="02040502050405020303" pitchFamily="18" charset="0"/>
                        </a:rPr>
                        <a:t>Price (PKR)</a:t>
                      </a:r>
                      <a:endParaRPr lang="en-PK" sz="1050" b="1" kern="100" dirty="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extLst>
                  <a:ext uri="{0D108BD9-81ED-4DB2-BD59-A6C34878D82A}">
                    <a16:rowId xmlns:a16="http://schemas.microsoft.com/office/drawing/2014/main" val="2632463391"/>
                  </a:ext>
                </a:extLst>
              </a:tr>
              <a:tr h="195584">
                <a:tc>
                  <a:txBody>
                    <a:bodyPr/>
                    <a:lstStyle/>
                    <a:p>
                      <a:pPr algn="ctr">
                        <a:lnSpc>
                          <a:spcPct val="150000"/>
                        </a:lnSpc>
                        <a:spcAft>
                          <a:spcPts val="800"/>
                        </a:spcAft>
                        <a:buNone/>
                      </a:pPr>
                      <a:r>
                        <a:rPr lang="en-PK" sz="1050" kern="100">
                          <a:effectLst/>
                          <a:latin typeface="Georgia" panose="02040502050405020303" pitchFamily="18" charset="0"/>
                        </a:rPr>
                        <a:t>1</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dirty="0">
                          <a:effectLst/>
                          <a:latin typeface="Georgia" panose="02040502050405020303" pitchFamily="18" charset="0"/>
                        </a:rPr>
                        <a:t>Cooling Fan</a:t>
                      </a:r>
                      <a:endParaRPr lang="en-PK" sz="1050" kern="100" dirty="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dirty="0">
                          <a:effectLst/>
                          <a:latin typeface="Times New Roman" panose="02020603050405020304" pitchFamily="18" charset="0"/>
                          <a:cs typeface="Times New Roman" panose="02020603050405020304" pitchFamily="18" charset="0"/>
                        </a:rPr>
                        <a:t>840</a:t>
                      </a:r>
                      <a:endParaRPr lang="en-PK" sz="105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3808307965"/>
                  </a:ext>
                </a:extLst>
              </a:tr>
              <a:tr h="195584">
                <a:tc>
                  <a:txBody>
                    <a:bodyPr/>
                    <a:lstStyle/>
                    <a:p>
                      <a:pPr algn="ctr">
                        <a:lnSpc>
                          <a:spcPct val="150000"/>
                        </a:lnSpc>
                        <a:spcAft>
                          <a:spcPts val="800"/>
                        </a:spcAft>
                        <a:buNone/>
                      </a:pPr>
                      <a:r>
                        <a:rPr lang="en-PK" sz="1050" kern="100">
                          <a:effectLst/>
                          <a:latin typeface="Georgia" panose="02040502050405020303" pitchFamily="18" charset="0"/>
                        </a:rPr>
                        <a:t>2</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Thermocouple</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dirty="0">
                          <a:effectLst/>
                          <a:latin typeface="Times New Roman" panose="02020603050405020304" pitchFamily="18" charset="0"/>
                          <a:cs typeface="Times New Roman" panose="02020603050405020304" pitchFamily="18" charset="0"/>
                        </a:rPr>
                        <a:t>842</a:t>
                      </a:r>
                      <a:endParaRPr lang="en-PK" sz="105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1242118404"/>
                  </a:ext>
                </a:extLst>
              </a:tr>
              <a:tr h="195584">
                <a:tc>
                  <a:txBody>
                    <a:bodyPr/>
                    <a:lstStyle/>
                    <a:p>
                      <a:pPr algn="ctr">
                        <a:lnSpc>
                          <a:spcPct val="150000"/>
                        </a:lnSpc>
                        <a:spcAft>
                          <a:spcPts val="800"/>
                        </a:spcAft>
                        <a:buNone/>
                      </a:pPr>
                      <a:r>
                        <a:rPr lang="en-PK" sz="1050" kern="100">
                          <a:effectLst/>
                          <a:latin typeface="Georgia" panose="02040502050405020303" pitchFamily="18" charset="0"/>
                        </a:rPr>
                        <a:t>3</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Bread Board</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250</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3801371045"/>
                  </a:ext>
                </a:extLst>
              </a:tr>
              <a:tr h="195584">
                <a:tc>
                  <a:txBody>
                    <a:bodyPr/>
                    <a:lstStyle/>
                    <a:p>
                      <a:pPr algn="ctr">
                        <a:lnSpc>
                          <a:spcPct val="150000"/>
                        </a:lnSpc>
                        <a:spcAft>
                          <a:spcPts val="800"/>
                        </a:spcAft>
                        <a:buNone/>
                      </a:pPr>
                      <a:r>
                        <a:rPr lang="en-PK" sz="1050" kern="100">
                          <a:effectLst/>
                          <a:latin typeface="Georgia" panose="02040502050405020303" pitchFamily="18" charset="0"/>
                        </a:rPr>
                        <a:t>4</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LCD Display</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dirty="0">
                          <a:effectLst/>
                          <a:latin typeface="Times New Roman" panose="02020603050405020304" pitchFamily="18" charset="0"/>
                          <a:cs typeface="Times New Roman" panose="02020603050405020304" pitchFamily="18" charset="0"/>
                        </a:rPr>
                        <a:t>400</a:t>
                      </a:r>
                      <a:endParaRPr lang="en-PK" sz="105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1354294926"/>
                  </a:ext>
                </a:extLst>
              </a:tr>
              <a:tr h="195584">
                <a:tc>
                  <a:txBody>
                    <a:bodyPr/>
                    <a:lstStyle/>
                    <a:p>
                      <a:pPr algn="ctr">
                        <a:lnSpc>
                          <a:spcPct val="150000"/>
                        </a:lnSpc>
                        <a:spcAft>
                          <a:spcPts val="800"/>
                        </a:spcAft>
                        <a:buNone/>
                      </a:pPr>
                      <a:r>
                        <a:rPr lang="en-PK" sz="1050" kern="100">
                          <a:effectLst/>
                          <a:latin typeface="Georgia" panose="02040502050405020303" pitchFamily="18" charset="0"/>
                        </a:rPr>
                        <a:t>5</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Jumping Wires</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360</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2558594731"/>
                  </a:ext>
                </a:extLst>
              </a:tr>
              <a:tr h="195584">
                <a:tc>
                  <a:txBody>
                    <a:bodyPr/>
                    <a:lstStyle/>
                    <a:p>
                      <a:pPr algn="ctr">
                        <a:lnSpc>
                          <a:spcPct val="150000"/>
                        </a:lnSpc>
                        <a:spcAft>
                          <a:spcPts val="800"/>
                        </a:spcAft>
                        <a:buNone/>
                      </a:pPr>
                      <a:r>
                        <a:rPr lang="en-PK" sz="1050" kern="100">
                          <a:effectLst/>
                          <a:latin typeface="Georgia" panose="02040502050405020303" pitchFamily="18" charset="0"/>
                        </a:rPr>
                        <a:t>6</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Relay 5 v</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130</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3523207154"/>
                  </a:ext>
                </a:extLst>
              </a:tr>
              <a:tr h="195584">
                <a:tc>
                  <a:txBody>
                    <a:bodyPr/>
                    <a:lstStyle/>
                    <a:p>
                      <a:pPr algn="ctr">
                        <a:lnSpc>
                          <a:spcPct val="150000"/>
                        </a:lnSpc>
                        <a:spcAft>
                          <a:spcPts val="800"/>
                        </a:spcAft>
                        <a:buNone/>
                      </a:pPr>
                      <a:r>
                        <a:rPr lang="en-PK" sz="1050" kern="100">
                          <a:effectLst/>
                          <a:latin typeface="Georgia" panose="02040502050405020303" pitchFamily="18" charset="0"/>
                        </a:rPr>
                        <a:t>7</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Auger drill bit</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3706</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513187047"/>
                  </a:ext>
                </a:extLst>
              </a:tr>
              <a:tr h="195584">
                <a:tc>
                  <a:txBody>
                    <a:bodyPr/>
                    <a:lstStyle/>
                    <a:p>
                      <a:pPr algn="ctr">
                        <a:lnSpc>
                          <a:spcPct val="150000"/>
                        </a:lnSpc>
                        <a:spcAft>
                          <a:spcPts val="800"/>
                        </a:spcAft>
                        <a:buNone/>
                      </a:pPr>
                      <a:r>
                        <a:rPr lang="en-PK" sz="1050" kern="100">
                          <a:effectLst/>
                          <a:latin typeface="Georgia" panose="02040502050405020303" pitchFamily="18" charset="0"/>
                        </a:rPr>
                        <a:t>8</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Barrel</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dirty="0">
                          <a:effectLst/>
                          <a:latin typeface="Times New Roman" panose="02020603050405020304" pitchFamily="18" charset="0"/>
                          <a:cs typeface="Times New Roman" panose="02020603050405020304" pitchFamily="18" charset="0"/>
                        </a:rPr>
                        <a:t>325</a:t>
                      </a:r>
                      <a:endParaRPr lang="en-PK" sz="105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3091687467"/>
                  </a:ext>
                </a:extLst>
              </a:tr>
              <a:tr h="195584">
                <a:tc>
                  <a:txBody>
                    <a:bodyPr/>
                    <a:lstStyle/>
                    <a:p>
                      <a:pPr algn="ctr">
                        <a:lnSpc>
                          <a:spcPct val="150000"/>
                        </a:lnSpc>
                        <a:spcAft>
                          <a:spcPts val="800"/>
                        </a:spcAft>
                        <a:buNone/>
                      </a:pPr>
                      <a:r>
                        <a:rPr lang="en-PK" sz="1050" kern="100">
                          <a:effectLst/>
                          <a:latin typeface="Georgia" panose="02040502050405020303" pitchFamily="18" charset="0"/>
                        </a:rPr>
                        <a:t>9</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Clamp</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30</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3035470905"/>
                  </a:ext>
                </a:extLst>
              </a:tr>
              <a:tr h="195584">
                <a:tc>
                  <a:txBody>
                    <a:bodyPr/>
                    <a:lstStyle/>
                    <a:p>
                      <a:pPr algn="ctr">
                        <a:lnSpc>
                          <a:spcPct val="150000"/>
                        </a:lnSpc>
                        <a:spcAft>
                          <a:spcPts val="800"/>
                        </a:spcAft>
                        <a:buNone/>
                      </a:pPr>
                      <a:r>
                        <a:rPr lang="en-PK" sz="1050" kern="100">
                          <a:effectLst/>
                          <a:latin typeface="Georgia" panose="02040502050405020303" pitchFamily="18" charset="0"/>
                        </a:rPr>
                        <a:t>10</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Nozzle</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275</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367966960"/>
                  </a:ext>
                </a:extLst>
              </a:tr>
              <a:tr h="195584">
                <a:tc>
                  <a:txBody>
                    <a:bodyPr/>
                    <a:lstStyle/>
                    <a:p>
                      <a:pPr algn="ctr">
                        <a:lnSpc>
                          <a:spcPct val="150000"/>
                        </a:lnSpc>
                        <a:spcAft>
                          <a:spcPts val="800"/>
                        </a:spcAft>
                        <a:buNone/>
                      </a:pPr>
                      <a:r>
                        <a:rPr lang="en-PK" sz="1050" kern="100">
                          <a:effectLst/>
                          <a:latin typeface="Georgia" panose="02040502050405020303" pitchFamily="18" charset="0"/>
                        </a:rPr>
                        <a:t>11</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Amplifier MAX 6675</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350</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3082697863"/>
                  </a:ext>
                </a:extLst>
              </a:tr>
              <a:tr h="195584">
                <a:tc>
                  <a:txBody>
                    <a:bodyPr/>
                    <a:lstStyle/>
                    <a:p>
                      <a:pPr algn="ctr">
                        <a:lnSpc>
                          <a:spcPct val="150000"/>
                        </a:lnSpc>
                        <a:spcAft>
                          <a:spcPts val="800"/>
                        </a:spcAft>
                        <a:buNone/>
                      </a:pPr>
                      <a:r>
                        <a:rPr lang="en-PK" sz="1050" kern="100">
                          <a:effectLst/>
                          <a:latin typeface="Georgia" panose="02040502050405020303" pitchFamily="18" charset="0"/>
                        </a:rPr>
                        <a:t>12</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Motor</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4000</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1388017130"/>
                  </a:ext>
                </a:extLst>
              </a:tr>
              <a:tr h="195584">
                <a:tc>
                  <a:txBody>
                    <a:bodyPr/>
                    <a:lstStyle/>
                    <a:p>
                      <a:pPr algn="ctr">
                        <a:lnSpc>
                          <a:spcPct val="150000"/>
                        </a:lnSpc>
                        <a:spcAft>
                          <a:spcPts val="800"/>
                        </a:spcAft>
                        <a:buNone/>
                      </a:pPr>
                      <a:r>
                        <a:rPr lang="en-PK" sz="1050" kern="100">
                          <a:effectLst/>
                          <a:latin typeface="Georgia" panose="02040502050405020303" pitchFamily="18" charset="0"/>
                        </a:rPr>
                        <a:t>13</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Motor Adapter Wire</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dirty="0">
                          <a:effectLst/>
                          <a:latin typeface="Times New Roman" panose="02020603050405020304" pitchFamily="18" charset="0"/>
                          <a:cs typeface="Times New Roman" panose="02020603050405020304" pitchFamily="18" charset="0"/>
                        </a:rPr>
                        <a:t>450</a:t>
                      </a:r>
                      <a:endParaRPr lang="en-PK" sz="105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23334210"/>
                  </a:ext>
                </a:extLst>
              </a:tr>
              <a:tr h="195584">
                <a:tc>
                  <a:txBody>
                    <a:bodyPr/>
                    <a:lstStyle/>
                    <a:p>
                      <a:pPr algn="ctr">
                        <a:lnSpc>
                          <a:spcPct val="150000"/>
                        </a:lnSpc>
                        <a:spcAft>
                          <a:spcPts val="800"/>
                        </a:spcAft>
                        <a:buNone/>
                      </a:pPr>
                      <a:r>
                        <a:rPr lang="en-PK" sz="1050" kern="100">
                          <a:effectLst/>
                          <a:latin typeface="Georgia" panose="02040502050405020303" pitchFamily="18" charset="0"/>
                        </a:rPr>
                        <a:t>14</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Commercial Board</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1300</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1392658840"/>
                  </a:ext>
                </a:extLst>
              </a:tr>
              <a:tr h="195584">
                <a:tc>
                  <a:txBody>
                    <a:bodyPr/>
                    <a:lstStyle/>
                    <a:p>
                      <a:pPr algn="ctr">
                        <a:lnSpc>
                          <a:spcPct val="150000"/>
                        </a:lnSpc>
                        <a:spcAft>
                          <a:spcPts val="800"/>
                        </a:spcAft>
                        <a:buNone/>
                      </a:pPr>
                      <a:r>
                        <a:rPr lang="en-PK" sz="1050" kern="100">
                          <a:effectLst/>
                          <a:latin typeface="Georgia" panose="02040502050405020303" pitchFamily="18" charset="0"/>
                        </a:rPr>
                        <a:t>15</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Bearing</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750</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2168127722"/>
                  </a:ext>
                </a:extLst>
              </a:tr>
              <a:tr h="195584">
                <a:tc>
                  <a:txBody>
                    <a:bodyPr/>
                    <a:lstStyle/>
                    <a:p>
                      <a:pPr algn="ctr">
                        <a:lnSpc>
                          <a:spcPct val="150000"/>
                        </a:lnSpc>
                        <a:spcAft>
                          <a:spcPts val="800"/>
                        </a:spcAft>
                        <a:buNone/>
                      </a:pPr>
                      <a:r>
                        <a:rPr lang="en-PK" sz="1050" kern="100">
                          <a:effectLst/>
                          <a:latin typeface="Georgia" panose="02040502050405020303" pitchFamily="18" charset="0"/>
                        </a:rPr>
                        <a:t>16</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Machining</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dirty="0">
                          <a:effectLst/>
                          <a:latin typeface="Times New Roman" panose="02020603050405020304" pitchFamily="18" charset="0"/>
                          <a:cs typeface="Times New Roman" panose="02020603050405020304" pitchFamily="18" charset="0"/>
                        </a:rPr>
                        <a:t>5500</a:t>
                      </a:r>
                      <a:endParaRPr lang="en-PK" sz="105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100201345"/>
                  </a:ext>
                </a:extLst>
              </a:tr>
              <a:tr h="195584">
                <a:tc>
                  <a:txBody>
                    <a:bodyPr/>
                    <a:lstStyle/>
                    <a:p>
                      <a:pPr algn="ctr">
                        <a:lnSpc>
                          <a:spcPct val="150000"/>
                        </a:lnSpc>
                        <a:spcAft>
                          <a:spcPts val="800"/>
                        </a:spcAft>
                        <a:buNone/>
                      </a:pPr>
                      <a:r>
                        <a:rPr lang="en-PK" sz="1050" kern="100">
                          <a:effectLst/>
                          <a:latin typeface="Georgia" panose="02040502050405020303" pitchFamily="18" charset="0"/>
                        </a:rPr>
                        <a:t>17</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Heater</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3200</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4048508978"/>
                  </a:ext>
                </a:extLst>
              </a:tr>
              <a:tr h="195584">
                <a:tc>
                  <a:txBody>
                    <a:bodyPr/>
                    <a:lstStyle/>
                    <a:p>
                      <a:pPr algn="ctr">
                        <a:lnSpc>
                          <a:spcPct val="150000"/>
                        </a:lnSpc>
                        <a:spcAft>
                          <a:spcPts val="800"/>
                        </a:spcAft>
                        <a:buNone/>
                      </a:pPr>
                      <a:r>
                        <a:rPr lang="en-PK" sz="1050" kern="100">
                          <a:effectLst/>
                          <a:latin typeface="Georgia" panose="02040502050405020303" pitchFamily="18" charset="0"/>
                        </a:rPr>
                        <a:t>18</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8 Bearing</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dirty="0">
                          <a:effectLst/>
                          <a:latin typeface="Times New Roman" panose="02020603050405020304" pitchFamily="18" charset="0"/>
                          <a:cs typeface="Times New Roman" panose="02020603050405020304" pitchFamily="18" charset="0"/>
                        </a:rPr>
                        <a:t>800</a:t>
                      </a:r>
                      <a:endParaRPr lang="en-PK" sz="105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2232382430"/>
                  </a:ext>
                </a:extLst>
              </a:tr>
              <a:tr h="195584">
                <a:tc>
                  <a:txBody>
                    <a:bodyPr/>
                    <a:lstStyle/>
                    <a:p>
                      <a:pPr algn="ctr">
                        <a:lnSpc>
                          <a:spcPct val="150000"/>
                        </a:lnSpc>
                        <a:spcAft>
                          <a:spcPts val="800"/>
                        </a:spcAft>
                        <a:buNone/>
                      </a:pPr>
                      <a:r>
                        <a:rPr lang="en-PK" sz="1050" kern="100">
                          <a:effectLst/>
                          <a:latin typeface="Georgia" panose="02040502050405020303" pitchFamily="18" charset="0"/>
                        </a:rPr>
                        <a:t>19</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Puller Motor</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600</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996076781"/>
                  </a:ext>
                </a:extLst>
              </a:tr>
              <a:tr h="195584">
                <a:tc>
                  <a:txBody>
                    <a:bodyPr/>
                    <a:lstStyle/>
                    <a:p>
                      <a:pPr algn="ctr">
                        <a:lnSpc>
                          <a:spcPct val="150000"/>
                        </a:lnSpc>
                        <a:spcAft>
                          <a:spcPts val="800"/>
                        </a:spcAft>
                        <a:buNone/>
                      </a:pPr>
                      <a:r>
                        <a:rPr lang="en-PK" sz="1050" kern="100">
                          <a:effectLst/>
                          <a:latin typeface="Georgia" panose="02040502050405020303" pitchFamily="18" charset="0"/>
                        </a:rPr>
                        <a:t>20</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Magnet</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dirty="0">
                          <a:effectLst/>
                          <a:latin typeface="Times New Roman" panose="02020603050405020304" pitchFamily="18" charset="0"/>
                          <a:cs typeface="Times New Roman" panose="02020603050405020304" pitchFamily="18" charset="0"/>
                        </a:rPr>
                        <a:t>70</a:t>
                      </a:r>
                      <a:endParaRPr lang="en-PK" sz="105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963807996"/>
                  </a:ext>
                </a:extLst>
              </a:tr>
              <a:tr h="195584">
                <a:tc>
                  <a:txBody>
                    <a:bodyPr/>
                    <a:lstStyle/>
                    <a:p>
                      <a:pPr algn="ctr">
                        <a:lnSpc>
                          <a:spcPct val="150000"/>
                        </a:lnSpc>
                        <a:spcAft>
                          <a:spcPts val="800"/>
                        </a:spcAft>
                        <a:buNone/>
                      </a:pPr>
                      <a:r>
                        <a:rPr lang="en-PK" sz="1050" kern="100">
                          <a:effectLst/>
                          <a:latin typeface="Georgia" panose="02040502050405020303" pitchFamily="18" charset="0"/>
                        </a:rPr>
                        <a:t>21</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I2c</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dirty="0">
                          <a:effectLst/>
                          <a:latin typeface="Times New Roman" panose="02020603050405020304" pitchFamily="18" charset="0"/>
                          <a:cs typeface="Times New Roman" panose="02020603050405020304" pitchFamily="18" charset="0"/>
                        </a:rPr>
                        <a:t>250</a:t>
                      </a:r>
                      <a:endParaRPr lang="en-PK" sz="105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2018561000"/>
                  </a:ext>
                </a:extLst>
              </a:tr>
              <a:tr h="195584">
                <a:tc>
                  <a:txBody>
                    <a:bodyPr/>
                    <a:lstStyle/>
                    <a:p>
                      <a:pPr algn="ctr">
                        <a:lnSpc>
                          <a:spcPct val="150000"/>
                        </a:lnSpc>
                        <a:spcAft>
                          <a:spcPts val="800"/>
                        </a:spcAft>
                        <a:buNone/>
                      </a:pPr>
                      <a:r>
                        <a:rPr lang="en-PK" sz="1050" kern="100">
                          <a:effectLst/>
                          <a:latin typeface="Georgia" panose="02040502050405020303" pitchFamily="18" charset="0"/>
                        </a:rPr>
                        <a:t>22</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Hall Effect</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dirty="0">
                          <a:effectLst/>
                          <a:latin typeface="Times New Roman" panose="02020603050405020304" pitchFamily="18" charset="0"/>
                          <a:cs typeface="Times New Roman" panose="02020603050405020304" pitchFamily="18" charset="0"/>
                        </a:rPr>
                        <a:t>150</a:t>
                      </a:r>
                      <a:endParaRPr lang="en-PK" sz="105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2964442264"/>
                  </a:ext>
                </a:extLst>
              </a:tr>
              <a:tr h="195584">
                <a:tc>
                  <a:txBody>
                    <a:bodyPr/>
                    <a:lstStyle/>
                    <a:p>
                      <a:pPr algn="ctr">
                        <a:lnSpc>
                          <a:spcPct val="150000"/>
                        </a:lnSpc>
                        <a:spcAft>
                          <a:spcPts val="800"/>
                        </a:spcAft>
                        <a:buNone/>
                      </a:pPr>
                      <a:r>
                        <a:rPr lang="en-PK" sz="1050" kern="100">
                          <a:effectLst/>
                          <a:latin typeface="Georgia" panose="02040502050405020303" pitchFamily="18" charset="0"/>
                        </a:rPr>
                        <a:t>23</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kern="100">
                          <a:effectLst/>
                          <a:latin typeface="Georgia" panose="02040502050405020303" pitchFamily="18" charset="0"/>
                        </a:rPr>
                        <a:t>L298 Controller</a:t>
                      </a:r>
                      <a:endParaRPr lang="en-PK" sz="1050" kern="10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a:txBody>
                    <a:bodyPr/>
                    <a:lstStyle/>
                    <a:p>
                      <a:pPr algn="ctr">
                        <a:lnSpc>
                          <a:spcPct val="150000"/>
                        </a:lnSpc>
                        <a:spcAft>
                          <a:spcPts val="800"/>
                        </a:spcAft>
                        <a:buNone/>
                      </a:pPr>
                      <a:r>
                        <a:rPr lang="en-PK" sz="1050" b="1" kern="100">
                          <a:effectLst/>
                          <a:latin typeface="Times New Roman" panose="02020603050405020304" pitchFamily="18" charset="0"/>
                          <a:cs typeface="Times New Roman" panose="02020603050405020304" pitchFamily="18" charset="0"/>
                        </a:rPr>
                        <a:t>450</a:t>
                      </a:r>
                      <a:endParaRPr lang="en-PK" sz="1050" b="1"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2592141727"/>
                  </a:ext>
                </a:extLst>
              </a:tr>
              <a:tr h="195584">
                <a:tc gridSpan="2">
                  <a:txBody>
                    <a:bodyPr/>
                    <a:lstStyle/>
                    <a:p>
                      <a:pPr algn="ctr">
                        <a:lnSpc>
                          <a:spcPct val="150000"/>
                        </a:lnSpc>
                        <a:spcAft>
                          <a:spcPts val="800"/>
                        </a:spcAft>
                        <a:buNone/>
                      </a:pPr>
                      <a:r>
                        <a:rPr lang="en-PK" sz="1050" kern="100" dirty="0">
                          <a:effectLst/>
                          <a:latin typeface="Georgia" panose="02040502050405020303" pitchFamily="18" charset="0"/>
                        </a:rPr>
                        <a:t>Total</a:t>
                      </a:r>
                      <a:endParaRPr lang="en-PK" sz="1050" kern="100" dirty="0">
                        <a:effectLst/>
                        <a:latin typeface="Georgia" panose="02040502050405020303" pitchFamily="18" charset="0"/>
                        <a:ea typeface="Aptos" panose="020B0004020202020204" pitchFamily="34" charset="0"/>
                        <a:cs typeface="Arial" panose="020B0604020202020204" pitchFamily="34" charset="0"/>
                      </a:endParaRPr>
                    </a:p>
                  </a:txBody>
                  <a:tcPr marL="49114" marR="49114" marT="0" marB="0" anchor="ctr"/>
                </a:tc>
                <a:tc hMerge="1">
                  <a:txBody>
                    <a:bodyPr/>
                    <a:lstStyle/>
                    <a:p>
                      <a:endParaRPr lang="en-PK"/>
                    </a:p>
                  </a:txBody>
                  <a:tcPr/>
                </a:tc>
                <a:tc>
                  <a:txBody>
                    <a:bodyPr/>
                    <a:lstStyle/>
                    <a:p>
                      <a:pPr algn="ctr">
                        <a:lnSpc>
                          <a:spcPct val="150000"/>
                        </a:lnSpc>
                        <a:spcAft>
                          <a:spcPts val="800"/>
                        </a:spcAft>
                        <a:buNone/>
                      </a:pPr>
                      <a:r>
                        <a:rPr lang="en-PK" sz="1050" b="1" kern="100" dirty="0">
                          <a:effectLst/>
                          <a:latin typeface="Times New Roman" panose="02020603050405020304" pitchFamily="18" charset="0"/>
                          <a:cs typeface="Times New Roman" panose="02020603050405020304" pitchFamily="18" charset="0"/>
                        </a:rPr>
                        <a:t>25478</a:t>
                      </a:r>
                      <a:endParaRPr lang="en-PK" sz="1050" b="1"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49114" marR="49114" marT="0" marB="0" anchor="ctr"/>
                </a:tc>
                <a:extLst>
                  <a:ext uri="{0D108BD9-81ED-4DB2-BD59-A6C34878D82A}">
                    <a16:rowId xmlns:a16="http://schemas.microsoft.com/office/drawing/2014/main" val="811464151"/>
                  </a:ext>
                </a:extLst>
              </a:tr>
            </a:tbl>
          </a:graphicData>
        </a:graphic>
      </p:graphicFrame>
    </p:spTree>
    <p:extLst>
      <p:ext uri="{BB962C8B-B14F-4D97-AF65-F5344CB8AC3E}">
        <p14:creationId xmlns:p14="http://schemas.microsoft.com/office/powerpoint/2010/main" val="239248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FF79D-81C4-DB8E-A57A-8A70F4453D25}"/>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C78254C9-4F67-1E51-F082-9753CFED2293}"/>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FD897A87-7C89-3DCF-A15A-6D2470208749}"/>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48919F34-D1BA-835C-02D2-AEF66D3686FA}"/>
              </a:ext>
            </a:extLst>
          </p:cNvPr>
          <p:cNvSpPr txBox="1"/>
          <p:nvPr/>
        </p:nvSpPr>
        <p:spPr>
          <a:xfrm>
            <a:off x="1207328" y="1049185"/>
            <a:ext cx="9777344" cy="877163"/>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60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Major Design considerations</a:t>
            </a:r>
          </a:p>
        </p:txBody>
      </p:sp>
      <p:graphicFrame>
        <p:nvGraphicFramePr>
          <p:cNvPr id="2" name="Table 1">
            <a:extLst>
              <a:ext uri="{FF2B5EF4-FFF2-40B4-BE49-F238E27FC236}">
                <a16:creationId xmlns:a16="http://schemas.microsoft.com/office/drawing/2014/main" id="{27D9233C-989E-F723-806E-347B158A964A}"/>
              </a:ext>
            </a:extLst>
          </p:cNvPr>
          <p:cNvGraphicFramePr>
            <a:graphicFrameLocks noGrp="1"/>
          </p:cNvGraphicFramePr>
          <p:nvPr>
            <p:extLst>
              <p:ext uri="{D42A27DB-BD31-4B8C-83A1-F6EECF244321}">
                <p14:modId xmlns:p14="http://schemas.microsoft.com/office/powerpoint/2010/main" val="2935587117"/>
              </p:ext>
            </p:extLst>
          </p:nvPr>
        </p:nvGraphicFramePr>
        <p:xfrm>
          <a:off x="649941" y="1814199"/>
          <a:ext cx="10892117" cy="4934838"/>
        </p:xfrm>
        <a:graphic>
          <a:graphicData uri="http://schemas.openxmlformats.org/drawingml/2006/table">
            <a:tbl>
              <a:tblPr firstRow="1" firstCol="1" bandRow="1">
                <a:tableStyleId>{5940675A-B579-460E-94D1-54222C63F5DA}</a:tableStyleId>
              </a:tblPr>
              <a:tblGrid>
                <a:gridCol w="2327510">
                  <a:extLst>
                    <a:ext uri="{9D8B030D-6E8A-4147-A177-3AD203B41FA5}">
                      <a16:colId xmlns:a16="http://schemas.microsoft.com/office/drawing/2014/main" val="2062314716"/>
                    </a:ext>
                  </a:extLst>
                </a:gridCol>
                <a:gridCol w="1901830">
                  <a:extLst>
                    <a:ext uri="{9D8B030D-6E8A-4147-A177-3AD203B41FA5}">
                      <a16:colId xmlns:a16="http://schemas.microsoft.com/office/drawing/2014/main" val="3918860579"/>
                    </a:ext>
                  </a:extLst>
                </a:gridCol>
                <a:gridCol w="2772095">
                  <a:extLst>
                    <a:ext uri="{9D8B030D-6E8A-4147-A177-3AD203B41FA5}">
                      <a16:colId xmlns:a16="http://schemas.microsoft.com/office/drawing/2014/main" val="204379483"/>
                    </a:ext>
                  </a:extLst>
                </a:gridCol>
                <a:gridCol w="2097742">
                  <a:extLst>
                    <a:ext uri="{9D8B030D-6E8A-4147-A177-3AD203B41FA5}">
                      <a16:colId xmlns:a16="http://schemas.microsoft.com/office/drawing/2014/main" val="902031873"/>
                    </a:ext>
                  </a:extLst>
                </a:gridCol>
                <a:gridCol w="1792940">
                  <a:extLst>
                    <a:ext uri="{9D8B030D-6E8A-4147-A177-3AD203B41FA5}">
                      <a16:colId xmlns:a16="http://schemas.microsoft.com/office/drawing/2014/main" val="270689959"/>
                    </a:ext>
                  </a:extLst>
                </a:gridCol>
              </a:tblGrid>
              <a:tr h="565757">
                <a:tc>
                  <a:txBody>
                    <a:bodyPr/>
                    <a:lstStyle/>
                    <a:p>
                      <a:pPr marL="0" marR="454660" algn="ctr">
                        <a:lnSpc>
                          <a:spcPct val="150000"/>
                        </a:lnSpc>
                        <a:spcBef>
                          <a:spcPts val="395"/>
                        </a:spcBef>
                      </a:pPr>
                      <a:r>
                        <a:rPr lang="en-US" sz="2400" dirty="0">
                          <a:solidFill>
                            <a:srgbClr val="1F7EF1"/>
                          </a:solidFill>
                          <a:effectLst/>
                          <a:latin typeface="Bebas Neue" panose="020B0606020202050201" pitchFamily="34" charset="0"/>
                        </a:rPr>
                        <a:t>Sr. No.</a:t>
                      </a:r>
                      <a:endParaRPr lang="en-US" sz="2400" dirty="0">
                        <a:solidFill>
                          <a:srgbClr val="1F7EF1"/>
                        </a:solidFill>
                        <a:effectLst/>
                        <a:latin typeface="Bebas Neue" panose="020B0606020202050201" pitchFamily="34"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2400" dirty="0">
                          <a:solidFill>
                            <a:srgbClr val="1F7EF1"/>
                          </a:solidFill>
                          <a:effectLst/>
                          <a:latin typeface="Bebas Neue" panose="020B0606020202050201" pitchFamily="34" charset="0"/>
                        </a:rPr>
                        <a:t>Part Name</a:t>
                      </a:r>
                      <a:endParaRPr lang="en-US" sz="2400" dirty="0">
                        <a:solidFill>
                          <a:srgbClr val="1F7EF1"/>
                        </a:solidFill>
                        <a:effectLst/>
                        <a:latin typeface="Bebas Neue" panose="020B0606020202050201" pitchFamily="34"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2400" dirty="0">
                          <a:solidFill>
                            <a:srgbClr val="1F7EF1"/>
                          </a:solidFill>
                          <a:effectLst/>
                          <a:latin typeface="Bebas Neue" panose="020B0606020202050201" pitchFamily="34" charset="0"/>
                        </a:rPr>
                        <a:t>Design Consideration</a:t>
                      </a:r>
                      <a:endParaRPr lang="en-US" sz="2400" dirty="0">
                        <a:solidFill>
                          <a:srgbClr val="1F7EF1"/>
                        </a:solidFill>
                        <a:effectLst/>
                        <a:latin typeface="Bebas Neue" panose="020B0606020202050201" pitchFamily="34"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2400" dirty="0">
                          <a:solidFill>
                            <a:srgbClr val="1F7EF1"/>
                          </a:solidFill>
                          <a:effectLst/>
                          <a:latin typeface="Bebas Neue" panose="020B0606020202050201" pitchFamily="34" charset="0"/>
                        </a:rPr>
                        <a:t>Abbreviations</a:t>
                      </a:r>
                      <a:endParaRPr lang="en-US" sz="2400" dirty="0">
                        <a:solidFill>
                          <a:srgbClr val="1F7EF1"/>
                        </a:solidFill>
                        <a:effectLst/>
                        <a:latin typeface="Bebas Neue" panose="020B0606020202050201" pitchFamily="34"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2400" dirty="0">
                          <a:solidFill>
                            <a:srgbClr val="1F7EF1"/>
                          </a:solidFill>
                          <a:effectLst/>
                          <a:latin typeface="Bebas Neue" panose="020B0606020202050201" pitchFamily="34" charset="0"/>
                        </a:rPr>
                        <a:t>Dimensions</a:t>
                      </a:r>
                      <a:endParaRPr lang="en-US" sz="2400" dirty="0">
                        <a:solidFill>
                          <a:srgbClr val="1F7EF1"/>
                        </a:solidFill>
                        <a:effectLst/>
                        <a:latin typeface="Bebas Neue" panose="020B0606020202050201" pitchFamily="34" charset="0"/>
                        <a:ea typeface="Times New Roman" panose="02020603050405020304" pitchFamily="18" charset="0"/>
                        <a:cs typeface="Arial" panose="020B0604020202020204" pitchFamily="34" charset="0"/>
                      </a:endParaRPr>
                    </a:p>
                  </a:txBody>
                  <a:tcPr marL="61526" marR="61526" marT="0" marB="0" anchor="ctr"/>
                </a:tc>
                <a:extLst>
                  <a:ext uri="{0D108BD9-81ED-4DB2-BD59-A6C34878D82A}">
                    <a16:rowId xmlns:a16="http://schemas.microsoft.com/office/drawing/2014/main" val="1628492840"/>
                  </a:ext>
                </a:extLst>
              </a:tr>
              <a:tr h="472933">
                <a:tc rowSpan="3">
                  <a:txBody>
                    <a:bodyPr/>
                    <a:lstStyle/>
                    <a:p>
                      <a:pPr marL="0" marR="454660" algn="ctr">
                        <a:lnSpc>
                          <a:spcPct val="150000"/>
                        </a:lnSpc>
                        <a:spcBef>
                          <a:spcPts val="395"/>
                        </a:spcBef>
                      </a:pPr>
                      <a:r>
                        <a:rPr lang="en-US" sz="1400" dirty="0">
                          <a:effectLst/>
                          <a:latin typeface="Georgia" panose="02040502050405020303" pitchFamily="18" charset="0"/>
                        </a:rPr>
                        <a:t>1</a:t>
                      </a:r>
                    </a:p>
                    <a:p>
                      <a:pPr marL="0" marR="454660" algn="ctr">
                        <a:lnSpc>
                          <a:spcPct val="150000"/>
                        </a:lnSpc>
                        <a:spcBef>
                          <a:spcPts val="395"/>
                        </a:spcBef>
                      </a:pPr>
                      <a:r>
                        <a:rPr lang="en-US" sz="1400" dirty="0">
                          <a:effectLst/>
                          <a:latin typeface="Georgia" panose="02040502050405020303" pitchFamily="18" charset="0"/>
                        </a:rPr>
                        <a:t> </a:t>
                      </a:r>
                      <a:endParaRPr lang="en-US" sz="1400" dirty="0">
                        <a:effectLst/>
                        <a:latin typeface="Georgia" panose="02040502050405020303" pitchFamily="18" charset="0"/>
                        <a:cs typeface="Arial" panose="020B0604020202020204" pitchFamily="34" charset="0"/>
                      </a:endParaRPr>
                    </a:p>
                  </a:txBody>
                  <a:tcPr marL="61526" marR="61526" marT="0" marB="0" anchor="ctr"/>
                </a:tc>
                <a:tc rowSpan="3">
                  <a:txBody>
                    <a:bodyPr/>
                    <a:lstStyle/>
                    <a:p>
                      <a:pPr marL="0" marR="454660" algn="ctr">
                        <a:lnSpc>
                          <a:spcPct val="150000"/>
                        </a:lnSpc>
                        <a:spcBef>
                          <a:spcPts val="395"/>
                        </a:spcBef>
                      </a:pPr>
                      <a:r>
                        <a:rPr lang="en-US" sz="1600" dirty="0">
                          <a:effectLst/>
                          <a:latin typeface="Georgia" panose="02040502050405020303" pitchFamily="18" charset="0"/>
                        </a:rPr>
                        <a:t>Barrel</a:t>
                      </a:r>
                    </a:p>
                    <a:p>
                      <a:pPr marL="0" marR="454660" algn="ctr">
                        <a:lnSpc>
                          <a:spcPct val="150000"/>
                        </a:lnSpc>
                        <a:spcBef>
                          <a:spcPts val="395"/>
                        </a:spcBef>
                      </a:pPr>
                      <a:r>
                        <a:rPr lang="en-US" sz="1600" dirty="0">
                          <a:effectLst/>
                          <a:latin typeface="Georgia" panose="02040502050405020303" pitchFamily="18" charset="0"/>
                        </a:rPr>
                        <a:t> </a:t>
                      </a:r>
                      <a:endParaRPr lang="en-US" sz="1600" dirty="0">
                        <a:effectLst/>
                        <a:latin typeface="Georgia" panose="02040502050405020303"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dirty="0">
                          <a:effectLst/>
                          <a:latin typeface="Georgia" panose="02040502050405020303" pitchFamily="18" charset="0"/>
                        </a:rPr>
                        <a:t>Outer Diameter</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dirty="0">
                          <a:effectLst/>
                          <a:latin typeface="Georgia" panose="02040502050405020303" pitchFamily="18" charset="0"/>
                        </a:rPr>
                        <a:t>B</a:t>
                      </a:r>
                      <a:r>
                        <a:rPr lang="en-US" sz="1400" baseline="-25000" dirty="0">
                          <a:effectLst/>
                          <a:latin typeface="Georgia" panose="02040502050405020303" pitchFamily="18" charset="0"/>
                        </a:rPr>
                        <a:t>o</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dirty="0">
                          <a:effectLst/>
                          <a:latin typeface="Georgia" panose="02040502050405020303" pitchFamily="18" charset="0"/>
                        </a:rPr>
                        <a:t>32 mm</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extLst>
                  <a:ext uri="{0D108BD9-81ED-4DB2-BD59-A6C34878D82A}">
                    <a16:rowId xmlns:a16="http://schemas.microsoft.com/office/drawing/2014/main" val="1351624005"/>
                  </a:ext>
                </a:extLst>
              </a:tr>
              <a:tr h="472933">
                <a:tc vMerge="1">
                  <a:txBody>
                    <a:bodyPr/>
                    <a:lstStyle/>
                    <a:p>
                      <a:endParaRPr lang="en-US"/>
                    </a:p>
                  </a:txBody>
                  <a:tcPr/>
                </a:tc>
                <a:tc vMerge="1">
                  <a:txBody>
                    <a:bodyPr/>
                    <a:lstStyle/>
                    <a:p>
                      <a:endParaRPr lang="en-US"/>
                    </a:p>
                  </a:txBody>
                  <a:tcPr/>
                </a:tc>
                <a:tc>
                  <a:txBody>
                    <a:bodyPr/>
                    <a:lstStyle/>
                    <a:p>
                      <a:pPr marL="0" marR="454660" algn="ctr">
                        <a:lnSpc>
                          <a:spcPct val="150000"/>
                        </a:lnSpc>
                        <a:spcBef>
                          <a:spcPts val="395"/>
                        </a:spcBef>
                      </a:pPr>
                      <a:r>
                        <a:rPr lang="en-US" sz="1400" dirty="0">
                          <a:effectLst/>
                          <a:latin typeface="Georgia" panose="02040502050405020303" pitchFamily="18" charset="0"/>
                        </a:rPr>
                        <a:t>Inner Diameter</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dirty="0">
                          <a:effectLst/>
                          <a:latin typeface="Georgia" panose="02040502050405020303" pitchFamily="18" charset="0"/>
                        </a:rPr>
                        <a:t>B</a:t>
                      </a:r>
                      <a:r>
                        <a:rPr lang="en-US" sz="1400" baseline="-25000" dirty="0">
                          <a:effectLst/>
                          <a:latin typeface="Georgia" panose="02040502050405020303" pitchFamily="18" charset="0"/>
                        </a:rPr>
                        <a:t>i</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28 mm</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extLst>
                  <a:ext uri="{0D108BD9-81ED-4DB2-BD59-A6C34878D82A}">
                    <a16:rowId xmlns:a16="http://schemas.microsoft.com/office/drawing/2014/main" val="2751138590"/>
                  </a:ext>
                </a:extLst>
              </a:tr>
              <a:tr h="360474">
                <a:tc vMerge="1">
                  <a:txBody>
                    <a:bodyPr/>
                    <a:lstStyle/>
                    <a:p>
                      <a:endParaRPr dirty="0"/>
                    </a:p>
                  </a:txBody>
                  <a:tcPr marL="61526" marR="61526" marT="0" marB="0" anchor="ctr"/>
                </a:tc>
                <a:tc vMerge="1">
                  <a:txBody>
                    <a:bodyPr/>
                    <a:lstStyle/>
                    <a:p>
                      <a:endParaRPr dirty="0"/>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Barrel Length</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dirty="0">
                          <a:effectLst/>
                          <a:latin typeface="Georgia" panose="02040502050405020303" pitchFamily="18" charset="0"/>
                        </a:rPr>
                        <a:t>L</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460 mm</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extLst>
                  <a:ext uri="{0D108BD9-81ED-4DB2-BD59-A6C34878D82A}">
                    <a16:rowId xmlns:a16="http://schemas.microsoft.com/office/drawing/2014/main" val="1625197389"/>
                  </a:ext>
                </a:extLst>
              </a:tr>
              <a:tr h="472933">
                <a:tc rowSpan="3">
                  <a:txBody>
                    <a:bodyPr/>
                    <a:lstStyle/>
                    <a:p>
                      <a:pPr marL="0" marR="454660" algn="ctr">
                        <a:lnSpc>
                          <a:spcPct val="150000"/>
                        </a:lnSpc>
                        <a:spcBef>
                          <a:spcPts val="395"/>
                        </a:spcBef>
                      </a:pPr>
                      <a:r>
                        <a:rPr lang="en-US" sz="1400" dirty="0">
                          <a:effectLst/>
                          <a:latin typeface="Georgia" panose="02040502050405020303" pitchFamily="18" charset="0"/>
                        </a:rPr>
                        <a:t>2</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rowSpan="3">
                  <a:txBody>
                    <a:bodyPr/>
                    <a:lstStyle/>
                    <a:p>
                      <a:pPr marL="0" marR="454660" algn="ctr">
                        <a:lnSpc>
                          <a:spcPct val="150000"/>
                        </a:lnSpc>
                        <a:spcBef>
                          <a:spcPts val="395"/>
                        </a:spcBef>
                      </a:pPr>
                      <a:r>
                        <a:rPr lang="en-US" sz="1600" dirty="0" err="1">
                          <a:effectLst/>
                          <a:latin typeface="Georgia" panose="02040502050405020303" pitchFamily="18" charset="0"/>
                        </a:rPr>
                        <a:t>Nozzel</a:t>
                      </a:r>
                      <a:endParaRPr lang="en-US" sz="16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dirty="0">
                          <a:effectLst/>
                          <a:latin typeface="Georgia" panose="02040502050405020303" pitchFamily="18" charset="0"/>
                        </a:rPr>
                        <a:t>Internal Diameter</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N</a:t>
                      </a:r>
                      <a:r>
                        <a:rPr lang="en-US" sz="1400" baseline="-25000">
                          <a:effectLst/>
                          <a:latin typeface="Georgia" panose="02040502050405020303" pitchFamily="18" charset="0"/>
                        </a:rPr>
                        <a:t>i</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32 mm</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extLst>
                  <a:ext uri="{0D108BD9-81ED-4DB2-BD59-A6C34878D82A}">
                    <a16:rowId xmlns:a16="http://schemas.microsoft.com/office/drawing/2014/main" val="4014045648"/>
                  </a:ext>
                </a:extLst>
              </a:tr>
              <a:tr h="472933">
                <a:tc vMerge="1">
                  <a:txBody>
                    <a:bodyPr/>
                    <a:lstStyle/>
                    <a:p>
                      <a:endParaRPr lang="en-US"/>
                    </a:p>
                  </a:txBody>
                  <a:tcPr/>
                </a:tc>
                <a:tc vMerge="1">
                  <a:txBody>
                    <a:bodyPr/>
                    <a:lstStyle/>
                    <a:p>
                      <a:endParaRPr lang="en-US"/>
                    </a:p>
                  </a:txBody>
                  <a:tcPr/>
                </a:tc>
                <a:tc>
                  <a:txBody>
                    <a:bodyPr/>
                    <a:lstStyle/>
                    <a:p>
                      <a:pPr marL="0" marR="454660" algn="ctr">
                        <a:lnSpc>
                          <a:spcPct val="150000"/>
                        </a:lnSpc>
                        <a:spcBef>
                          <a:spcPts val="395"/>
                        </a:spcBef>
                      </a:pPr>
                      <a:r>
                        <a:rPr lang="en-US" sz="1400" dirty="0">
                          <a:effectLst/>
                          <a:latin typeface="Georgia" panose="02040502050405020303" pitchFamily="18" charset="0"/>
                        </a:rPr>
                        <a:t>External Diameter</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N</a:t>
                      </a:r>
                      <a:r>
                        <a:rPr lang="en-US" sz="1400" baseline="-25000">
                          <a:effectLst/>
                          <a:latin typeface="Georgia" panose="02040502050405020303" pitchFamily="18" charset="0"/>
                        </a:rPr>
                        <a:t>o</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36 mm</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extLst>
                  <a:ext uri="{0D108BD9-81ED-4DB2-BD59-A6C34878D82A}">
                    <a16:rowId xmlns:a16="http://schemas.microsoft.com/office/drawing/2014/main" val="1422482452"/>
                  </a:ext>
                </a:extLst>
              </a:tr>
              <a:tr h="365987">
                <a:tc vMerge="1">
                  <a:txBody>
                    <a:bodyPr/>
                    <a:lstStyle/>
                    <a:p>
                      <a:endParaRPr lang="en-US"/>
                    </a:p>
                  </a:txBody>
                  <a:tcPr/>
                </a:tc>
                <a:tc vMerge="1">
                  <a:txBody>
                    <a:bodyPr/>
                    <a:lstStyle/>
                    <a:p>
                      <a:endParaRPr lang="en-US"/>
                    </a:p>
                  </a:txBody>
                  <a:tcPr/>
                </a:tc>
                <a:tc>
                  <a:txBody>
                    <a:bodyPr/>
                    <a:lstStyle/>
                    <a:p>
                      <a:pPr marL="0" marR="454660" algn="ctr">
                        <a:lnSpc>
                          <a:spcPct val="150000"/>
                        </a:lnSpc>
                        <a:spcBef>
                          <a:spcPts val="395"/>
                        </a:spcBef>
                      </a:pPr>
                      <a:r>
                        <a:rPr lang="en-US" sz="1400">
                          <a:effectLst/>
                          <a:latin typeface="Georgia" panose="02040502050405020303" pitchFamily="18" charset="0"/>
                        </a:rPr>
                        <a:t>Hole</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N</a:t>
                      </a:r>
                      <a:r>
                        <a:rPr lang="en-US" sz="1400" baseline="-25000">
                          <a:effectLst/>
                          <a:latin typeface="Georgia" panose="02040502050405020303" pitchFamily="18" charset="0"/>
                        </a:rPr>
                        <a:t>r</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1.7 mm</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extLst>
                  <a:ext uri="{0D108BD9-81ED-4DB2-BD59-A6C34878D82A}">
                    <a16:rowId xmlns:a16="http://schemas.microsoft.com/office/drawing/2014/main" val="4021052584"/>
                  </a:ext>
                </a:extLst>
              </a:tr>
              <a:tr h="420986">
                <a:tc rowSpan="2">
                  <a:txBody>
                    <a:bodyPr/>
                    <a:lstStyle/>
                    <a:p>
                      <a:pPr marL="0" marR="454660" algn="ctr">
                        <a:lnSpc>
                          <a:spcPct val="150000"/>
                        </a:lnSpc>
                        <a:spcBef>
                          <a:spcPts val="395"/>
                        </a:spcBef>
                      </a:pPr>
                      <a:r>
                        <a:rPr lang="en-US" sz="1400" dirty="0">
                          <a:effectLst/>
                          <a:latin typeface="Georgia" panose="02040502050405020303" pitchFamily="18" charset="0"/>
                        </a:rPr>
                        <a:t>3</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rowSpan="2">
                  <a:txBody>
                    <a:bodyPr/>
                    <a:lstStyle/>
                    <a:p>
                      <a:pPr marL="0" marR="454660" algn="ctr">
                        <a:lnSpc>
                          <a:spcPct val="150000"/>
                        </a:lnSpc>
                        <a:spcBef>
                          <a:spcPts val="395"/>
                        </a:spcBef>
                      </a:pPr>
                      <a:r>
                        <a:rPr lang="en-US" sz="1600" dirty="0">
                          <a:effectLst/>
                          <a:latin typeface="Georgia" panose="02040502050405020303" pitchFamily="18" charset="0"/>
                        </a:rPr>
                        <a:t>Heater</a:t>
                      </a:r>
                      <a:endParaRPr lang="en-US" sz="16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Radius</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H</a:t>
                      </a:r>
                      <a:r>
                        <a:rPr lang="en-US" sz="1400" baseline="-25000">
                          <a:effectLst/>
                          <a:latin typeface="Georgia" panose="02040502050405020303" pitchFamily="18" charset="0"/>
                        </a:rPr>
                        <a:t>r</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36 mm</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extLst>
                  <a:ext uri="{0D108BD9-81ED-4DB2-BD59-A6C34878D82A}">
                    <a16:rowId xmlns:a16="http://schemas.microsoft.com/office/drawing/2014/main" val="4163010578"/>
                  </a:ext>
                </a:extLst>
              </a:tr>
              <a:tr h="384036">
                <a:tc vMerge="1">
                  <a:txBody>
                    <a:bodyPr/>
                    <a:lstStyle/>
                    <a:p>
                      <a:endParaRPr lang="en-US"/>
                    </a:p>
                  </a:txBody>
                  <a:tcPr/>
                </a:tc>
                <a:tc vMerge="1">
                  <a:txBody>
                    <a:bodyPr/>
                    <a:lstStyle/>
                    <a:p>
                      <a:endParaRPr lang="en-US"/>
                    </a:p>
                  </a:txBody>
                  <a:tcPr/>
                </a:tc>
                <a:tc>
                  <a:txBody>
                    <a:bodyPr/>
                    <a:lstStyle/>
                    <a:p>
                      <a:pPr marL="0" marR="454660" algn="ctr">
                        <a:lnSpc>
                          <a:spcPct val="150000"/>
                        </a:lnSpc>
                        <a:spcBef>
                          <a:spcPts val="395"/>
                        </a:spcBef>
                      </a:pPr>
                      <a:r>
                        <a:rPr lang="en-US" sz="1400" dirty="0">
                          <a:effectLst/>
                          <a:latin typeface="Georgia" panose="02040502050405020303" pitchFamily="18" charset="0"/>
                        </a:rPr>
                        <a:t>Length</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dirty="0">
                          <a:effectLst/>
                          <a:latin typeface="Georgia" panose="02040502050405020303" pitchFamily="18" charset="0"/>
                        </a:rPr>
                        <a:t>H</a:t>
                      </a:r>
                      <a:r>
                        <a:rPr lang="en-US" sz="1400" baseline="-25000" dirty="0">
                          <a:effectLst/>
                          <a:latin typeface="Georgia" panose="02040502050405020303" pitchFamily="18" charset="0"/>
                        </a:rPr>
                        <a:t>l</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100 mm</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extLst>
                  <a:ext uri="{0D108BD9-81ED-4DB2-BD59-A6C34878D82A}">
                    <a16:rowId xmlns:a16="http://schemas.microsoft.com/office/drawing/2014/main" val="3984726556"/>
                  </a:ext>
                </a:extLst>
              </a:tr>
              <a:tr h="472933">
                <a:tc rowSpan="2">
                  <a:txBody>
                    <a:bodyPr/>
                    <a:lstStyle/>
                    <a:p>
                      <a:pPr marL="0" marR="454660" algn="ctr">
                        <a:lnSpc>
                          <a:spcPct val="150000"/>
                        </a:lnSpc>
                        <a:spcBef>
                          <a:spcPts val="395"/>
                        </a:spcBef>
                      </a:pPr>
                      <a:r>
                        <a:rPr lang="en-US" sz="1400" dirty="0">
                          <a:effectLst/>
                          <a:latin typeface="Georgia" panose="02040502050405020303" pitchFamily="18" charset="0"/>
                        </a:rPr>
                        <a:t>4</a:t>
                      </a:r>
                    </a:p>
                    <a:p>
                      <a:pPr marL="0" marR="454660" algn="ctr">
                        <a:lnSpc>
                          <a:spcPct val="150000"/>
                        </a:lnSpc>
                        <a:spcBef>
                          <a:spcPts val="395"/>
                        </a:spcBef>
                      </a:pPr>
                      <a:r>
                        <a:rPr lang="en-US" sz="1400" dirty="0">
                          <a:effectLst/>
                          <a:latin typeface="Georgia" panose="02040502050405020303" pitchFamily="18" charset="0"/>
                        </a:rPr>
                        <a:t> </a:t>
                      </a:r>
                      <a:endParaRPr lang="en-US" sz="1400" dirty="0">
                        <a:effectLst/>
                        <a:latin typeface="Georgia" panose="02040502050405020303" pitchFamily="18" charset="0"/>
                        <a:cs typeface="Arial" panose="020B0604020202020204" pitchFamily="34" charset="0"/>
                      </a:endParaRPr>
                    </a:p>
                  </a:txBody>
                  <a:tcPr marL="61526" marR="61526" marT="0" marB="0" anchor="ctr"/>
                </a:tc>
                <a:tc rowSpan="2">
                  <a:txBody>
                    <a:bodyPr/>
                    <a:lstStyle/>
                    <a:p>
                      <a:pPr marL="0" marR="454660" algn="ctr">
                        <a:lnSpc>
                          <a:spcPct val="150000"/>
                        </a:lnSpc>
                        <a:spcBef>
                          <a:spcPts val="395"/>
                        </a:spcBef>
                      </a:pPr>
                      <a:r>
                        <a:rPr lang="en-US" sz="1600" dirty="0">
                          <a:effectLst/>
                          <a:latin typeface="Georgia" panose="02040502050405020303" pitchFamily="18" charset="0"/>
                        </a:rPr>
                        <a:t>Extrusion Bit</a:t>
                      </a:r>
                    </a:p>
                    <a:p>
                      <a:pPr marL="0" marR="454660" algn="ctr">
                        <a:lnSpc>
                          <a:spcPct val="150000"/>
                        </a:lnSpc>
                        <a:spcBef>
                          <a:spcPts val="395"/>
                        </a:spcBef>
                      </a:pPr>
                      <a:r>
                        <a:rPr lang="en-US" sz="1600" dirty="0">
                          <a:effectLst/>
                          <a:latin typeface="Georgia" panose="02040502050405020303" pitchFamily="18" charset="0"/>
                        </a:rPr>
                        <a:t> </a:t>
                      </a:r>
                      <a:endParaRPr lang="en-US" sz="1600" dirty="0">
                        <a:effectLst/>
                        <a:latin typeface="Georgia" panose="02040502050405020303"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dirty="0">
                          <a:effectLst/>
                          <a:latin typeface="Georgia" panose="02040502050405020303" pitchFamily="18" charset="0"/>
                        </a:rPr>
                        <a:t>Outer Diameter</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E</a:t>
                      </a:r>
                      <a:r>
                        <a:rPr lang="en-US" sz="1400" baseline="-25000">
                          <a:effectLst/>
                          <a:latin typeface="Georgia" panose="02040502050405020303" pitchFamily="18" charset="0"/>
                        </a:rPr>
                        <a:t>o</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a:effectLst/>
                          <a:latin typeface="Georgia" panose="02040502050405020303" pitchFamily="18" charset="0"/>
                        </a:rPr>
                        <a:t>28 mm</a:t>
                      </a:r>
                      <a:endParaRPr lang="en-US" sz="140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extLst>
                  <a:ext uri="{0D108BD9-81ED-4DB2-BD59-A6C34878D82A}">
                    <a16:rowId xmlns:a16="http://schemas.microsoft.com/office/drawing/2014/main" val="2201641425"/>
                  </a:ext>
                </a:extLst>
              </a:tr>
              <a:tr h="472933">
                <a:tc vMerge="1">
                  <a:txBody>
                    <a:bodyPr/>
                    <a:lstStyle/>
                    <a:p>
                      <a:endParaRPr dirty="0"/>
                    </a:p>
                  </a:txBody>
                  <a:tcPr marL="61526" marR="61526" marT="0" marB="0" anchor="ctr"/>
                </a:tc>
                <a:tc vMerge="1">
                  <a:txBody>
                    <a:bodyPr/>
                    <a:lstStyle/>
                    <a:p>
                      <a:endParaRPr dirty="0"/>
                    </a:p>
                  </a:txBody>
                  <a:tcPr marL="61526" marR="61526" marT="0" marB="0" anchor="ctr"/>
                </a:tc>
                <a:tc>
                  <a:txBody>
                    <a:bodyPr/>
                    <a:lstStyle/>
                    <a:p>
                      <a:pPr marL="0" marR="454660" algn="ctr">
                        <a:lnSpc>
                          <a:spcPct val="150000"/>
                        </a:lnSpc>
                        <a:spcBef>
                          <a:spcPts val="395"/>
                        </a:spcBef>
                      </a:pPr>
                      <a:r>
                        <a:rPr lang="en-US" sz="1400" dirty="0">
                          <a:effectLst/>
                          <a:latin typeface="Georgia" panose="02040502050405020303" pitchFamily="18" charset="0"/>
                        </a:rPr>
                        <a:t>Shaft Diameter</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dirty="0">
                          <a:effectLst/>
                          <a:latin typeface="Georgia" panose="02040502050405020303" pitchFamily="18" charset="0"/>
                        </a:rPr>
                        <a:t>E</a:t>
                      </a:r>
                      <a:r>
                        <a:rPr lang="en-US" sz="1400" baseline="-25000" dirty="0">
                          <a:effectLst/>
                          <a:latin typeface="Georgia" panose="02040502050405020303" pitchFamily="18" charset="0"/>
                        </a:rPr>
                        <a:t>s</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tc>
                  <a:txBody>
                    <a:bodyPr/>
                    <a:lstStyle/>
                    <a:p>
                      <a:pPr marL="0" marR="454660" algn="ctr">
                        <a:lnSpc>
                          <a:spcPct val="150000"/>
                        </a:lnSpc>
                        <a:spcBef>
                          <a:spcPts val="395"/>
                        </a:spcBef>
                      </a:pPr>
                      <a:r>
                        <a:rPr lang="en-US" sz="1400" dirty="0">
                          <a:effectLst/>
                          <a:latin typeface="Georgia" panose="02040502050405020303" pitchFamily="18" charset="0"/>
                        </a:rPr>
                        <a:t>10 mm</a:t>
                      </a:r>
                      <a:endParaRPr lang="en-US" sz="1400" dirty="0">
                        <a:effectLst/>
                        <a:latin typeface="Georgia" panose="02040502050405020303" pitchFamily="18" charset="0"/>
                        <a:ea typeface="Times New Roman" panose="02020603050405020304" pitchFamily="18" charset="0"/>
                        <a:cs typeface="Arial" panose="020B0604020202020204" pitchFamily="34" charset="0"/>
                      </a:endParaRPr>
                    </a:p>
                  </a:txBody>
                  <a:tcPr marL="61526" marR="61526" marT="0" marB="0" anchor="ctr"/>
                </a:tc>
                <a:extLst>
                  <a:ext uri="{0D108BD9-81ED-4DB2-BD59-A6C34878D82A}">
                    <a16:rowId xmlns:a16="http://schemas.microsoft.com/office/drawing/2014/main" val="2829695101"/>
                  </a:ext>
                </a:extLst>
              </a:tr>
            </a:tbl>
          </a:graphicData>
        </a:graphic>
      </p:graphicFrame>
    </p:spTree>
    <p:extLst>
      <p:ext uri="{BB962C8B-B14F-4D97-AF65-F5344CB8AC3E}">
        <p14:creationId xmlns:p14="http://schemas.microsoft.com/office/powerpoint/2010/main" val="1776672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7BB68-01D9-BAA4-CFD4-5B56B5AD1355}"/>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CA298960-3A0F-90CA-8D5B-17CDC34E5D4F}"/>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2209A02F-4784-FF74-A344-7285B63421C7}"/>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3ECC059D-6CE0-3732-74F1-AA4D2A1E00E9}"/>
              </a:ext>
            </a:extLst>
          </p:cNvPr>
          <p:cNvSpPr txBox="1"/>
          <p:nvPr/>
        </p:nvSpPr>
        <p:spPr>
          <a:xfrm>
            <a:off x="1207328" y="1049185"/>
            <a:ext cx="9777344" cy="877163"/>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60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Main Calculations</a:t>
            </a:r>
          </a:p>
        </p:txBody>
      </p:sp>
      <p:sp>
        <p:nvSpPr>
          <p:cNvPr id="7" name="TextBox 6">
            <a:extLst>
              <a:ext uri="{FF2B5EF4-FFF2-40B4-BE49-F238E27FC236}">
                <a16:creationId xmlns:a16="http://schemas.microsoft.com/office/drawing/2014/main" id="{E0470067-16B7-4EC3-1537-E028BFE2EED5}"/>
              </a:ext>
            </a:extLst>
          </p:cNvPr>
          <p:cNvSpPr txBox="1"/>
          <p:nvPr/>
        </p:nvSpPr>
        <p:spPr>
          <a:xfrm>
            <a:off x="702608" y="1926348"/>
            <a:ext cx="3533215" cy="584775"/>
          </a:xfrm>
          <a:prstGeom prst="rect">
            <a:avLst/>
          </a:prstGeom>
          <a:noFill/>
        </p:spPr>
        <p:txBody>
          <a:bodyPr wrap="square">
            <a:spAutoFit/>
          </a:bodyPr>
          <a:lstStyle/>
          <a:p>
            <a:r>
              <a:rPr lang="en-US" sz="3200" dirty="0">
                <a:solidFill>
                  <a:srgbClr val="1F7EF1"/>
                </a:solidFill>
                <a:latin typeface="Bebas Neue" panose="020B0606020202050201" pitchFamily="34" charset="0"/>
              </a:rPr>
              <a:t>Volumetric Flow Rate</a:t>
            </a:r>
          </a:p>
        </p:txBody>
      </p:sp>
      <p:sp>
        <p:nvSpPr>
          <p:cNvPr id="8" name="TextBox 7">
            <a:extLst>
              <a:ext uri="{FF2B5EF4-FFF2-40B4-BE49-F238E27FC236}">
                <a16:creationId xmlns:a16="http://schemas.microsoft.com/office/drawing/2014/main" id="{CD21FAEE-91FA-B32F-BC8C-3A588F99390A}"/>
              </a:ext>
            </a:extLst>
          </p:cNvPr>
          <p:cNvSpPr txBox="1"/>
          <p:nvPr/>
        </p:nvSpPr>
        <p:spPr>
          <a:xfrm>
            <a:off x="4406260" y="2030446"/>
            <a:ext cx="3888885" cy="2442528"/>
          </a:xfrm>
          <a:prstGeom prst="rect">
            <a:avLst/>
          </a:prstGeom>
          <a:noFill/>
        </p:spPr>
        <p:txBody>
          <a:bodyPr wrap="none" lIns="0" tIns="0" rIns="0" bIns="0" rtlCol="0">
            <a:spAutoFit/>
          </a:bodyPr>
          <a:lstStyle/>
          <a:p>
            <a:pPr>
              <a:lnSpc>
                <a:spcPct val="150000"/>
              </a:lnSpc>
            </a:pPr>
            <a:r>
              <a:rPr lang="en-US" dirty="0">
                <a:latin typeface="Georgia" panose="02040502050405020303" pitchFamily="18" charset="0"/>
              </a:rPr>
              <a:t>Q=</a:t>
            </a:r>
            <a:r>
              <a:rPr lang="en-US" dirty="0" err="1">
                <a:latin typeface="Georgia" panose="02040502050405020303" pitchFamily="18" charset="0"/>
              </a:rPr>
              <a:t>A⋅v</a:t>
            </a:r>
            <a:r>
              <a:rPr lang="en-US" dirty="0">
                <a:latin typeface="Georgia" panose="02040502050405020303" pitchFamily="18" charset="0"/>
              </a:rPr>
              <a:t>=4πd</a:t>
            </a:r>
            <a:r>
              <a:rPr lang="en-US" baseline="30000" dirty="0">
                <a:latin typeface="Georgia" panose="02040502050405020303" pitchFamily="18" charset="0"/>
              </a:rPr>
              <a:t>2​⋅</a:t>
            </a:r>
            <a:r>
              <a:rPr lang="en-US" dirty="0">
                <a:latin typeface="Georgia" panose="02040502050405020303" pitchFamily="18" charset="0"/>
              </a:rPr>
              <a:t>v </a:t>
            </a:r>
            <a:endParaRPr lang="en-PK" dirty="0">
              <a:latin typeface="Georgia" panose="02040502050405020303" pitchFamily="18" charset="0"/>
            </a:endParaRPr>
          </a:p>
          <a:p>
            <a:pPr lvl="0">
              <a:lnSpc>
                <a:spcPct val="150000"/>
              </a:lnSpc>
            </a:pPr>
            <a:r>
              <a:rPr lang="en-US" dirty="0">
                <a:latin typeface="Georgia" panose="02040502050405020303" pitchFamily="18" charset="0"/>
              </a:rPr>
              <a:t>d = diameter of extruded filament [m]</a:t>
            </a:r>
            <a:endParaRPr lang="en-PK" dirty="0">
              <a:latin typeface="Georgia" panose="02040502050405020303" pitchFamily="18" charset="0"/>
            </a:endParaRPr>
          </a:p>
          <a:p>
            <a:pPr lvl="0">
              <a:lnSpc>
                <a:spcPct val="150000"/>
              </a:lnSpc>
            </a:pPr>
            <a:r>
              <a:rPr lang="en-US" dirty="0">
                <a:latin typeface="Georgia" panose="02040502050405020303" pitchFamily="18" charset="0"/>
              </a:rPr>
              <a:t>v = linear extrusion speed [m/s]</a:t>
            </a:r>
            <a:endParaRPr lang="en-PK" dirty="0">
              <a:latin typeface="Georgia" panose="02040502050405020303" pitchFamily="18" charset="0"/>
            </a:endParaRPr>
          </a:p>
          <a:p>
            <a:pPr lvl="0">
              <a:lnSpc>
                <a:spcPct val="150000"/>
              </a:lnSpc>
            </a:pPr>
            <a:r>
              <a:rPr lang="en-US" dirty="0">
                <a:latin typeface="Georgia" panose="02040502050405020303" pitchFamily="18" charset="0"/>
              </a:rPr>
              <a:t>Q = volumetric flow rate [m³/s]</a:t>
            </a:r>
            <a:endParaRPr lang="en-PK" dirty="0">
              <a:latin typeface="Georgia" panose="02040502050405020303" pitchFamily="18" charset="0"/>
            </a:endParaRPr>
          </a:p>
          <a:p>
            <a:pPr>
              <a:lnSpc>
                <a:spcPct val="150000"/>
              </a:lnSpc>
            </a:pPr>
            <a:r>
              <a:rPr lang="en-US" dirty="0">
                <a:latin typeface="Georgia" panose="02040502050405020303" pitchFamily="18" charset="0"/>
              </a:rPr>
              <a:t>Q= 3.14(2)</a:t>
            </a:r>
            <a:r>
              <a:rPr lang="en-US" baseline="30000" dirty="0">
                <a:latin typeface="Georgia" panose="02040502050405020303" pitchFamily="18" charset="0"/>
              </a:rPr>
              <a:t>2</a:t>
            </a:r>
            <a:r>
              <a:rPr lang="en-US" dirty="0">
                <a:latin typeface="Georgia" panose="02040502050405020303" pitchFamily="18" charset="0"/>
              </a:rPr>
              <a:t>(10)/4</a:t>
            </a:r>
            <a:endParaRPr lang="en-PK" dirty="0">
              <a:latin typeface="Georgia" panose="02040502050405020303" pitchFamily="18" charset="0"/>
            </a:endParaRPr>
          </a:p>
          <a:p>
            <a:pPr>
              <a:lnSpc>
                <a:spcPct val="150000"/>
              </a:lnSpc>
            </a:pPr>
            <a:r>
              <a:rPr lang="en-US" dirty="0">
                <a:latin typeface="Georgia" panose="02040502050405020303" pitchFamily="18" charset="0"/>
              </a:rPr>
              <a:t>Q= 31.4 m</a:t>
            </a:r>
            <a:r>
              <a:rPr lang="en-US" baseline="30000" dirty="0">
                <a:latin typeface="Georgia" panose="02040502050405020303" pitchFamily="18" charset="0"/>
              </a:rPr>
              <a:t>3</a:t>
            </a:r>
            <a:r>
              <a:rPr lang="en-US" dirty="0">
                <a:latin typeface="Georgia" panose="02040502050405020303" pitchFamily="18" charset="0"/>
              </a:rPr>
              <a:t>/s</a:t>
            </a:r>
            <a:endParaRPr lang="en-PK" dirty="0">
              <a:latin typeface="Georgia" panose="02040502050405020303" pitchFamily="18" charset="0"/>
            </a:endParaRPr>
          </a:p>
        </p:txBody>
      </p:sp>
      <p:sp>
        <p:nvSpPr>
          <p:cNvPr id="10" name="TextBox 9">
            <a:extLst>
              <a:ext uri="{FF2B5EF4-FFF2-40B4-BE49-F238E27FC236}">
                <a16:creationId xmlns:a16="http://schemas.microsoft.com/office/drawing/2014/main" id="{F24414CD-323E-A27E-35BE-13B4B426CB51}"/>
              </a:ext>
            </a:extLst>
          </p:cNvPr>
          <p:cNvSpPr txBox="1"/>
          <p:nvPr/>
        </p:nvSpPr>
        <p:spPr>
          <a:xfrm>
            <a:off x="702608" y="4577073"/>
            <a:ext cx="6178922" cy="584775"/>
          </a:xfrm>
          <a:prstGeom prst="rect">
            <a:avLst/>
          </a:prstGeom>
          <a:noFill/>
        </p:spPr>
        <p:txBody>
          <a:bodyPr wrap="square">
            <a:spAutoFit/>
          </a:bodyPr>
          <a:lstStyle/>
          <a:p>
            <a:r>
              <a:rPr lang="en-US" sz="3200" dirty="0">
                <a:solidFill>
                  <a:srgbClr val="1F7EF1"/>
                </a:solidFill>
                <a:latin typeface="Bebas Neue" panose="020B0606020202050201" pitchFamily="34" charset="0"/>
              </a:rPr>
              <a:t>Shear Rate (γ̇) at the Nozzle</a:t>
            </a:r>
          </a:p>
        </p:txBody>
      </p:sp>
      <p:sp>
        <p:nvSpPr>
          <p:cNvPr id="6" name="TextBox 5">
            <a:extLst>
              <a:ext uri="{FF2B5EF4-FFF2-40B4-BE49-F238E27FC236}">
                <a16:creationId xmlns:a16="http://schemas.microsoft.com/office/drawing/2014/main" id="{E34D75B4-906B-0F5B-88D6-3D85FA1D9463}"/>
              </a:ext>
            </a:extLst>
          </p:cNvPr>
          <p:cNvSpPr txBox="1"/>
          <p:nvPr/>
        </p:nvSpPr>
        <p:spPr>
          <a:xfrm>
            <a:off x="7765026" y="4026330"/>
            <a:ext cx="6179574" cy="2652393"/>
          </a:xfrm>
          <a:prstGeom prst="rect">
            <a:avLst/>
          </a:prstGeom>
          <a:noFill/>
        </p:spPr>
        <p:txBody>
          <a:bodyPr wrap="square">
            <a:spAutoFit/>
          </a:bodyPr>
          <a:lstStyle/>
          <a:p>
            <a:r>
              <a:rPr lang="en-US" sz="2000" dirty="0">
                <a:latin typeface="Georgia" panose="02040502050405020303" pitchFamily="18" charset="0"/>
              </a:rPr>
              <a:t>γ˙​=4Q/πR</a:t>
            </a:r>
            <a:r>
              <a:rPr lang="en-US" sz="2000" baseline="30000" dirty="0">
                <a:latin typeface="Georgia" panose="02040502050405020303" pitchFamily="18" charset="0"/>
              </a:rPr>
              <a:t>3</a:t>
            </a:r>
            <a:endParaRPr lang="en-PK" sz="2000" dirty="0">
              <a:latin typeface="Georgia" panose="02040502050405020303" pitchFamily="18" charset="0"/>
            </a:endParaRPr>
          </a:p>
          <a:p>
            <a:pPr lvl="0">
              <a:lnSpc>
                <a:spcPct val="150000"/>
              </a:lnSpc>
            </a:pPr>
            <a:r>
              <a:rPr lang="en-US" sz="2000" b="1" dirty="0">
                <a:latin typeface="Georgia" panose="02040502050405020303" pitchFamily="18" charset="0"/>
              </a:rPr>
              <a:t>γ˙ ​</a:t>
            </a:r>
            <a:r>
              <a:rPr lang="en-US" sz="2000" dirty="0">
                <a:latin typeface="Georgia" panose="02040502050405020303" pitchFamily="18" charset="0"/>
              </a:rPr>
              <a:t> = Shear rate [s⁻¹]</a:t>
            </a:r>
            <a:endParaRPr lang="en-PK" sz="2000" dirty="0">
              <a:latin typeface="Georgia" panose="02040502050405020303" pitchFamily="18" charset="0"/>
            </a:endParaRPr>
          </a:p>
          <a:p>
            <a:pPr lvl="0">
              <a:lnSpc>
                <a:spcPct val="150000"/>
              </a:lnSpc>
            </a:pPr>
            <a:r>
              <a:rPr lang="en-US" sz="2000" dirty="0">
                <a:latin typeface="Georgia" panose="02040502050405020303" pitchFamily="18" charset="0"/>
              </a:rPr>
              <a:t>Q= Volumetric flow rate [m³/s]</a:t>
            </a:r>
            <a:endParaRPr lang="en-PK" sz="2000" dirty="0">
              <a:latin typeface="Georgia" panose="02040502050405020303" pitchFamily="18" charset="0"/>
            </a:endParaRPr>
          </a:p>
          <a:p>
            <a:pPr lvl="0">
              <a:lnSpc>
                <a:spcPct val="150000"/>
              </a:lnSpc>
            </a:pPr>
            <a:r>
              <a:rPr lang="en-US" sz="2000" dirty="0">
                <a:latin typeface="Georgia" panose="02040502050405020303" pitchFamily="18" charset="0"/>
              </a:rPr>
              <a:t>R = Radius of nozzle [m]</a:t>
            </a:r>
            <a:endParaRPr lang="en-PK" sz="2000" dirty="0">
              <a:latin typeface="Georgia" panose="02040502050405020303" pitchFamily="18" charset="0"/>
            </a:endParaRPr>
          </a:p>
          <a:p>
            <a:pPr>
              <a:lnSpc>
                <a:spcPct val="150000"/>
              </a:lnSpc>
            </a:pPr>
            <a:r>
              <a:rPr lang="en-US" sz="2000" dirty="0">
                <a:latin typeface="Georgia" panose="02040502050405020303" pitchFamily="18" charset="0"/>
              </a:rPr>
              <a:t>γ˙=4(31.4)/ (3.14) (1)3</a:t>
            </a:r>
            <a:endParaRPr lang="en-PK" sz="2000" dirty="0">
              <a:latin typeface="Georgia" panose="02040502050405020303" pitchFamily="18" charset="0"/>
            </a:endParaRPr>
          </a:p>
          <a:p>
            <a:pPr>
              <a:lnSpc>
                <a:spcPct val="150000"/>
              </a:lnSpc>
            </a:pPr>
            <a:r>
              <a:rPr lang="en-US" sz="2000" dirty="0">
                <a:latin typeface="Georgia" panose="02040502050405020303" pitchFamily="18" charset="0"/>
              </a:rPr>
              <a:t>γ˙=40 s-1</a:t>
            </a:r>
            <a:endParaRPr lang="en-PK" sz="2000" dirty="0">
              <a:latin typeface="Georgia" panose="02040502050405020303" pitchFamily="18" charset="0"/>
            </a:endParaRPr>
          </a:p>
        </p:txBody>
      </p:sp>
    </p:spTree>
    <p:extLst>
      <p:ext uri="{BB962C8B-B14F-4D97-AF65-F5344CB8AC3E}">
        <p14:creationId xmlns:p14="http://schemas.microsoft.com/office/powerpoint/2010/main" val="102771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30694-3893-E35E-52AF-54978286FA63}"/>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ECEF5D9F-F7EB-06C8-133A-A6D15F7B4814}"/>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2ACC3B27-C9FC-EABC-58D0-5E7DBCFF0AB1}"/>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2278DC31-3D90-D269-B229-81F5D939B86B}"/>
              </a:ext>
            </a:extLst>
          </p:cNvPr>
          <p:cNvSpPr txBox="1"/>
          <p:nvPr/>
        </p:nvSpPr>
        <p:spPr>
          <a:xfrm>
            <a:off x="2928097" y="1049185"/>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Circuit diagram</a:t>
            </a:r>
          </a:p>
        </p:txBody>
      </p:sp>
      <p:pic>
        <p:nvPicPr>
          <p:cNvPr id="7" name="Picture 6">
            <a:extLst>
              <a:ext uri="{FF2B5EF4-FFF2-40B4-BE49-F238E27FC236}">
                <a16:creationId xmlns:a16="http://schemas.microsoft.com/office/drawing/2014/main" id="{7D7FD52F-4089-8D0E-F99E-0A133CF6ECA9}"/>
              </a:ext>
            </a:extLst>
          </p:cNvPr>
          <p:cNvPicPr>
            <a:picLocks noChangeAspect="1"/>
          </p:cNvPicPr>
          <p:nvPr/>
        </p:nvPicPr>
        <p:blipFill>
          <a:blip r:embed="rId2"/>
          <a:stretch>
            <a:fillRect/>
          </a:stretch>
        </p:blipFill>
        <p:spPr>
          <a:xfrm>
            <a:off x="1297285" y="2083314"/>
            <a:ext cx="9440546" cy="4586427"/>
          </a:xfrm>
          <a:prstGeom prst="rect">
            <a:avLst/>
          </a:prstGeom>
        </p:spPr>
      </p:pic>
    </p:spTree>
    <p:extLst>
      <p:ext uri="{BB962C8B-B14F-4D97-AF65-F5344CB8AC3E}">
        <p14:creationId xmlns:p14="http://schemas.microsoft.com/office/powerpoint/2010/main" val="175870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6BC85-C473-2EE9-5752-867501B5E2D1}"/>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D883E724-FE46-61A5-A0B9-5E2007F49DE1}"/>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A209927D-8582-3250-466B-101B20DC8C35}"/>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48C9BC67-EB35-80C2-D15B-6004AE320674}"/>
              </a:ext>
            </a:extLst>
          </p:cNvPr>
          <p:cNvSpPr txBox="1"/>
          <p:nvPr/>
        </p:nvSpPr>
        <p:spPr>
          <a:xfrm>
            <a:off x="2928097" y="1049185"/>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Arduino code</a:t>
            </a:r>
          </a:p>
        </p:txBody>
      </p:sp>
      <p:sp>
        <p:nvSpPr>
          <p:cNvPr id="6" name="TextBox 5">
            <a:extLst>
              <a:ext uri="{FF2B5EF4-FFF2-40B4-BE49-F238E27FC236}">
                <a16:creationId xmlns:a16="http://schemas.microsoft.com/office/drawing/2014/main" id="{9E68C3BD-9664-C83C-7698-E270D4BA292F}"/>
              </a:ext>
            </a:extLst>
          </p:cNvPr>
          <p:cNvSpPr txBox="1"/>
          <p:nvPr/>
        </p:nvSpPr>
        <p:spPr>
          <a:xfrm>
            <a:off x="914401" y="1837649"/>
            <a:ext cx="10206318" cy="4770537"/>
          </a:xfrm>
          <a:prstGeom prst="rect">
            <a:avLst/>
          </a:prstGeom>
          <a:noFill/>
        </p:spPr>
        <p:txBody>
          <a:bodyPr wrap="square" rtlCol="0">
            <a:spAutoFit/>
          </a:bodyPr>
          <a:lstStyle/>
          <a:p>
            <a:r>
              <a:rPr lang="en-US" sz="1600" dirty="0">
                <a:latin typeface="Georgia" panose="02040502050405020303" pitchFamily="18" charset="0"/>
              </a:rPr>
              <a:t>// Include necessary libraries</a:t>
            </a:r>
          </a:p>
          <a:p>
            <a:r>
              <a:rPr lang="en-US" sz="1600" dirty="0">
                <a:latin typeface="Georgia" panose="02040502050405020303" pitchFamily="18" charset="0"/>
              </a:rPr>
              <a:t>#include &lt;</a:t>
            </a:r>
            <a:r>
              <a:rPr lang="en-US" sz="1600" dirty="0" err="1">
                <a:latin typeface="Georgia" panose="02040502050405020303" pitchFamily="18" charset="0"/>
              </a:rPr>
              <a:t>Wire.h</a:t>
            </a:r>
            <a:r>
              <a:rPr lang="en-US" sz="1600" dirty="0">
                <a:latin typeface="Georgia" panose="02040502050405020303" pitchFamily="18" charset="0"/>
              </a:rPr>
              <a:t>&gt; // Required for I2C communication</a:t>
            </a:r>
          </a:p>
          <a:p>
            <a:r>
              <a:rPr lang="en-US" sz="1600" dirty="0">
                <a:latin typeface="Georgia" panose="02040502050405020303" pitchFamily="18" charset="0"/>
              </a:rPr>
              <a:t>#include &lt;LiquidCrystal_I2C.h&gt; // For the I2C LCD</a:t>
            </a:r>
          </a:p>
          <a:p>
            <a:r>
              <a:rPr lang="en-US" sz="1600" dirty="0">
                <a:latin typeface="Georgia" panose="02040502050405020303" pitchFamily="18" charset="0"/>
              </a:rPr>
              <a:t>#include &lt;max6675.h&gt; // For the thermocouple</a:t>
            </a:r>
          </a:p>
          <a:p>
            <a:endParaRPr lang="en-US" sz="1600" dirty="0">
              <a:latin typeface="Georgia" panose="02040502050405020303" pitchFamily="18" charset="0"/>
            </a:endParaRPr>
          </a:p>
          <a:p>
            <a:r>
              <a:rPr lang="en-US" sz="1600" dirty="0">
                <a:latin typeface="Georgia" panose="02040502050405020303" pitchFamily="18" charset="0"/>
              </a:rPr>
              <a:t>// --- I2C LCD Setup ---</a:t>
            </a:r>
          </a:p>
          <a:p>
            <a:r>
              <a:rPr lang="en-US" sz="1600" dirty="0">
                <a:latin typeface="Georgia" panose="02040502050405020303" pitchFamily="18" charset="0"/>
              </a:rPr>
              <a:t>// Set the LCD address (common addresses are 0x27 or 0x3F)</a:t>
            </a:r>
          </a:p>
          <a:p>
            <a:r>
              <a:rPr lang="en-US" sz="1600" dirty="0">
                <a:latin typeface="Georgia" panose="02040502050405020303" pitchFamily="18" charset="0"/>
              </a:rPr>
              <a:t>// If unsure, use an I2C Scanner sketch to find the correct address</a:t>
            </a:r>
          </a:p>
          <a:p>
            <a:r>
              <a:rPr lang="en-US" sz="1600" dirty="0">
                <a:latin typeface="Georgia" panose="02040502050405020303" pitchFamily="18" charset="0"/>
              </a:rPr>
              <a:t>LiquidCrystal_I2C lcd(0x27, 16, 2); // Address 0x27, 16 columns, 2 rows</a:t>
            </a:r>
          </a:p>
          <a:p>
            <a:endParaRPr lang="en-US" sz="1600" dirty="0">
              <a:latin typeface="Georgia" panose="02040502050405020303" pitchFamily="18" charset="0"/>
            </a:endParaRPr>
          </a:p>
          <a:p>
            <a:r>
              <a:rPr lang="en-US" sz="1600" dirty="0">
                <a:latin typeface="Georgia" panose="02040502050405020303" pitchFamily="18" charset="0"/>
              </a:rPr>
              <a:t>// --- Thermocouple Pins ---</a:t>
            </a:r>
          </a:p>
          <a:p>
            <a:r>
              <a:rPr lang="en-US" sz="1600" dirty="0">
                <a:latin typeface="Georgia" panose="02040502050405020303" pitchFamily="18" charset="0"/>
              </a:rPr>
              <a:t>int </a:t>
            </a:r>
            <a:r>
              <a:rPr lang="en-US" sz="1600" dirty="0" err="1">
                <a:latin typeface="Georgia" panose="02040502050405020303" pitchFamily="18" charset="0"/>
              </a:rPr>
              <a:t>thermoDO</a:t>
            </a:r>
            <a:r>
              <a:rPr lang="en-US" sz="1600" dirty="0">
                <a:latin typeface="Georgia" panose="02040502050405020303" pitchFamily="18" charset="0"/>
              </a:rPr>
              <a:t> = 4;</a:t>
            </a:r>
          </a:p>
          <a:p>
            <a:r>
              <a:rPr lang="en-US" sz="1600" dirty="0">
                <a:latin typeface="Georgia" panose="02040502050405020303" pitchFamily="18" charset="0"/>
              </a:rPr>
              <a:t>int </a:t>
            </a:r>
            <a:r>
              <a:rPr lang="en-US" sz="1600" dirty="0" err="1">
                <a:latin typeface="Georgia" panose="02040502050405020303" pitchFamily="18" charset="0"/>
              </a:rPr>
              <a:t>thermoCS</a:t>
            </a:r>
            <a:r>
              <a:rPr lang="en-US" sz="1600" dirty="0">
                <a:latin typeface="Georgia" panose="02040502050405020303" pitchFamily="18" charset="0"/>
              </a:rPr>
              <a:t> = 5;</a:t>
            </a:r>
          </a:p>
          <a:p>
            <a:r>
              <a:rPr lang="en-US" sz="1600" dirty="0">
                <a:latin typeface="Georgia" panose="02040502050405020303" pitchFamily="18" charset="0"/>
              </a:rPr>
              <a:t>int </a:t>
            </a:r>
            <a:r>
              <a:rPr lang="en-US" sz="1600" dirty="0" err="1">
                <a:latin typeface="Georgia" panose="02040502050405020303" pitchFamily="18" charset="0"/>
              </a:rPr>
              <a:t>thermoCLK</a:t>
            </a:r>
            <a:r>
              <a:rPr lang="en-US" sz="1600" dirty="0">
                <a:latin typeface="Georgia" panose="02040502050405020303" pitchFamily="18" charset="0"/>
              </a:rPr>
              <a:t> = 6;</a:t>
            </a:r>
          </a:p>
          <a:p>
            <a:r>
              <a:rPr lang="en-US" sz="1600" dirty="0">
                <a:latin typeface="Georgia" panose="02040502050405020303" pitchFamily="18" charset="0"/>
              </a:rPr>
              <a:t>MAX6675 thermocouple(</a:t>
            </a:r>
            <a:r>
              <a:rPr lang="en-US" sz="1600" dirty="0" err="1">
                <a:latin typeface="Georgia" panose="02040502050405020303" pitchFamily="18" charset="0"/>
              </a:rPr>
              <a:t>thermoCLK</a:t>
            </a:r>
            <a:r>
              <a:rPr lang="en-US" sz="1600" dirty="0">
                <a:latin typeface="Georgia" panose="02040502050405020303" pitchFamily="18" charset="0"/>
              </a:rPr>
              <a:t>, </a:t>
            </a:r>
            <a:r>
              <a:rPr lang="en-US" sz="1600" dirty="0" err="1">
                <a:latin typeface="Georgia" panose="02040502050405020303" pitchFamily="18" charset="0"/>
              </a:rPr>
              <a:t>thermoCS</a:t>
            </a:r>
            <a:r>
              <a:rPr lang="en-US" sz="1600" dirty="0">
                <a:latin typeface="Georgia" panose="02040502050405020303" pitchFamily="18" charset="0"/>
              </a:rPr>
              <a:t>, </a:t>
            </a:r>
            <a:r>
              <a:rPr lang="en-US" sz="1600" dirty="0" err="1">
                <a:latin typeface="Georgia" panose="02040502050405020303" pitchFamily="18" charset="0"/>
              </a:rPr>
              <a:t>thermoDO</a:t>
            </a:r>
            <a:r>
              <a:rPr lang="en-US" sz="1600" dirty="0">
                <a:latin typeface="Georgia" panose="02040502050405020303" pitchFamily="18" charset="0"/>
              </a:rPr>
              <a:t>);</a:t>
            </a:r>
          </a:p>
          <a:p>
            <a:endParaRPr lang="en-US" sz="1600" dirty="0">
              <a:latin typeface="Georgia" panose="02040502050405020303" pitchFamily="18" charset="0"/>
            </a:endParaRPr>
          </a:p>
          <a:p>
            <a:r>
              <a:rPr lang="en-US" sz="1600" dirty="0">
                <a:latin typeface="Georgia" panose="02040502050405020303" pitchFamily="18" charset="0"/>
              </a:rPr>
              <a:t>// --- Heater Relay ---</a:t>
            </a:r>
          </a:p>
          <a:p>
            <a:r>
              <a:rPr lang="en-US" sz="1600" dirty="0">
                <a:latin typeface="Georgia" panose="02040502050405020303" pitchFamily="18" charset="0"/>
              </a:rPr>
              <a:t>int </a:t>
            </a:r>
            <a:r>
              <a:rPr lang="en-US" sz="1600" dirty="0" err="1">
                <a:latin typeface="Georgia" panose="02040502050405020303" pitchFamily="18" charset="0"/>
              </a:rPr>
              <a:t>heaterRelay</a:t>
            </a:r>
            <a:r>
              <a:rPr lang="en-US" sz="1600" dirty="0">
                <a:latin typeface="Georgia" panose="02040502050405020303" pitchFamily="18" charset="0"/>
              </a:rPr>
              <a:t> = 7;</a:t>
            </a:r>
          </a:p>
          <a:p>
            <a:endParaRPr lang="en-US" sz="1600" dirty="0">
              <a:latin typeface="Georgia" panose="02040502050405020303" pitchFamily="18" charset="0"/>
            </a:endParaRPr>
          </a:p>
        </p:txBody>
      </p:sp>
    </p:spTree>
    <p:extLst>
      <p:ext uri="{BB962C8B-B14F-4D97-AF65-F5344CB8AC3E}">
        <p14:creationId xmlns:p14="http://schemas.microsoft.com/office/powerpoint/2010/main" val="2785770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BE0CF-B46F-C3E6-8D6C-5F8651DA71EC}"/>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7C1B725C-2A29-083C-0AF7-78C3150798EA}"/>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631976CC-45D5-9DDF-6612-6E76215D6669}"/>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5070368D-CF06-94E6-1A2E-DBC639ED21B1}"/>
              </a:ext>
            </a:extLst>
          </p:cNvPr>
          <p:cNvSpPr txBox="1"/>
          <p:nvPr/>
        </p:nvSpPr>
        <p:spPr>
          <a:xfrm>
            <a:off x="2893456" y="863806"/>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Arduino code</a:t>
            </a:r>
          </a:p>
        </p:txBody>
      </p:sp>
      <p:sp>
        <p:nvSpPr>
          <p:cNvPr id="6" name="TextBox 5">
            <a:extLst>
              <a:ext uri="{FF2B5EF4-FFF2-40B4-BE49-F238E27FC236}">
                <a16:creationId xmlns:a16="http://schemas.microsoft.com/office/drawing/2014/main" id="{4131C7F4-55FB-8E67-39D2-A03E9ADE5FD0}"/>
              </a:ext>
            </a:extLst>
          </p:cNvPr>
          <p:cNvSpPr txBox="1"/>
          <p:nvPr/>
        </p:nvSpPr>
        <p:spPr>
          <a:xfrm>
            <a:off x="618565" y="1673830"/>
            <a:ext cx="11397807" cy="4770537"/>
          </a:xfrm>
          <a:prstGeom prst="rect">
            <a:avLst/>
          </a:prstGeom>
          <a:noFill/>
        </p:spPr>
        <p:txBody>
          <a:bodyPr wrap="square" rtlCol="0">
            <a:spAutoFit/>
          </a:bodyPr>
          <a:lstStyle/>
          <a:p>
            <a:r>
              <a:rPr lang="en-US" sz="1600" dirty="0">
                <a:latin typeface="Georgia" panose="02040502050405020303" pitchFamily="18" charset="0"/>
              </a:rPr>
              <a:t>// --- L298 Motor Pins ---</a:t>
            </a:r>
          </a:p>
          <a:p>
            <a:r>
              <a:rPr lang="en-US" sz="1600" dirty="0">
                <a:latin typeface="Georgia" panose="02040502050405020303" pitchFamily="18" charset="0"/>
              </a:rPr>
              <a:t>int </a:t>
            </a:r>
            <a:r>
              <a:rPr lang="en-US" sz="1600" dirty="0" err="1">
                <a:latin typeface="Georgia" panose="02040502050405020303" pitchFamily="18" charset="0"/>
              </a:rPr>
              <a:t>enA</a:t>
            </a:r>
            <a:r>
              <a:rPr lang="en-US" sz="1600" dirty="0">
                <a:latin typeface="Georgia" panose="02040502050405020303" pitchFamily="18" charset="0"/>
              </a:rPr>
              <a:t> = 9; int in1 = 8; int in2 = 10; // Screw Motor</a:t>
            </a:r>
          </a:p>
          <a:p>
            <a:r>
              <a:rPr lang="en-US" sz="1600" dirty="0">
                <a:latin typeface="Georgia" panose="02040502050405020303" pitchFamily="18" charset="0"/>
              </a:rPr>
              <a:t>int </a:t>
            </a:r>
            <a:r>
              <a:rPr lang="en-US" sz="1600" dirty="0" err="1">
                <a:latin typeface="Georgia" panose="02040502050405020303" pitchFamily="18" charset="0"/>
              </a:rPr>
              <a:t>enB</a:t>
            </a:r>
            <a:r>
              <a:rPr lang="en-US" sz="1600" dirty="0">
                <a:latin typeface="Georgia" panose="02040502050405020303" pitchFamily="18" charset="0"/>
              </a:rPr>
              <a:t> = 11; int in3 = 12; int in4 = 13; // Puller Motor</a:t>
            </a:r>
          </a:p>
          <a:p>
            <a:endParaRPr lang="en-US" sz="1600" dirty="0">
              <a:latin typeface="Georgia" panose="02040502050405020303" pitchFamily="18" charset="0"/>
            </a:endParaRPr>
          </a:p>
          <a:p>
            <a:r>
              <a:rPr lang="en-US" sz="1600" dirty="0">
                <a:latin typeface="Georgia" panose="02040502050405020303" pitchFamily="18" charset="0"/>
              </a:rPr>
              <a:t>// --- Filament Sensor ---</a:t>
            </a:r>
          </a:p>
          <a:p>
            <a:r>
              <a:rPr lang="en-US" sz="1600" dirty="0">
                <a:latin typeface="Georgia" panose="02040502050405020303" pitchFamily="18" charset="0"/>
              </a:rPr>
              <a:t>#define NUMTEMPS 4</a:t>
            </a:r>
          </a:p>
          <a:p>
            <a:r>
              <a:rPr lang="en-US" sz="1600" dirty="0">
                <a:latin typeface="Georgia" panose="02040502050405020303" pitchFamily="18" charset="0"/>
              </a:rPr>
              <a:t>#define smooth 50</a:t>
            </a:r>
          </a:p>
          <a:p>
            <a:r>
              <a:rPr lang="en-US" sz="1600" dirty="0">
                <a:latin typeface="Georgia" panose="02040502050405020303" pitchFamily="18" charset="0"/>
              </a:rPr>
              <a:t>#define </a:t>
            </a:r>
            <a:r>
              <a:rPr lang="en-US" sz="1600" dirty="0" err="1">
                <a:latin typeface="Georgia" panose="02040502050405020303" pitchFamily="18" charset="0"/>
              </a:rPr>
              <a:t>sensIn</a:t>
            </a:r>
            <a:r>
              <a:rPr lang="en-US" sz="1600" dirty="0">
                <a:latin typeface="Georgia" panose="02040502050405020303" pitchFamily="18" charset="0"/>
              </a:rPr>
              <a:t> A1</a:t>
            </a:r>
          </a:p>
          <a:p>
            <a:endParaRPr lang="en-US" sz="1600" dirty="0">
              <a:latin typeface="Georgia" panose="02040502050405020303" pitchFamily="18" charset="0"/>
            </a:endParaRPr>
          </a:p>
          <a:p>
            <a:r>
              <a:rPr lang="en-US" sz="1600" dirty="0">
                <a:latin typeface="Georgia" panose="02040502050405020303" pitchFamily="18" charset="0"/>
              </a:rPr>
              <a:t>// Lookup Table for filament diameter calibration</a:t>
            </a:r>
          </a:p>
          <a:p>
            <a:r>
              <a:rPr lang="en-US" sz="1600" dirty="0">
                <a:latin typeface="Georgia" panose="02040502050405020303" pitchFamily="18" charset="0"/>
              </a:rPr>
              <a:t>// * IMPORTANT: Check if these values match your sensor readings! *</a:t>
            </a:r>
          </a:p>
          <a:p>
            <a:r>
              <a:rPr lang="en-US" sz="1600" dirty="0">
                <a:latin typeface="Georgia" panose="02040502050405020303" pitchFamily="18" charset="0"/>
              </a:rPr>
              <a:t>static float lut3[NUMTEMPS][2] = {</a:t>
            </a:r>
          </a:p>
          <a:p>
            <a:r>
              <a:rPr lang="en-US" sz="1600" dirty="0">
                <a:latin typeface="Georgia" panose="02040502050405020303" pitchFamily="18" charset="0"/>
              </a:rPr>
              <a:t>  {494, 0},</a:t>
            </a:r>
          </a:p>
          <a:p>
            <a:r>
              <a:rPr lang="en-US" sz="1600" dirty="0">
                <a:latin typeface="Georgia" panose="02040502050405020303" pitchFamily="18" charset="0"/>
              </a:rPr>
              <a:t>  {495.1, 0.5},</a:t>
            </a:r>
          </a:p>
          <a:p>
            <a:r>
              <a:rPr lang="en-US" sz="1600" dirty="0">
                <a:latin typeface="Georgia" panose="02040502050405020303" pitchFamily="18" charset="0"/>
              </a:rPr>
              <a:t>  {498.0, 1},</a:t>
            </a:r>
          </a:p>
          <a:p>
            <a:r>
              <a:rPr lang="en-US" sz="1600" dirty="0">
                <a:latin typeface="Georgia" panose="02040502050405020303" pitchFamily="18" charset="0"/>
              </a:rPr>
              <a:t>  {512.8, 2.5}</a:t>
            </a:r>
          </a:p>
          <a:p>
            <a:r>
              <a:rPr lang="en-US" sz="1600" dirty="0">
                <a:latin typeface="Georgia" panose="02040502050405020303" pitchFamily="18" charset="0"/>
              </a:rPr>
              <a:t>};</a:t>
            </a:r>
          </a:p>
          <a:p>
            <a:endParaRPr lang="en-US" sz="1600" dirty="0">
              <a:latin typeface="Georgia" panose="02040502050405020303" pitchFamily="18" charset="0"/>
            </a:endParaRPr>
          </a:p>
          <a:p>
            <a:r>
              <a:rPr lang="en-US" sz="1600" dirty="0">
                <a:latin typeface="Georgia" panose="02040502050405020303" pitchFamily="18" charset="0"/>
              </a:rPr>
              <a:t>float </a:t>
            </a:r>
            <a:r>
              <a:rPr lang="en-US" sz="1600" dirty="0" err="1">
                <a:latin typeface="Georgia" panose="02040502050405020303" pitchFamily="18" charset="0"/>
              </a:rPr>
              <a:t>sensbuf</a:t>
            </a:r>
            <a:r>
              <a:rPr lang="en-US" sz="1600" dirty="0">
                <a:latin typeface="Georgia" panose="02040502050405020303" pitchFamily="18" charset="0"/>
              </a:rPr>
              <a:t> = lut3[0][0]; // Initialize smoothed buffer</a:t>
            </a:r>
          </a:p>
        </p:txBody>
      </p:sp>
    </p:spTree>
    <p:extLst>
      <p:ext uri="{BB962C8B-B14F-4D97-AF65-F5344CB8AC3E}">
        <p14:creationId xmlns:p14="http://schemas.microsoft.com/office/powerpoint/2010/main" val="337267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6FD56-1DAA-720D-0D0A-09B75E8B8B39}"/>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F7D50829-1037-66E6-B7E6-87AA57CA153E}"/>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563BAF79-9413-E70F-21BD-BE22F1747443}"/>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30CE2186-983D-5172-AF3D-456A352DA309}"/>
              </a:ext>
            </a:extLst>
          </p:cNvPr>
          <p:cNvSpPr txBox="1"/>
          <p:nvPr/>
        </p:nvSpPr>
        <p:spPr>
          <a:xfrm>
            <a:off x="3006539" y="914400"/>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Arduino code</a:t>
            </a:r>
          </a:p>
        </p:txBody>
      </p:sp>
      <p:sp>
        <p:nvSpPr>
          <p:cNvPr id="6" name="TextBox 5">
            <a:extLst>
              <a:ext uri="{FF2B5EF4-FFF2-40B4-BE49-F238E27FC236}">
                <a16:creationId xmlns:a16="http://schemas.microsoft.com/office/drawing/2014/main" id="{558932E6-8953-7A93-4739-ABDABDE52656}"/>
              </a:ext>
            </a:extLst>
          </p:cNvPr>
          <p:cNvSpPr txBox="1"/>
          <p:nvPr/>
        </p:nvSpPr>
        <p:spPr>
          <a:xfrm>
            <a:off x="914400" y="1634382"/>
            <a:ext cx="11397807" cy="5016758"/>
          </a:xfrm>
          <a:prstGeom prst="rect">
            <a:avLst/>
          </a:prstGeom>
          <a:noFill/>
        </p:spPr>
        <p:txBody>
          <a:bodyPr wrap="square" rtlCol="0">
            <a:spAutoFit/>
          </a:bodyPr>
          <a:lstStyle/>
          <a:p>
            <a:r>
              <a:rPr lang="en-US" sz="1600" dirty="0">
                <a:latin typeface="Georgia" panose="02040502050405020303" pitchFamily="18" charset="0"/>
              </a:rPr>
              <a:t>// --- Target Control Variables ---</a:t>
            </a:r>
          </a:p>
          <a:p>
            <a:r>
              <a:rPr lang="en-US" sz="1600" dirty="0">
                <a:latin typeface="Georgia" panose="02040502050405020303" pitchFamily="18" charset="0"/>
              </a:rPr>
              <a:t>float </a:t>
            </a:r>
            <a:r>
              <a:rPr lang="en-US" sz="1600" dirty="0" err="1">
                <a:latin typeface="Georgia" panose="02040502050405020303" pitchFamily="18" charset="0"/>
              </a:rPr>
              <a:t>targetTemp</a:t>
            </a:r>
            <a:r>
              <a:rPr lang="en-US" sz="1600" dirty="0">
                <a:latin typeface="Georgia" panose="02040502050405020303" pitchFamily="18" charset="0"/>
              </a:rPr>
              <a:t> = 190;</a:t>
            </a:r>
          </a:p>
          <a:p>
            <a:r>
              <a:rPr lang="en-US" sz="1600" dirty="0">
                <a:latin typeface="Georgia" panose="02040502050405020303" pitchFamily="18" charset="0"/>
              </a:rPr>
              <a:t>float </a:t>
            </a:r>
            <a:r>
              <a:rPr lang="en-US" sz="1600" dirty="0" err="1">
                <a:latin typeface="Georgia" panose="02040502050405020303" pitchFamily="18" charset="0"/>
              </a:rPr>
              <a:t>targetDiameter</a:t>
            </a:r>
            <a:r>
              <a:rPr lang="en-US" sz="1600" dirty="0">
                <a:latin typeface="Georgia" panose="02040502050405020303" pitchFamily="18" charset="0"/>
              </a:rPr>
              <a:t> = 1.75;</a:t>
            </a:r>
          </a:p>
          <a:p>
            <a:endParaRPr lang="en-US" sz="1600" dirty="0">
              <a:latin typeface="Georgia" panose="02040502050405020303" pitchFamily="18" charset="0"/>
            </a:endParaRPr>
          </a:p>
          <a:p>
            <a:r>
              <a:rPr lang="en-US" sz="1600" dirty="0">
                <a:latin typeface="Georgia" panose="02040502050405020303" pitchFamily="18" charset="0"/>
              </a:rPr>
              <a:t>int </a:t>
            </a:r>
            <a:r>
              <a:rPr lang="en-US" sz="1600" dirty="0" err="1">
                <a:latin typeface="Georgia" panose="02040502050405020303" pitchFamily="18" charset="0"/>
              </a:rPr>
              <a:t>baseSpeed</a:t>
            </a:r>
            <a:r>
              <a:rPr lang="en-US" sz="1600" dirty="0">
                <a:latin typeface="Georgia" panose="02040502050405020303" pitchFamily="18" charset="0"/>
              </a:rPr>
              <a:t> = 150;</a:t>
            </a:r>
          </a:p>
          <a:p>
            <a:r>
              <a:rPr lang="en-US" sz="1600" dirty="0">
                <a:latin typeface="Georgia" panose="02040502050405020303" pitchFamily="18" charset="0"/>
              </a:rPr>
              <a:t>int </a:t>
            </a:r>
            <a:r>
              <a:rPr lang="en-US" sz="1600" dirty="0" err="1">
                <a:latin typeface="Georgia" panose="02040502050405020303" pitchFamily="18" charset="0"/>
              </a:rPr>
              <a:t>pullerSpeed</a:t>
            </a:r>
            <a:r>
              <a:rPr lang="en-US" sz="1600" dirty="0">
                <a:latin typeface="Georgia" panose="02040502050405020303" pitchFamily="18" charset="0"/>
              </a:rPr>
              <a:t> = </a:t>
            </a:r>
            <a:r>
              <a:rPr lang="en-US" sz="1600" dirty="0" err="1">
                <a:latin typeface="Georgia" panose="02040502050405020303" pitchFamily="18" charset="0"/>
              </a:rPr>
              <a:t>baseSpeed</a:t>
            </a:r>
            <a:r>
              <a:rPr lang="en-US" sz="1600" dirty="0">
                <a:latin typeface="Georgia" panose="02040502050405020303" pitchFamily="18" charset="0"/>
              </a:rPr>
              <a:t>;</a:t>
            </a:r>
          </a:p>
          <a:p>
            <a:endParaRPr lang="en-US" sz="1600" dirty="0">
              <a:latin typeface="Georgia" panose="02040502050405020303" pitchFamily="18" charset="0"/>
            </a:endParaRPr>
          </a:p>
          <a:p>
            <a:r>
              <a:rPr lang="en-US" sz="1600" dirty="0">
                <a:latin typeface="Georgia" panose="02040502050405020303" pitchFamily="18" charset="0"/>
              </a:rPr>
              <a:t>// --- Variables for LCD display timing &amp; state ---</a:t>
            </a:r>
          </a:p>
          <a:p>
            <a:r>
              <a:rPr lang="en-US" sz="1600" dirty="0">
                <a:latin typeface="Georgia" panose="02040502050405020303" pitchFamily="18" charset="0"/>
              </a:rPr>
              <a:t>unsigned long </a:t>
            </a:r>
            <a:r>
              <a:rPr lang="en-US" sz="1600" dirty="0" err="1">
                <a:latin typeface="Georgia" panose="02040502050405020303" pitchFamily="18" charset="0"/>
              </a:rPr>
              <a:t>lastLcdUpdateTime</a:t>
            </a:r>
            <a:r>
              <a:rPr lang="en-US" sz="1600" dirty="0">
                <a:latin typeface="Georgia" panose="02040502050405020303" pitchFamily="18" charset="0"/>
              </a:rPr>
              <a:t> = 0;</a:t>
            </a:r>
          </a:p>
          <a:p>
            <a:r>
              <a:rPr lang="en-US" sz="1600" dirty="0">
                <a:latin typeface="Georgia" panose="02040502050405020303" pitchFamily="18" charset="0"/>
              </a:rPr>
              <a:t>// * Adjust LCD Update Speed Here (milliseconds) *</a:t>
            </a:r>
          </a:p>
          <a:p>
            <a:r>
              <a:rPr lang="en-US" sz="1600" dirty="0">
                <a:latin typeface="Georgia" panose="02040502050405020303" pitchFamily="18" charset="0"/>
              </a:rPr>
              <a:t>const unsigned long </a:t>
            </a:r>
            <a:r>
              <a:rPr lang="en-US" sz="1600" dirty="0" err="1">
                <a:latin typeface="Georgia" panose="02040502050405020303" pitchFamily="18" charset="0"/>
              </a:rPr>
              <a:t>lcdUpdateInterval</a:t>
            </a:r>
            <a:r>
              <a:rPr lang="en-US" sz="1600" dirty="0">
                <a:latin typeface="Georgia" panose="02040502050405020303" pitchFamily="18" charset="0"/>
              </a:rPr>
              <a:t> = 1500; // Update LCD every 1.5 seconds (change as needed)</a:t>
            </a:r>
          </a:p>
          <a:p>
            <a:endParaRPr lang="en-US" sz="1600" dirty="0">
              <a:latin typeface="Georgia" panose="02040502050405020303" pitchFamily="18" charset="0"/>
            </a:endParaRPr>
          </a:p>
          <a:p>
            <a:r>
              <a:rPr lang="en-US" sz="1600" dirty="0">
                <a:latin typeface="Georgia" panose="02040502050405020303" pitchFamily="18" charset="0"/>
              </a:rPr>
              <a:t>String </a:t>
            </a:r>
            <a:r>
              <a:rPr lang="en-US" sz="1600" dirty="0" err="1">
                <a:latin typeface="Georgia" panose="02040502050405020303" pitchFamily="18" charset="0"/>
              </a:rPr>
              <a:t>lastStatusMessage</a:t>
            </a:r>
            <a:r>
              <a:rPr lang="en-US" sz="1600" dirty="0">
                <a:latin typeface="Georgia" panose="02040502050405020303" pitchFamily="18" charset="0"/>
              </a:rPr>
              <a:t> = "";</a:t>
            </a:r>
          </a:p>
          <a:p>
            <a:r>
              <a:rPr lang="en-US" sz="1600" dirty="0">
                <a:latin typeface="Georgia" panose="02040502050405020303" pitchFamily="18" charset="0"/>
              </a:rPr>
              <a:t>bool </a:t>
            </a:r>
            <a:r>
              <a:rPr lang="en-US" sz="1600" dirty="0" err="1">
                <a:latin typeface="Georgia" panose="02040502050405020303" pitchFamily="18" charset="0"/>
              </a:rPr>
              <a:t>showStatusOnLcd</a:t>
            </a:r>
            <a:r>
              <a:rPr lang="en-US" sz="1600" dirty="0">
                <a:latin typeface="Georgia" panose="02040502050405020303" pitchFamily="18" charset="0"/>
              </a:rPr>
              <a:t> = false; // Flag to alternate LCD line 2</a:t>
            </a:r>
          </a:p>
          <a:p>
            <a:endParaRPr lang="en-US" sz="1600" dirty="0">
              <a:latin typeface="Georgia" panose="02040502050405020303" pitchFamily="18" charset="0"/>
            </a:endParaRPr>
          </a:p>
          <a:p>
            <a:r>
              <a:rPr lang="en-US" sz="1600" dirty="0">
                <a:latin typeface="Georgia" panose="02040502050405020303" pitchFamily="18" charset="0"/>
              </a:rPr>
              <a:t>void setup() {</a:t>
            </a:r>
          </a:p>
          <a:p>
            <a:r>
              <a:rPr lang="en-US" sz="1600" dirty="0">
                <a:latin typeface="Georgia" panose="02040502050405020303" pitchFamily="18" charset="0"/>
              </a:rPr>
              <a:t>  </a:t>
            </a:r>
            <a:r>
              <a:rPr lang="en-US" sz="1600" dirty="0" err="1">
                <a:latin typeface="Georgia" panose="02040502050405020303" pitchFamily="18" charset="0"/>
              </a:rPr>
              <a:t>Serial.begin</a:t>
            </a:r>
            <a:r>
              <a:rPr lang="en-US" sz="1600" dirty="0">
                <a:latin typeface="Georgia" panose="02040502050405020303" pitchFamily="18" charset="0"/>
              </a:rPr>
              <a:t>(9600);</a:t>
            </a:r>
          </a:p>
          <a:p>
            <a:r>
              <a:rPr lang="en-US" sz="1600" dirty="0">
                <a:latin typeface="Georgia" panose="02040502050405020303" pitchFamily="18" charset="0"/>
              </a:rPr>
              <a:t>  // </a:t>
            </a:r>
            <a:r>
              <a:rPr lang="en-US" sz="1600" dirty="0" err="1">
                <a:latin typeface="Georgia" panose="02040502050405020303" pitchFamily="18" charset="0"/>
              </a:rPr>
              <a:t>Serial.println</a:t>
            </a:r>
            <a:r>
              <a:rPr lang="en-US" sz="1600" dirty="0">
                <a:latin typeface="Georgia" panose="02040502050405020303" pitchFamily="18" charset="0"/>
              </a:rPr>
              <a:t>("Smart Extrusion System Initializing..."); // Optional: Keep or remove</a:t>
            </a:r>
          </a:p>
          <a:p>
            <a:r>
              <a:rPr lang="en-US" sz="1600" dirty="0">
                <a:latin typeface="Georgia" panose="02040502050405020303" pitchFamily="18" charset="0"/>
              </a:rPr>
              <a:t>  // </a:t>
            </a:r>
            <a:r>
              <a:rPr lang="en-US" sz="1600" dirty="0" err="1">
                <a:latin typeface="Georgia" panose="02040502050405020303" pitchFamily="18" charset="0"/>
              </a:rPr>
              <a:t>Serial.println</a:t>
            </a:r>
            <a:r>
              <a:rPr lang="en-US" sz="1600" dirty="0">
                <a:latin typeface="Georgia" panose="02040502050405020303" pitchFamily="18" charset="0"/>
              </a:rPr>
              <a:t>("Initialization Complete."); // Optional: Keep or remove</a:t>
            </a:r>
          </a:p>
          <a:p>
            <a:r>
              <a:rPr lang="en-US" sz="1600" dirty="0">
                <a:latin typeface="Georgia" panose="02040502050405020303" pitchFamily="18" charset="0"/>
              </a:rPr>
              <a:t> </a:t>
            </a:r>
          </a:p>
        </p:txBody>
      </p:sp>
    </p:spTree>
    <p:extLst>
      <p:ext uri="{BB962C8B-B14F-4D97-AF65-F5344CB8AC3E}">
        <p14:creationId xmlns:p14="http://schemas.microsoft.com/office/powerpoint/2010/main" val="2995596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85803-593C-8CC8-CE54-E73CDB2DF717}"/>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81D70902-E260-1AEB-1375-FFF28A98768D}"/>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EBA0C6CE-C621-059D-E000-568FB6AE9168}"/>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D60B421F-78FB-8429-ABE7-550C2B5690CC}"/>
              </a:ext>
            </a:extLst>
          </p:cNvPr>
          <p:cNvSpPr txBox="1"/>
          <p:nvPr/>
        </p:nvSpPr>
        <p:spPr>
          <a:xfrm>
            <a:off x="3006539" y="914400"/>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Arduino code</a:t>
            </a:r>
          </a:p>
        </p:txBody>
      </p:sp>
      <p:sp>
        <p:nvSpPr>
          <p:cNvPr id="6" name="TextBox 5">
            <a:extLst>
              <a:ext uri="{FF2B5EF4-FFF2-40B4-BE49-F238E27FC236}">
                <a16:creationId xmlns:a16="http://schemas.microsoft.com/office/drawing/2014/main" id="{8891DEF6-4453-A548-2599-12C9B8C7EB62}"/>
              </a:ext>
            </a:extLst>
          </p:cNvPr>
          <p:cNvSpPr txBox="1"/>
          <p:nvPr/>
        </p:nvSpPr>
        <p:spPr>
          <a:xfrm>
            <a:off x="914400" y="1634382"/>
            <a:ext cx="11397807" cy="5016758"/>
          </a:xfrm>
          <a:prstGeom prst="rect">
            <a:avLst/>
          </a:prstGeom>
          <a:noFill/>
        </p:spPr>
        <p:txBody>
          <a:bodyPr wrap="square" rtlCol="0">
            <a:spAutoFit/>
          </a:bodyPr>
          <a:lstStyle/>
          <a:p>
            <a:endParaRPr lang="en-US" sz="1600" dirty="0">
              <a:latin typeface="Georgia" panose="02040502050405020303" pitchFamily="18" charset="0"/>
            </a:endParaRPr>
          </a:p>
          <a:p>
            <a:r>
              <a:rPr lang="en-US" sz="1600" dirty="0">
                <a:latin typeface="Georgia" panose="02040502050405020303" pitchFamily="18" charset="0"/>
              </a:rPr>
              <a:t>// Initialize LCD</a:t>
            </a:r>
          </a:p>
          <a:p>
            <a:r>
              <a:rPr lang="en-US" sz="1600" dirty="0">
                <a:latin typeface="Georgia" panose="02040502050405020303" pitchFamily="18" charset="0"/>
              </a:rPr>
              <a:t>  </a:t>
            </a:r>
            <a:r>
              <a:rPr lang="en-US" sz="1600" dirty="0" err="1">
                <a:latin typeface="Georgia" panose="02040502050405020303" pitchFamily="18" charset="0"/>
              </a:rPr>
              <a:t>lcd.init</a:t>
            </a:r>
            <a:r>
              <a:rPr lang="en-US" sz="1600" dirty="0">
                <a:latin typeface="Georgia" panose="02040502050405020303" pitchFamily="18" charset="0"/>
              </a:rPr>
              <a:t>(); // Initialize the LCD</a:t>
            </a:r>
          </a:p>
          <a:p>
            <a:r>
              <a:rPr lang="en-US" sz="1600" dirty="0">
                <a:latin typeface="Georgia" panose="02040502050405020303" pitchFamily="18" charset="0"/>
              </a:rPr>
              <a:t>  </a:t>
            </a:r>
            <a:r>
              <a:rPr lang="en-US" sz="1600" dirty="0" err="1">
                <a:latin typeface="Georgia" panose="02040502050405020303" pitchFamily="18" charset="0"/>
              </a:rPr>
              <a:t>lcd.backlight</a:t>
            </a:r>
            <a:r>
              <a:rPr lang="en-US" sz="1600" dirty="0">
                <a:latin typeface="Georgia" panose="02040502050405020303" pitchFamily="18" charset="0"/>
              </a:rPr>
              <a:t>(); // Turn on the backlight</a:t>
            </a:r>
          </a:p>
          <a:p>
            <a:r>
              <a:rPr lang="en-US" sz="1600" dirty="0">
                <a:latin typeface="Georgia" panose="02040502050405020303" pitchFamily="18" charset="0"/>
              </a:rPr>
              <a:t>  </a:t>
            </a:r>
            <a:r>
              <a:rPr lang="en-US" sz="1600" dirty="0" err="1">
                <a:latin typeface="Georgia" panose="02040502050405020303" pitchFamily="18" charset="0"/>
              </a:rPr>
              <a:t>lcd.setCursor</a:t>
            </a:r>
            <a:r>
              <a:rPr lang="en-US" sz="1600" dirty="0">
                <a:latin typeface="Georgia" panose="02040502050405020303" pitchFamily="18" charset="0"/>
              </a:rPr>
              <a:t>(0, 0);</a:t>
            </a:r>
          </a:p>
          <a:p>
            <a:r>
              <a:rPr lang="en-US" sz="1600" dirty="0">
                <a:latin typeface="Georgia" panose="02040502050405020303" pitchFamily="18" charset="0"/>
              </a:rPr>
              <a:t>  </a:t>
            </a:r>
            <a:r>
              <a:rPr lang="en-US" sz="1600" dirty="0" err="1">
                <a:latin typeface="Georgia" panose="02040502050405020303" pitchFamily="18" charset="0"/>
              </a:rPr>
              <a:t>lcd.print</a:t>
            </a:r>
            <a:r>
              <a:rPr lang="en-US" sz="1600" dirty="0">
                <a:latin typeface="Georgia" panose="02040502050405020303" pitchFamily="18" charset="0"/>
              </a:rPr>
              <a:t>("Initializing...");</a:t>
            </a:r>
          </a:p>
          <a:p>
            <a:endParaRPr lang="en-US" sz="1600" dirty="0">
              <a:latin typeface="Georgia" panose="02040502050405020303" pitchFamily="18" charset="0"/>
            </a:endParaRPr>
          </a:p>
          <a:p>
            <a:r>
              <a:rPr lang="en-US" sz="1600" dirty="0">
                <a:latin typeface="Georgia" panose="02040502050405020303" pitchFamily="18" charset="0"/>
              </a:rPr>
              <a:t>  // Initialize Pins</a:t>
            </a:r>
          </a:p>
          <a:p>
            <a:r>
              <a:rPr lang="en-US" sz="1600" dirty="0">
                <a:latin typeface="Georgia" panose="02040502050405020303" pitchFamily="18" charset="0"/>
              </a:rPr>
              <a:t>  </a:t>
            </a:r>
            <a:r>
              <a:rPr lang="en-US" sz="1600" dirty="0" err="1">
                <a:latin typeface="Georgia" panose="02040502050405020303" pitchFamily="18" charset="0"/>
              </a:rPr>
              <a:t>pinMode</a:t>
            </a:r>
            <a:r>
              <a:rPr lang="en-US" sz="1600" dirty="0">
                <a:latin typeface="Georgia" panose="02040502050405020303" pitchFamily="18" charset="0"/>
              </a:rPr>
              <a:t>(</a:t>
            </a:r>
            <a:r>
              <a:rPr lang="en-US" sz="1600" dirty="0" err="1">
                <a:latin typeface="Georgia" panose="02040502050405020303" pitchFamily="18" charset="0"/>
              </a:rPr>
              <a:t>heaterRelay</a:t>
            </a:r>
            <a:r>
              <a:rPr lang="en-US" sz="1600" dirty="0">
                <a:latin typeface="Georgia" panose="02040502050405020303" pitchFamily="18" charset="0"/>
              </a:rPr>
              <a:t>, OUTPUT);</a:t>
            </a:r>
          </a:p>
          <a:p>
            <a:r>
              <a:rPr lang="en-US" sz="1600" dirty="0">
                <a:latin typeface="Georgia" panose="02040502050405020303" pitchFamily="18" charset="0"/>
              </a:rPr>
              <a:t>  </a:t>
            </a:r>
            <a:r>
              <a:rPr lang="en-US" sz="1600" dirty="0" err="1">
                <a:latin typeface="Georgia" panose="02040502050405020303" pitchFamily="18" charset="0"/>
              </a:rPr>
              <a:t>pinMode</a:t>
            </a:r>
            <a:r>
              <a:rPr lang="en-US" sz="1600" dirty="0">
                <a:latin typeface="Georgia" panose="02040502050405020303" pitchFamily="18" charset="0"/>
              </a:rPr>
              <a:t>(in1, OUTPUT); </a:t>
            </a:r>
            <a:r>
              <a:rPr lang="en-US" sz="1600" dirty="0" err="1">
                <a:latin typeface="Georgia" panose="02040502050405020303" pitchFamily="18" charset="0"/>
              </a:rPr>
              <a:t>pinMode</a:t>
            </a:r>
            <a:r>
              <a:rPr lang="en-US" sz="1600" dirty="0">
                <a:latin typeface="Georgia" panose="02040502050405020303" pitchFamily="18" charset="0"/>
              </a:rPr>
              <a:t>(in2, OUTPUT);</a:t>
            </a:r>
          </a:p>
          <a:p>
            <a:r>
              <a:rPr lang="en-US" sz="1600" dirty="0">
                <a:latin typeface="Georgia" panose="02040502050405020303" pitchFamily="18" charset="0"/>
              </a:rPr>
              <a:t>  </a:t>
            </a:r>
            <a:r>
              <a:rPr lang="en-US" sz="1600" dirty="0" err="1">
                <a:latin typeface="Georgia" panose="02040502050405020303" pitchFamily="18" charset="0"/>
              </a:rPr>
              <a:t>pinMode</a:t>
            </a:r>
            <a:r>
              <a:rPr lang="en-US" sz="1600" dirty="0">
                <a:latin typeface="Georgia" panose="02040502050405020303" pitchFamily="18" charset="0"/>
              </a:rPr>
              <a:t>(in3, OUTPUT); </a:t>
            </a:r>
            <a:r>
              <a:rPr lang="en-US" sz="1600" dirty="0" err="1">
                <a:latin typeface="Georgia" panose="02040502050405020303" pitchFamily="18" charset="0"/>
              </a:rPr>
              <a:t>pinMode</a:t>
            </a:r>
            <a:r>
              <a:rPr lang="en-US" sz="1600" dirty="0">
                <a:latin typeface="Georgia" panose="02040502050405020303" pitchFamily="18" charset="0"/>
              </a:rPr>
              <a:t>(in4, OUTPUT);</a:t>
            </a:r>
          </a:p>
          <a:p>
            <a:endParaRPr lang="en-US" sz="1600" dirty="0">
              <a:latin typeface="Georgia" panose="02040502050405020303" pitchFamily="18" charset="0"/>
            </a:endParaRPr>
          </a:p>
          <a:p>
            <a:r>
              <a:rPr lang="en-US" sz="1600" dirty="0">
                <a:latin typeface="Georgia" panose="02040502050405020303" pitchFamily="18" charset="0"/>
              </a:rPr>
              <a:t>  // Set motors to forward initially</a:t>
            </a:r>
          </a:p>
          <a:p>
            <a:r>
              <a:rPr lang="en-US" sz="1600" dirty="0">
                <a:latin typeface="Georgia" panose="02040502050405020303" pitchFamily="18" charset="0"/>
              </a:rPr>
              <a:t>  </a:t>
            </a:r>
            <a:r>
              <a:rPr lang="en-US" sz="1600" dirty="0" err="1">
                <a:latin typeface="Georgia" panose="02040502050405020303" pitchFamily="18" charset="0"/>
              </a:rPr>
              <a:t>digitalWrite</a:t>
            </a:r>
            <a:r>
              <a:rPr lang="en-US" sz="1600" dirty="0">
                <a:latin typeface="Georgia" panose="02040502050405020303" pitchFamily="18" charset="0"/>
              </a:rPr>
              <a:t>(in1, HIGH); </a:t>
            </a:r>
            <a:r>
              <a:rPr lang="en-US" sz="1600" dirty="0" err="1">
                <a:latin typeface="Georgia" panose="02040502050405020303" pitchFamily="18" charset="0"/>
              </a:rPr>
              <a:t>digitalWrite</a:t>
            </a:r>
            <a:r>
              <a:rPr lang="en-US" sz="1600" dirty="0">
                <a:latin typeface="Georgia" panose="02040502050405020303" pitchFamily="18" charset="0"/>
              </a:rPr>
              <a:t>(in2, LOW);</a:t>
            </a:r>
          </a:p>
          <a:p>
            <a:r>
              <a:rPr lang="en-US" sz="1600" dirty="0">
                <a:latin typeface="Georgia" panose="02040502050405020303" pitchFamily="18" charset="0"/>
              </a:rPr>
              <a:t>  </a:t>
            </a:r>
            <a:r>
              <a:rPr lang="en-US" sz="1600" dirty="0" err="1">
                <a:latin typeface="Georgia" panose="02040502050405020303" pitchFamily="18" charset="0"/>
              </a:rPr>
              <a:t>digitalWrite</a:t>
            </a:r>
            <a:r>
              <a:rPr lang="en-US" sz="1600" dirty="0">
                <a:latin typeface="Georgia" panose="02040502050405020303" pitchFamily="18" charset="0"/>
              </a:rPr>
              <a:t>(in3, HIGH); </a:t>
            </a:r>
            <a:r>
              <a:rPr lang="en-US" sz="1600" dirty="0" err="1">
                <a:latin typeface="Georgia" panose="02040502050405020303" pitchFamily="18" charset="0"/>
              </a:rPr>
              <a:t>digitalWrite</a:t>
            </a:r>
            <a:r>
              <a:rPr lang="en-US" sz="1600" dirty="0">
                <a:latin typeface="Georgia" panose="02040502050405020303" pitchFamily="18" charset="0"/>
              </a:rPr>
              <a:t>(in4, LOW);</a:t>
            </a:r>
          </a:p>
          <a:p>
            <a:endParaRPr lang="en-US" sz="1600" dirty="0">
              <a:latin typeface="Georgia" panose="02040502050405020303" pitchFamily="18" charset="0"/>
            </a:endParaRPr>
          </a:p>
          <a:p>
            <a:r>
              <a:rPr lang="en-US" sz="1600" dirty="0">
                <a:latin typeface="Georgia" panose="02040502050405020303" pitchFamily="18" charset="0"/>
              </a:rPr>
              <a:t>  delay(1000); // Wait a bit for sensors to stabilize</a:t>
            </a:r>
          </a:p>
          <a:p>
            <a:r>
              <a:rPr lang="en-US" sz="1600" dirty="0">
                <a:latin typeface="Georgia" panose="02040502050405020303" pitchFamily="18" charset="0"/>
              </a:rPr>
              <a:t>  </a:t>
            </a:r>
            <a:r>
              <a:rPr lang="en-US" sz="1600" dirty="0" err="1">
                <a:latin typeface="Georgia" panose="02040502050405020303" pitchFamily="18" charset="0"/>
              </a:rPr>
              <a:t>lcd.clear</a:t>
            </a:r>
            <a:r>
              <a:rPr lang="en-US" sz="1600" dirty="0">
                <a:latin typeface="Georgia" panose="02040502050405020303" pitchFamily="18" charset="0"/>
              </a:rPr>
              <a:t>();</a:t>
            </a:r>
          </a:p>
          <a:p>
            <a:r>
              <a:rPr lang="en-US" sz="1600" dirty="0">
                <a:latin typeface="Georgia" panose="02040502050405020303" pitchFamily="18" charset="0"/>
              </a:rPr>
              <a:t>}</a:t>
            </a:r>
          </a:p>
          <a:p>
            <a:endParaRPr lang="en-US" sz="1600" dirty="0">
              <a:latin typeface="Georgia" panose="02040502050405020303" pitchFamily="18" charset="0"/>
            </a:endParaRPr>
          </a:p>
        </p:txBody>
      </p:sp>
    </p:spTree>
    <p:extLst>
      <p:ext uri="{BB962C8B-B14F-4D97-AF65-F5344CB8AC3E}">
        <p14:creationId xmlns:p14="http://schemas.microsoft.com/office/powerpoint/2010/main" val="1774544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CFAB6-B0B8-7612-260F-246764FE19D0}"/>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74181352-A134-4D06-E4BD-44821B80038B}"/>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D01B38B0-55F7-72CC-8D4B-C7218D7887F9}"/>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5BCA7D5D-54E7-3457-C45D-02FF89E39BD3}"/>
              </a:ext>
            </a:extLst>
          </p:cNvPr>
          <p:cNvSpPr txBox="1"/>
          <p:nvPr/>
        </p:nvSpPr>
        <p:spPr>
          <a:xfrm>
            <a:off x="3006539" y="914400"/>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Arduino code</a:t>
            </a:r>
          </a:p>
        </p:txBody>
      </p:sp>
      <p:sp>
        <p:nvSpPr>
          <p:cNvPr id="6" name="TextBox 5">
            <a:extLst>
              <a:ext uri="{FF2B5EF4-FFF2-40B4-BE49-F238E27FC236}">
                <a16:creationId xmlns:a16="http://schemas.microsoft.com/office/drawing/2014/main" id="{BA64F51E-4915-093C-E829-99CC10D16ED1}"/>
              </a:ext>
            </a:extLst>
          </p:cNvPr>
          <p:cNvSpPr txBox="1"/>
          <p:nvPr/>
        </p:nvSpPr>
        <p:spPr>
          <a:xfrm>
            <a:off x="914400" y="1545894"/>
            <a:ext cx="11397807" cy="5262979"/>
          </a:xfrm>
          <a:prstGeom prst="rect">
            <a:avLst/>
          </a:prstGeom>
          <a:noFill/>
        </p:spPr>
        <p:txBody>
          <a:bodyPr wrap="square" rtlCol="0">
            <a:spAutoFit/>
          </a:bodyPr>
          <a:lstStyle/>
          <a:p>
            <a:r>
              <a:rPr lang="en-US" sz="1600" dirty="0">
                <a:latin typeface="Georgia" panose="02040502050405020303" pitchFamily="18" charset="0"/>
              </a:rPr>
              <a:t>void loop() {</a:t>
            </a:r>
          </a:p>
          <a:p>
            <a:r>
              <a:rPr lang="en-US" sz="1600" dirty="0">
                <a:latin typeface="Georgia" panose="02040502050405020303" pitchFamily="18" charset="0"/>
              </a:rPr>
              <a:t>  // Read current temperature</a:t>
            </a:r>
          </a:p>
          <a:p>
            <a:r>
              <a:rPr lang="en-US" sz="1600" dirty="0">
                <a:latin typeface="Georgia" panose="02040502050405020303" pitchFamily="18" charset="0"/>
              </a:rPr>
              <a:t>   float </a:t>
            </a:r>
            <a:r>
              <a:rPr lang="en-US" sz="1600" dirty="0" err="1">
                <a:latin typeface="Georgia" panose="02040502050405020303" pitchFamily="18" charset="0"/>
              </a:rPr>
              <a:t>currentTemp</a:t>
            </a:r>
            <a:r>
              <a:rPr lang="en-US" sz="1600" dirty="0">
                <a:latin typeface="Georgia" panose="02040502050405020303" pitchFamily="18" charset="0"/>
              </a:rPr>
              <a:t> = </a:t>
            </a:r>
            <a:r>
              <a:rPr lang="en-US" sz="1600" dirty="0" err="1">
                <a:latin typeface="Georgia" panose="02040502050405020303" pitchFamily="18" charset="0"/>
              </a:rPr>
              <a:t>thermocouple.readCelsius</a:t>
            </a:r>
            <a:r>
              <a:rPr lang="en-US" sz="1600" dirty="0">
                <a:latin typeface="Georgia" panose="02040502050405020303" pitchFamily="18" charset="0"/>
              </a:rPr>
              <a:t>();</a:t>
            </a:r>
          </a:p>
          <a:p>
            <a:endParaRPr lang="en-US" sz="1600" dirty="0">
              <a:latin typeface="Georgia" panose="02040502050405020303" pitchFamily="18" charset="0"/>
            </a:endParaRPr>
          </a:p>
          <a:p>
            <a:r>
              <a:rPr lang="en-US" sz="1600" dirty="0">
                <a:latin typeface="Georgia" panose="02040502050405020303" pitchFamily="18" charset="0"/>
              </a:rPr>
              <a:t>  // Heater ON/OFF Control (Bang-Bang)</a:t>
            </a:r>
          </a:p>
          <a:p>
            <a:r>
              <a:rPr lang="en-US" sz="1600" dirty="0">
                <a:latin typeface="Georgia" panose="02040502050405020303" pitchFamily="18" charset="0"/>
              </a:rPr>
              <a:t>  if (</a:t>
            </a:r>
            <a:r>
              <a:rPr lang="en-US" sz="1600" dirty="0" err="1">
                <a:latin typeface="Georgia" panose="02040502050405020303" pitchFamily="18" charset="0"/>
              </a:rPr>
              <a:t>currentTemp</a:t>
            </a:r>
            <a:r>
              <a:rPr lang="en-US" sz="1600" dirty="0">
                <a:latin typeface="Georgia" panose="02040502050405020303" pitchFamily="18" charset="0"/>
              </a:rPr>
              <a:t> &lt; </a:t>
            </a:r>
            <a:r>
              <a:rPr lang="en-US" sz="1600" dirty="0" err="1">
                <a:latin typeface="Georgia" panose="02040502050405020303" pitchFamily="18" charset="0"/>
              </a:rPr>
              <a:t>targetTemp</a:t>
            </a:r>
            <a:r>
              <a:rPr lang="en-US" sz="1600" dirty="0">
                <a:latin typeface="Georgia" panose="02040502050405020303" pitchFamily="18" charset="0"/>
              </a:rPr>
              <a:t> - 5) {</a:t>
            </a:r>
          </a:p>
          <a:p>
            <a:r>
              <a:rPr lang="en-US" sz="1600" dirty="0">
                <a:latin typeface="Georgia" panose="02040502050405020303" pitchFamily="18" charset="0"/>
              </a:rPr>
              <a:t>    </a:t>
            </a:r>
            <a:r>
              <a:rPr lang="en-US" sz="1600" dirty="0" err="1">
                <a:latin typeface="Georgia" panose="02040502050405020303" pitchFamily="18" charset="0"/>
              </a:rPr>
              <a:t>digitalWrite</a:t>
            </a:r>
            <a:r>
              <a:rPr lang="en-US" sz="1600" dirty="0">
                <a:latin typeface="Georgia" panose="02040502050405020303" pitchFamily="18" charset="0"/>
              </a:rPr>
              <a:t>(</a:t>
            </a:r>
            <a:r>
              <a:rPr lang="en-US" sz="1600" dirty="0" err="1">
                <a:latin typeface="Georgia" panose="02040502050405020303" pitchFamily="18" charset="0"/>
              </a:rPr>
              <a:t>heaterRelay</a:t>
            </a:r>
            <a:r>
              <a:rPr lang="en-US" sz="1600" dirty="0">
                <a:latin typeface="Georgia" panose="02040502050405020303" pitchFamily="18" charset="0"/>
              </a:rPr>
              <a:t>, HIGH);</a:t>
            </a:r>
          </a:p>
          <a:p>
            <a:r>
              <a:rPr lang="en-US" sz="1600" dirty="0">
                <a:latin typeface="Georgia" panose="02040502050405020303" pitchFamily="18" charset="0"/>
              </a:rPr>
              <a:t>  } else if (</a:t>
            </a:r>
            <a:r>
              <a:rPr lang="en-US" sz="1600" dirty="0" err="1">
                <a:latin typeface="Georgia" panose="02040502050405020303" pitchFamily="18" charset="0"/>
              </a:rPr>
              <a:t>currentTemp</a:t>
            </a:r>
            <a:r>
              <a:rPr lang="en-US" sz="1600" dirty="0">
                <a:latin typeface="Georgia" panose="02040502050405020303" pitchFamily="18" charset="0"/>
              </a:rPr>
              <a:t> &gt; </a:t>
            </a:r>
            <a:r>
              <a:rPr lang="en-US" sz="1600" dirty="0" err="1">
                <a:latin typeface="Georgia" panose="02040502050405020303" pitchFamily="18" charset="0"/>
              </a:rPr>
              <a:t>targetTemp</a:t>
            </a:r>
            <a:r>
              <a:rPr lang="en-US" sz="1600" dirty="0">
                <a:latin typeface="Georgia" panose="02040502050405020303" pitchFamily="18" charset="0"/>
              </a:rPr>
              <a:t> + 5) {</a:t>
            </a:r>
          </a:p>
          <a:p>
            <a:r>
              <a:rPr lang="en-US" sz="1600" dirty="0">
                <a:latin typeface="Georgia" panose="02040502050405020303" pitchFamily="18" charset="0"/>
              </a:rPr>
              <a:t>    </a:t>
            </a:r>
            <a:r>
              <a:rPr lang="en-US" sz="1600" dirty="0" err="1">
                <a:latin typeface="Georgia" panose="02040502050405020303" pitchFamily="18" charset="0"/>
              </a:rPr>
              <a:t>digitalWrite</a:t>
            </a:r>
            <a:r>
              <a:rPr lang="en-US" sz="1600" dirty="0">
                <a:latin typeface="Georgia" panose="02040502050405020303" pitchFamily="18" charset="0"/>
              </a:rPr>
              <a:t>(</a:t>
            </a:r>
            <a:r>
              <a:rPr lang="en-US" sz="1600" dirty="0" err="1">
                <a:latin typeface="Georgia" panose="02040502050405020303" pitchFamily="18" charset="0"/>
              </a:rPr>
              <a:t>heaterRelay</a:t>
            </a:r>
            <a:r>
              <a:rPr lang="en-US" sz="1600" dirty="0">
                <a:latin typeface="Georgia" panose="02040502050405020303" pitchFamily="18" charset="0"/>
              </a:rPr>
              <a:t>, LOW);</a:t>
            </a:r>
          </a:p>
          <a:p>
            <a:r>
              <a:rPr lang="en-US" sz="1600" dirty="0">
                <a:latin typeface="Georgia" panose="02040502050405020303" pitchFamily="18" charset="0"/>
              </a:rPr>
              <a:t>  }</a:t>
            </a:r>
          </a:p>
          <a:p>
            <a:r>
              <a:rPr lang="en-US" sz="1600" dirty="0">
                <a:latin typeface="Georgia" panose="02040502050405020303" pitchFamily="18" charset="0"/>
              </a:rPr>
              <a:t>  bool </a:t>
            </a:r>
            <a:r>
              <a:rPr lang="en-US" sz="1600" dirty="0" err="1">
                <a:latin typeface="Georgia" panose="02040502050405020303" pitchFamily="18" charset="0"/>
              </a:rPr>
              <a:t>heaterState</a:t>
            </a:r>
            <a:r>
              <a:rPr lang="en-US" sz="1600" dirty="0">
                <a:latin typeface="Georgia" panose="02040502050405020303" pitchFamily="18" charset="0"/>
              </a:rPr>
              <a:t> = </a:t>
            </a:r>
            <a:r>
              <a:rPr lang="en-US" sz="1600" dirty="0" err="1">
                <a:latin typeface="Georgia" panose="02040502050405020303" pitchFamily="18" charset="0"/>
              </a:rPr>
              <a:t>digitalRead</a:t>
            </a:r>
            <a:r>
              <a:rPr lang="en-US" sz="1600" dirty="0">
                <a:latin typeface="Georgia" panose="02040502050405020303" pitchFamily="18" charset="0"/>
              </a:rPr>
              <a:t>(</a:t>
            </a:r>
            <a:r>
              <a:rPr lang="en-US" sz="1600" dirty="0" err="1">
                <a:latin typeface="Georgia" panose="02040502050405020303" pitchFamily="18" charset="0"/>
              </a:rPr>
              <a:t>heaterRelay</a:t>
            </a:r>
            <a:r>
              <a:rPr lang="en-US" sz="1600" dirty="0">
                <a:latin typeface="Georgia" panose="02040502050405020303" pitchFamily="18" charset="0"/>
              </a:rPr>
              <a:t>);</a:t>
            </a:r>
          </a:p>
          <a:p>
            <a:r>
              <a:rPr lang="en-US" sz="1600" dirty="0">
                <a:latin typeface="Georgia" panose="02040502050405020303" pitchFamily="18" charset="0"/>
              </a:rPr>
              <a:t> </a:t>
            </a:r>
          </a:p>
          <a:p>
            <a:r>
              <a:rPr lang="en-US" sz="1600" dirty="0">
                <a:latin typeface="Georgia" panose="02040502050405020303" pitchFamily="18" charset="0"/>
              </a:rPr>
              <a:t>// --- Read filament diameter --- </a:t>
            </a:r>
          </a:p>
          <a:p>
            <a:r>
              <a:rPr lang="en-US" sz="1600" dirty="0">
                <a:latin typeface="Georgia" panose="02040502050405020303" pitchFamily="18" charset="0"/>
              </a:rPr>
              <a:t>  int </a:t>
            </a:r>
            <a:r>
              <a:rPr lang="en-US" sz="1600" dirty="0" err="1">
                <a:latin typeface="Georgia" panose="02040502050405020303" pitchFamily="18" charset="0"/>
              </a:rPr>
              <a:t>rawSensor</a:t>
            </a:r>
            <a:r>
              <a:rPr lang="en-US" sz="1600" dirty="0">
                <a:latin typeface="Georgia" panose="02040502050405020303" pitchFamily="18" charset="0"/>
              </a:rPr>
              <a:t> = </a:t>
            </a:r>
            <a:r>
              <a:rPr lang="en-US" sz="1600" dirty="0" err="1">
                <a:latin typeface="Georgia" panose="02040502050405020303" pitchFamily="18" charset="0"/>
              </a:rPr>
              <a:t>analogRead</a:t>
            </a:r>
            <a:r>
              <a:rPr lang="en-US" sz="1600" dirty="0">
                <a:latin typeface="Georgia" panose="02040502050405020303" pitchFamily="18" charset="0"/>
              </a:rPr>
              <a:t>(</a:t>
            </a:r>
            <a:r>
              <a:rPr lang="en-US" sz="1600" dirty="0" err="1">
                <a:latin typeface="Georgia" panose="02040502050405020303" pitchFamily="18" charset="0"/>
              </a:rPr>
              <a:t>sensIn</a:t>
            </a:r>
            <a:r>
              <a:rPr lang="en-US" sz="1600" dirty="0">
                <a:latin typeface="Georgia" panose="02040502050405020303" pitchFamily="18" charset="0"/>
              </a:rPr>
              <a:t>);</a:t>
            </a:r>
          </a:p>
          <a:p>
            <a:r>
              <a:rPr lang="en-US" sz="1600" dirty="0">
                <a:latin typeface="Georgia" panose="02040502050405020303" pitchFamily="18" charset="0"/>
              </a:rPr>
              <a:t>  </a:t>
            </a:r>
            <a:r>
              <a:rPr lang="en-US" sz="1600" dirty="0" err="1">
                <a:latin typeface="Georgia" panose="02040502050405020303" pitchFamily="18" charset="0"/>
              </a:rPr>
              <a:t>sensbuf</a:t>
            </a:r>
            <a:r>
              <a:rPr lang="en-US" sz="1600" dirty="0">
                <a:latin typeface="Georgia" panose="02040502050405020303" pitchFamily="18" charset="0"/>
              </a:rPr>
              <a:t> += (</a:t>
            </a:r>
            <a:r>
              <a:rPr lang="en-US" sz="1600" dirty="0" err="1">
                <a:latin typeface="Georgia" panose="02040502050405020303" pitchFamily="18" charset="0"/>
              </a:rPr>
              <a:t>rawSensor</a:t>
            </a:r>
            <a:r>
              <a:rPr lang="en-US" sz="1600" dirty="0">
                <a:latin typeface="Georgia" panose="02040502050405020303" pitchFamily="18" charset="0"/>
              </a:rPr>
              <a:t> - </a:t>
            </a:r>
            <a:r>
              <a:rPr lang="en-US" sz="1600" dirty="0" err="1">
                <a:latin typeface="Georgia" panose="02040502050405020303" pitchFamily="18" charset="0"/>
              </a:rPr>
              <a:t>sensbuf</a:t>
            </a:r>
            <a:r>
              <a:rPr lang="en-US" sz="1600" dirty="0">
                <a:latin typeface="Georgia" panose="02040502050405020303" pitchFamily="18" charset="0"/>
              </a:rPr>
              <a:t>) / smooth;</a:t>
            </a:r>
          </a:p>
          <a:p>
            <a:r>
              <a:rPr lang="en-US" sz="1600" dirty="0">
                <a:latin typeface="Georgia" panose="02040502050405020303" pitchFamily="18" charset="0"/>
              </a:rPr>
              <a:t>  float diameter = lookup(</a:t>
            </a:r>
            <a:r>
              <a:rPr lang="en-US" sz="1600" dirty="0" err="1">
                <a:latin typeface="Georgia" panose="02040502050405020303" pitchFamily="18" charset="0"/>
              </a:rPr>
              <a:t>sensbuf</a:t>
            </a:r>
            <a:r>
              <a:rPr lang="en-US" sz="1600" dirty="0">
                <a:latin typeface="Georgia" panose="02040502050405020303" pitchFamily="18" charset="0"/>
              </a:rPr>
              <a:t>, lut3);</a:t>
            </a:r>
          </a:p>
          <a:p>
            <a:endParaRPr lang="en-US" sz="1600" dirty="0">
              <a:latin typeface="Georgia" panose="02040502050405020303" pitchFamily="18" charset="0"/>
            </a:endParaRPr>
          </a:p>
          <a:p>
            <a:r>
              <a:rPr lang="en-US" sz="1600" dirty="0">
                <a:latin typeface="Georgia" panose="02040502050405020303" pitchFamily="18" charset="0"/>
              </a:rPr>
              <a:t>  // --- Adaptive Adjustment Logic ---</a:t>
            </a:r>
          </a:p>
          <a:p>
            <a:r>
              <a:rPr lang="en-US" sz="1600" dirty="0">
                <a:latin typeface="Georgia" panose="02040502050405020303" pitchFamily="18" charset="0"/>
              </a:rPr>
              <a:t>  float error = diameter - </a:t>
            </a:r>
            <a:r>
              <a:rPr lang="en-US" sz="1600" dirty="0" err="1">
                <a:latin typeface="Georgia" panose="02040502050405020303" pitchFamily="18" charset="0"/>
              </a:rPr>
              <a:t>targetDiameter</a:t>
            </a:r>
            <a:r>
              <a:rPr lang="en-US" sz="1600" dirty="0">
                <a:latin typeface="Georgia" panose="02040502050405020303" pitchFamily="18" charset="0"/>
              </a:rPr>
              <a:t>;</a:t>
            </a:r>
          </a:p>
          <a:p>
            <a:r>
              <a:rPr lang="en-US" sz="1600" dirty="0">
                <a:latin typeface="Georgia" panose="02040502050405020303" pitchFamily="18" charset="0"/>
              </a:rPr>
              <a:t>  String </a:t>
            </a:r>
            <a:r>
              <a:rPr lang="en-US" sz="1600" dirty="0" err="1">
                <a:latin typeface="Georgia" panose="02040502050405020303" pitchFamily="18" charset="0"/>
              </a:rPr>
              <a:t>currentStatus</a:t>
            </a:r>
            <a:r>
              <a:rPr lang="en-US" sz="1600" dirty="0">
                <a:latin typeface="Georgia" panose="02040502050405020303" pitchFamily="18" charset="0"/>
              </a:rPr>
              <a:t> = ""; // Status for this loop iteration</a:t>
            </a:r>
          </a:p>
          <a:p>
            <a:r>
              <a:rPr lang="en-US" sz="1600" dirty="0">
                <a:latin typeface="Georgia" panose="02040502050405020303" pitchFamily="18" charset="0"/>
              </a:rPr>
              <a:t>  bool </a:t>
            </a:r>
            <a:r>
              <a:rPr lang="en-US" sz="1600" dirty="0" err="1">
                <a:latin typeface="Georgia" panose="02040502050405020303" pitchFamily="18" charset="0"/>
              </a:rPr>
              <a:t>printStatusLine</a:t>
            </a:r>
            <a:r>
              <a:rPr lang="en-US" sz="1600" dirty="0">
                <a:latin typeface="Georgia" panose="02040502050405020303" pitchFamily="18" charset="0"/>
              </a:rPr>
              <a:t> = false; // Flag to print status on a new line</a:t>
            </a:r>
          </a:p>
        </p:txBody>
      </p:sp>
    </p:spTree>
    <p:extLst>
      <p:ext uri="{BB962C8B-B14F-4D97-AF65-F5344CB8AC3E}">
        <p14:creationId xmlns:p14="http://schemas.microsoft.com/office/powerpoint/2010/main" val="39776747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8531D-424B-B5F5-1F11-836D8305C086}"/>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5C80797A-9F4B-7412-235A-5A0E26E4A2E5}"/>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B44FCFAE-311C-1075-D510-FD494FDF366C}"/>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AFA8EAD4-3B4D-0393-9DDF-614BB2916FF0}"/>
              </a:ext>
            </a:extLst>
          </p:cNvPr>
          <p:cNvSpPr txBox="1"/>
          <p:nvPr/>
        </p:nvSpPr>
        <p:spPr>
          <a:xfrm>
            <a:off x="3006539" y="769386"/>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Arduino code</a:t>
            </a:r>
          </a:p>
        </p:txBody>
      </p:sp>
      <p:sp>
        <p:nvSpPr>
          <p:cNvPr id="6" name="TextBox 5">
            <a:extLst>
              <a:ext uri="{FF2B5EF4-FFF2-40B4-BE49-F238E27FC236}">
                <a16:creationId xmlns:a16="http://schemas.microsoft.com/office/drawing/2014/main" id="{52EB03FC-4FCD-ED5A-9B56-606063020031}"/>
              </a:ext>
            </a:extLst>
          </p:cNvPr>
          <p:cNvSpPr txBox="1"/>
          <p:nvPr/>
        </p:nvSpPr>
        <p:spPr>
          <a:xfrm>
            <a:off x="914400" y="1286450"/>
            <a:ext cx="11397807" cy="5262979"/>
          </a:xfrm>
          <a:prstGeom prst="rect">
            <a:avLst/>
          </a:prstGeom>
          <a:noFill/>
        </p:spPr>
        <p:txBody>
          <a:bodyPr wrap="square" rtlCol="0">
            <a:spAutoFit/>
          </a:bodyPr>
          <a:lstStyle/>
          <a:p>
            <a:r>
              <a:rPr lang="en-US" sz="1600" dirty="0">
                <a:latin typeface="Georgia" panose="02040502050405020303" pitchFamily="18" charset="0"/>
              </a:rPr>
              <a:t> if (diameter &gt; 0 &amp;&amp; error &gt; 0.05) { // Only adjust if diameter reading is valid</a:t>
            </a:r>
          </a:p>
          <a:p>
            <a:r>
              <a:rPr lang="en-US" sz="1600" dirty="0">
                <a:latin typeface="Georgia" panose="02040502050405020303" pitchFamily="18" charset="0"/>
              </a:rPr>
              <a:t>    // Too thick -&gt; pull faster</a:t>
            </a:r>
          </a:p>
          <a:p>
            <a:r>
              <a:rPr lang="en-US" sz="1600" dirty="0">
                <a:latin typeface="Georgia" panose="02040502050405020303" pitchFamily="18" charset="0"/>
              </a:rPr>
              <a:t>    </a:t>
            </a:r>
            <a:r>
              <a:rPr lang="en-US" sz="1600" dirty="0" err="1">
                <a:latin typeface="Georgia" panose="02040502050405020303" pitchFamily="18" charset="0"/>
              </a:rPr>
              <a:t>pullerSpeed</a:t>
            </a:r>
            <a:r>
              <a:rPr lang="en-US" sz="1600" dirty="0">
                <a:latin typeface="Georgia" panose="02040502050405020303" pitchFamily="18" charset="0"/>
              </a:rPr>
              <a:t> += 10;</a:t>
            </a:r>
          </a:p>
          <a:p>
            <a:r>
              <a:rPr lang="en-US" sz="1600" dirty="0">
                <a:latin typeface="Georgia" panose="02040502050405020303" pitchFamily="18" charset="0"/>
              </a:rPr>
              <a:t>    </a:t>
            </a:r>
            <a:r>
              <a:rPr lang="en-US" sz="1600" dirty="0" err="1">
                <a:latin typeface="Georgia" panose="02040502050405020303" pitchFamily="18" charset="0"/>
              </a:rPr>
              <a:t>pullerSpeed</a:t>
            </a:r>
            <a:r>
              <a:rPr lang="en-US" sz="1600" dirty="0">
                <a:latin typeface="Georgia" panose="02040502050405020303" pitchFamily="18" charset="0"/>
              </a:rPr>
              <a:t> = constrain(</a:t>
            </a:r>
            <a:r>
              <a:rPr lang="en-US" sz="1600" dirty="0" err="1">
                <a:latin typeface="Georgia" panose="02040502050405020303" pitchFamily="18" charset="0"/>
              </a:rPr>
              <a:t>pullerSpeed</a:t>
            </a:r>
            <a:r>
              <a:rPr lang="en-US" sz="1600" dirty="0">
                <a:latin typeface="Georgia" panose="02040502050405020303" pitchFamily="18" charset="0"/>
              </a:rPr>
              <a:t>, 100, 255);</a:t>
            </a:r>
          </a:p>
          <a:p>
            <a:r>
              <a:rPr lang="en-US" sz="1600" dirty="0">
                <a:latin typeface="Georgia" panose="02040502050405020303" pitchFamily="18" charset="0"/>
              </a:rPr>
              <a:t>    </a:t>
            </a:r>
            <a:r>
              <a:rPr lang="en-US" sz="1600" dirty="0" err="1">
                <a:latin typeface="Georgia" panose="02040502050405020303" pitchFamily="18" charset="0"/>
              </a:rPr>
              <a:t>currentStatus</a:t>
            </a:r>
            <a:r>
              <a:rPr lang="en-US" sz="1600" dirty="0">
                <a:latin typeface="Georgia" panose="02040502050405020303" pitchFamily="18" charset="0"/>
              </a:rPr>
              <a:t> = "Filament too thick ➜ Increasing puller speed";</a:t>
            </a:r>
          </a:p>
          <a:p>
            <a:r>
              <a:rPr lang="en-US" sz="1600" dirty="0">
                <a:latin typeface="Georgia" panose="02040502050405020303" pitchFamily="18" charset="0"/>
              </a:rPr>
              <a:t>    </a:t>
            </a:r>
            <a:r>
              <a:rPr lang="en-US" sz="1600" dirty="0" err="1">
                <a:latin typeface="Georgia" panose="02040502050405020303" pitchFamily="18" charset="0"/>
              </a:rPr>
              <a:t>printStatusLine</a:t>
            </a:r>
            <a:r>
              <a:rPr lang="en-US" sz="1600" dirty="0">
                <a:latin typeface="Georgia" panose="02040502050405020303" pitchFamily="18" charset="0"/>
              </a:rPr>
              <a:t> = true;</a:t>
            </a:r>
          </a:p>
          <a:p>
            <a:r>
              <a:rPr lang="en-US" sz="1600" dirty="0">
                <a:latin typeface="Georgia" panose="02040502050405020303" pitchFamily="18" charset="0"/>
              </a:rPr>
              <a:t>  } else if (diameter &gt; 0 &amp;&amp; error &lt; -0.05) { // Only adjust if diameter reading is valid</a:t>
            </a:r>
          </a:p>
          <a:p>
            <a:r>
              <a:rPr lang="en-US" sz="1600" dirty="0">
                <a:latin typeface="Georgia" panose="02040502050405020303" pitchFamily="18" charset="0"/>
              </a:rPr>
              <a:t>    // Too thin -&gt; increase temp (original logic)</a:t>
            </a:r>
          </a:p>
          <a:p>
            <a:r>
              <a:rPr lang="en-US" sz="1600" dirty="0">
                <a:latin typeface="Georgia" panose="02040502050405020303" pitchFamily="18" charset="0"/>
              </a:rPr>
              <a:t>   } else if (diameter &gt; 0 &amp;&amp; error &lt; -0.05) {</a:t>
            </a:r>
          </a:p>
          <a:p>
            <a:r>
              <a:rPr lang="en-US" sz="1600" dirty="0">
                <a:latin typeface="Georgia" panose="02040502050405020303" pitchFamily="18" charset="0"/>
              </a:rPr>
              <a:t>  // Too thin → pull slower</a:t>
            </a:r>
          </a:p>
          <a:p>
            <a:r>
              <a:rPr lang="en-US" sz="1600" dirty="0">
                <a:latin typeface="Georgia" panose="02040502050405020303" pitchFamily="18" charset="0"/>
              </a:rPr>
              <a:t>     </a:t>
            </a:r>
            <a:r>
              <a:rPr lang="en-US" sz="1600" dirty="0" err="1">
                <a:latin typeface="Georgia" panose="02040502050405020303" pitchFamily="18" charset="0"/>
              </a:rPr>
              <a:t>pullerSpeed</a:t>
            </a:r>
            <a:r>
              <a:rPr lang="en-US" sz="1600" dirty="0">
                <a:latin typeface="Georgia" panose="02040502050405020303" pitchFamily="18" charset="0"/>
              </a:rPr>
              <a:t> -= 10;</a:t>
            </a:r>
          </a:p>
          <a:p>
            <a:r>
              <a:rPr lang="en-US" sz="1600" dirty="0">
                <a:latin typeface="Georgia" panose="02040502050405020303" pitchFamily="18" charset="0"/>
              </a:rPr>
              <a:t>     </a:t>
            </a:r>
            <a:r>
              <a:rPr lang="en-US" sz="1600" dirty="0" err="1">
                <a:latin typeface="Georgia" panose="02040502050405020303" pitchFamily="18" charset="0"/>
              </a:rPr>
              <a:t>pullerSpeed</a:t>
            </a:r>
            <a:r>
              <a:rPr lang="en-US" sz="1600" dirty="0">
                <a:latin typeface="Georgia" panose="02040502050405020303" pitchFamily="18" charset="0"/>
              </a:rPr>
              <a:t> = constrain(</a:t>
            </a:r>
            <a:r>
              <a:rPr lang="en-US" sz="1600" dirty="0" err="1">
                <a:latin typeface="Georgia" panose="02040502050405020303" pitchFamily="18" charset="0"/>
              </a:rPr>
              <a:t>pullerSpeed</a:t>
            </a:r>
            <a:r>
              <a:rPr lang="en-US" sz="1600" dirty="0">
                <a:latin typeface="Georgia" panose="02040502050405020303" pitchFamily="18" charset="0"/>
              </a:rPr>
              <a:t>, 100, 255); // You can allow down to 80 or lower if needed</a:t>
            </a:r>
          </a:p>
          <a:p>
            <a:r>
              <a:rPr lang="en-US" sz="1600" dirty="0">
                <a:latin typeface="Georgia" panose="02040502050405020303" pitchFamily="18" charset="0"/>
              </a:rPr>
              <a:t>     </a:t>
            </a:r>
            <a:r>
              <a:rPr lang="en-US" sz="1600" dirty="0" err="1">
                <a:latin typeface="Georgia" panose="02040502050405020303" pitchFamily="18" charset="0"/>
              </a:rPr>
              <a:t>currentStatus</a:t>
            </a:r>
            <a:r>
              <a:rPr lang="en-US" sz="1600" dirty="0">
                <a:latin typeface="Georgia" panose="02040502050405020303" pitchFamily="18" charset="0"/>
              </a:rPr>
              <a:t> = "Filament too thin ➜ Decreasing puller speed";</a:t>
            </a:r>
          </a:p>
          <a:p>
            <a:r>
              <a:rPr lang="en-US" sz="1600" dirty="0">
                <a:latin typeface="Georgia" panose="02040502050405020303" pitchFamily="18" charset="0"/>
              </a:rPr>
              <a:t>     </a:t>
            </a:r>
            <a:r>
              <a:rPr lang="en-US" sz="1600" dirty="0" err="1">
                <a:latin typeface="Georgia" panose="02040502050405020303" pitchFamily="18" charset="0"/>
              </a:rPr>
              <a:t>printStatusLine</a:t>
            </a:r>
            <a:r>
              <a:rPr lang="en-US" sz="1600" dirty="0">
                <a:latin typeface="Georgia" panose="02040502050405020303" pitchFamily="18" charset="0"/>
              </a:rPr>
              <a:t> = true;</a:t>
            </a:r>
          </a:p>
          <a:p>
            <a:r>
              <a:rPr lang="en-US" sz="1600" dirty="0">
                <a:latin typeface="Georgia" panose="02040502050405020303" pitchFamily="18" charset="0"/>
              </a:rPr>
              <a:t>  } else if (diameter &lt;= 0) {</a:t>
            </a:r>
          </a:p>
          <a:p>
            <a:r>
              <a:rPr lang="en-US" sz="1600" dirty="0">
                <a:latin typeface="Georgia" panose="02040502050405020303" pitchFamily="18" charset="0"/>
              </a:rPr>
              <a:t>    </a:t>
            </a:r>
            <a:r>
              <a:rPr lang="en-US" sz="1600" dirty="0" err="1">
                <a:latin typeface="Georgia" panose="02040502050405020303" pitchFamily="18" charset="0"/>
              </a:rPr>
              <a:t>currentStatus</a:t>
            </a:r>
            <a:r>
              <a:rPr lang="en-US" sz="1600" dirty="0">
                <a:latin typeface="Georgia" panose="02040502050405020303" pitchFamily="18" charset="0"/>
              </a:rPr>
              <a:t> = "Sensor Error?"; // Keep this for LCD</a:t>
            </a:r>
          </a:p>
          <a:p>
            <a:r>
              <a:rPr lang="en-US" sz="1600" dirty="0">
                <a:latin typeface="Georgia" panose="02040502050405020303" pitchFamily="18" charset="0"/>
              </a:rPr>
              <a:t>    // Don't print a specific status line for sensor error in the requested format</a:t>
            </a:r>
          </a:p>
          <a:p>
            <a:r>
              <a:rPr lang="en-US" sz="1600" dirty="0">
                <a:latin typeface="Georgia" panose="02040502050405020303" pitchFamily="18" charset="0"/>
              </a:rPr>
              <a:t>  } else {</a:t>
            </a:r>
          </a:p>
          <a:p>
            <a:r>
              <a:rPr lang="en-US" sz="1600" dirty="0">
                <a:latin typeface="Georgia" panose="02040502050405020303" pitchFamily="18" charset="0"/>
              </a:rPr>
              <a:t>    </a:t>
            </a:r>
            <a:r>
              <a:rPr lang="en-US" sz="1600" dirty="0" err="1">
                <a:latin typeface="Georgia" panose="02040502050405020303" pitchFamily="18" charset="0"/>
              </a:rPr>
              <a:t>currentStatus</a:t>
            </a:r>
            <a:r>
              <a:rPr lang="en-US" sz="1600" dirty="0">
                <a:latin typeface="Georgia" panose="02040502050405020303" pitchFamily="18" charset="0"/>
              </a:rPr>
              <a:t> = "Diameter OK"; // Keep this for LCD</a:t>
            </a:r>
          </a:p>
          <a:p>
            <a:r>
              <a:rPr lang="en-US" sz="1600" dirty="0">
                <a:latin typeface="Georgia" panose="02040502050405020303" pitchFamily="18" charset="0"/>
              </a:rPr>
              <a:t>    // Don't print a status line if diameter is OK</a:t>
            </a:r>
          </a:p>
          <a:p>
            <a:r>
              <a:rPr lang="en-US" sz="1600" dirty="0">
                <a:latin typeface="Georgia" panose="02040502050405020303" pitchFamily="18" charset="0"/>
              </a:rPr>
              <a:t>  }</a:t>
            </a:r>
          </a:p>
        </p:txBody>
      </p:sp>
    </p:spTree>
    <p:extLst>
      <p:ext uri="{BB962C8B-B14F-4D97-AF65-F5344CB8AC3E}">
        <p14:creationId xmlns:p14="http://schemas.microsoft.com/office/powerpoint/2010/main" val="1959447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9AB2C-34E9-3F88-9D68-EF8E57E39615}"/>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5040B890-D762-E3E4-BFDF-A170C07862A5}"/>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4FF26187-7B3F-D992-7F60-70E3707F446D}"/>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E5188E18-FC46-09D7-6880-9383212B695E}"/>
              </a:ext>
            </a:extLst>
          </p:cNvPr>
          <p:cNvSpPr txBox="1"/>
          <p:nvPr/>
        </p:nvSpPr>
        <p:spPr>
          <a:xfrm>
            <a:off x="3006539" y="769386"/>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Arduino code</a:t>
            </a:r>
          </a:p>
        </p:txBody>
      </p:sp>
      <p:sp>
        <p:nvSpPr>
          <p:cNvPr id="6" name="TextBox 5">
            <a:extLst>
              <a:ext uri="{FF2B5EF4-FFF2-40B4-BE49-F238E27FC236}">
                <a16:creationId xmlns:a16="http://schemas.microsoft.com/office/drawing/2014/main" id="{E2616081-E853-CDB9-F929-35B678110ED8}"/>
              </a:ext>
            </a:extLst>
          </p:cNvPr>
          <p:cNvSpPr txBox="1"/>
          <p:nvPr/>
        </p:nvSpPr>
        <p:spPr>
          <a:xfrm>
            <a:off x="914400" y="1492922"/>
            <a:ext cx="11397807" cy="5509200"/>
          </a:xfrm>
          <a:prstGeom prst="rect">
            <a:avLst/>
          </a:prstGeom>
          <a:noFill/>
        </p:spPr>
        <p:txBody>
          <a:bodyPr wrap="square" rtlCol="0">
            <a:spAutoFit/>
          </a:bodyPr>
          <a:lstStyle/>
          <a:p>
            <a:endParaRPr lang="en-US" sz="1600" dirty="0">
              <a:latin typeface="Georgia" panose="02040502050405020303" pitchFamily="18" charset="0"/>
            </a:endParaRPr>
          </a:p>
          <a:p>
            <a:r>
              <a:rPr lang="en-US" sz="1600" dirty="0">
                <a:latin typeface="Georgia" panose="02040502050405020303" pitchFamily="18" charset="0"/>
              </a:rPr>
              <a:t>  // Update the status message for LCD if it changed</a:t>
            </a:r>
          </a:p>
          <a:p>
            <a:r>
              <a:rPr lang="en-US" sz="1600" dirty="0">
                <a:latin typeface="Georgia" panose="02040502050405020303" pitchFamily="18" charset="0"/>
              </a:rPr>
              <a:t>  if (</a:t>
            </a:r>
            <a:r>
              <a:rPr lang="en-US" sz="1600" dirty="0" err="1">
                <a:latin typeface="Georgia" panose="02040502050405020303" pitchFamily="18" charset="0"/>
              </a:rPr>
              <a:t>currentStatus</a:t>
            </a:r>
            <a:r>
              <a:rPr lang="en-US" sz="1600" dirty="0">
                <a:latin typeface="Georgia" panose="02040502050405020303" pitchFamily="18" charset="0"/>
              </a:rPr>
              <a:t> != </a:t>
            </a:r>
            <a:r>
              <a:rPr lang="en-US" sz="1600" dirty="0" err="1">
                <a:latin typeface="Georgia" panose="02040502050405020303" pitchFamily="18" charset="0"/>
              </a:rPr>
              <a:t>lastStatusMessage</a:t>
            </a:r>
            <a:r>
              <a:rPr lang="en-US" sz="1600" dirty="0">
                <a:latin typeface="Georgia" panose="02040502050405020303" pitchFamily="18" charset="0"/>
              </a:rPr>
              <a:t>) {</a:t>
            </a:r>
          </a:p>
          <a:p>
            <a:r>
              <a:rPr lang="en-US" sz="1600" dirty="0">
                <a:latin typeface="Georgia" panose="02040502050405020303" pitchFamily="18" charset="0"/>
              </a:rPr>
              <a:t>      </a:t>
            </a:r>
            <a:r>
              <a:rPr lang="en-US" sz="1600" dirty="0" err="1">
                <a:latin typeface="Georgia" panose="02040502050405020303" pitchFamily="18" charset="0"/>
              </a:rPr>
              <a:t>lastStatusMessage</a:t>
            </a:r>
            <a:r>
              <a:rPr lang="en-US" sz="1600" dirty="0">
                <a:latin typeface="Georgia" panose="02040502050405020303" pitchFamily="18" charset="0"/>
              </a:rPr>
              <a:t> = </a:t>
            </a:r>
            <a:r>
              <a:rPr lang="en-US" sz="1600" dirty="0" err="1">
                <a:latin typeface="Georgia" panose="02040502050405020303" pitchFamily="18" charset="0"/>
              </a:rPr>
              <a:t>currentStatus</a:t>
            </a:r>
            <a:r>
              <a:rPr lang="en-US" sz="1600" dirty="0">
                <a:latin typeface="Georgia" panose="02040502050405020303" pitchFamily="18" charset="0"/>
              </a:rPr>
              <a:t>;</a:t>
            </a:r>
          </a:p>
          <a:p>
            <a:r>
              <a:rPr lang="en-US" sz="1600" dirty="0">
                <a:latin typeface="Georgia" panose="02040502050405020303" pitchFamily="18" charset="0"/>
              </a:rPr>
              <a:t>  }</a:t>
            </a:r>
          </a:p>
          <a:p>
            <a:endParaRPr lang="en-US" sz="1600" dirty="0">
              <a:latin typeface="Georgia" panose="02040502050405020303" pitchFamily="18" charset="0"/>
            </a:endParaRPr>
          </a:p>
          <a:p>
            <a:r>
              <a:rPr lang="en-US" sz="1600" dirty="0">
                <a:latin typeface="Georgia" panose="02040502050405020303" pitchFamily="18" charset="0"/>
              </a:rPr>
              <a:t>  // Set Motor Speeds</a:t>
            </a:r>
          </a:p>
          <a:p>
            <a:r>
              <a:rPr lang="en-US" sz="1600" dirty="0">
                <a:latin typeface="Georgia" panose="02040502050405020303" pitchFamily="18" charset="0"/>
              </a:rPr>
              <a:t>  </a:t>
            </a:r>
            <a:r>
              <a:rPr lang="en-US" sz="1600" dirty="0" err="1">
                <a:latin typeface="Georgia" panose="02040502050405020303" pitchFamily="18" charset="0"/>
              </a:rPr>
              <a:t>analogWrite</a:t>
            </a:r>
            <a:r>
              <a:rPr lang="en-US" sz="1600" dirty="0">
                <a:latin typeface="Georgia" panose="02040502050405020303" pitchFamily="18" charset="0"/>
              </a:rPr>
              <a:t>(</a:t>
            </a:r>
            <a:r>
              <a:rPr lang="en-US" sz="1600" dirty="0" err="1">
                <a:latin typeface="Georgia" panose="02040502050405020303" pitchFamily="18" charset="0"/>
              </a:rPr>
              <a:t>enA</a:t>
            </a:r>
            <a:r>
              <a:rPr lang="en-US" sz="1600" dirty="0">
                <a:latin typeface="Georgia" panose="02040502050405020303" pitchFamily="18" charset="0"/>
              </a:rPr>
              <a:t>, </a:t>
            </a:r>
            <a:r>
              <a:rPr lang="en-US" sz="1600" dirty="0" err="1">
                <a:latin typeface="Georgia" panose="02040502050405020303" pitchFamily="18" charset="0"/>
              </a:rPr>
              <a:t>baseSpeed</a:t>
            </a:r>
            <a:r>
              <a:rPr lang="en-US" sz="1600" dirty="0">
                <a:latin typeface="Georgia" panose="02040502050405020303" pitchFamily="18" charset="0"/>
              </a:rPr>
              <a:t>);       // Screw motor</a:t>
            </a:r>
          </a:p>
          <a:p>
            <a:r>
              <a:rPr lang="en-US" sz="1600" dirty="0">
                <a:latin typeface="Georgia" panose="02040502050405020303" pitchFamily="18" charset="0"/>
              </a:rPr>
              <a:t>  </a:t>
            </a:r>
            <a:r>
              <a:rPr lang="en-US" sz="1600" dirty="0" err="1">
                <a:latin typeface="Georgia" panose="02040502050405020303" pitchFamily="18" charset="0"/>
              </a:rPr>
              <a:t>analogWrite</a:t>
            </a:r>
            <a:r>
              <a:rPr lang="en-US" sz="1600" dirty="0">
                <a:latin typeface="Georgia" panose="02040502050405020303" pitchFamily="18" charset="0"/>
              </a:rPr>
              <a:t>(</a:t>
            </a:r>
            <a:r>
              <a:rPr lang="en-US" sz="1600" dirty="0" err="1">
                <a:latin typeface="Georgia" panose="02040502050405020303" pitchFamily="18" charset="0"/>
              </a:rPr>
              <a:t>enB</a:t>
            </a:r>
            <a:r>
              <a:rPr lang="en-US" sz="1600" dirty="0">
                <a:latin typeface="Georgia" panose="02040502050405020303" pitchFamily="18" charset="0"/>
              </a:rPr>
              <a:t>, </a:t>
            </a:r>
            <a:r>
              <a:rPr lang="en-US" sz="1600" dirty="0" err="1">
                <a:latin typeface="Georgia" panose="02040502050405020303" pitchFamily="18" charset="0"/>
              </a:rPr>
              <a:t>pullerSpeed</a:t>
            </a:r>
            <a:r>
              <a:rPr lang="en-US" sz="1600" dirty="0">
                <a:latin typeface="Georgia" panose="02040502050405020303" pitchFamily="18" charset="0"/>
              </a:rPr>
              <a:t>);     // Puller motor</a:t>
            </a:r>
          </a:p>
          <a:p>
            <a:endParaRPr lang="en-US" sz="1600" dirty="0">
              <a:latin typeface="Georgia" panose="02040502050405020303" pitchFamily="18" charset="0"/>
            </a:endParaRPr>
          </a:p>
          <a:p>
            <a:r>
              <a:rPr lang="en-US" sz="1600" dirty="0">
                <a:latin typeface="Georgia" panose="02040502050405020303" pitchFamily="18" charset="0"/>
              </a:rPr>
              <a:t>  // --- Serial Monitoring (Formatted as requested) ---</a:t>
            </a:r>
          </a:p>
          <a:p>
            <a:r>
              <a:rPr lang="en-US" sz="1600" dirty="0">
                <a:latin typeface="Georgia" panose="02040502050405020303" pitchFamily="18" charset="0"/>
              </a:rPr>
              <a:t>  </a:t>
            </a:r>
            <a:r>
              <a:rPr lang="en-US" sz="1600" dirty="0" err="1">
                <a:latin typeface="Georgia" panose="02040502050405020303" pitchFamily="18" charset="0"/>
              </a:rPr>
              <a:t>Serial.print</a:t>
            </a:r>
            <a:r>
              <a:rPr lang="en-US" sz="1600" dirty="0">
                <a:latin typeface="Georgia" panose="02040502050405020303" pitchFamily="18" charset="0"/>
              </a:rPr>
              <a:t>("Temp: "); </a:t>
            </a:r>
            <a:r>
              <a:rPr lang="en-US" sz="1600" dirty="0" err="1">
                <a:latin typeface="Georgia" panose="02040502050405020303" pitchFamily="18" charset="0"/>
              </a:rPr>
              <a:t>Serial.print</a:t>
            </a:r>
            <a:r>
              <a:rPr lang="en-US" sz="1600" dirty="0">
                <a:latin typeface="Georgia" panose="02040502050405020303" pitchFamily="18" charset="0"/>
              </a:rPr>
              <a:t>(</a:t>
            </a:r>
            <a:r>
              <a:rPr lang="en-US" sz="1600" dirty="0" err="1">
                <a:latin typeface="Georgia" panose="02040502050405020303" pitchFamily="18" charset="0"/>
              </a:rPr>
              <a:t>currentTemp</a:t>
            </a:r>
            <a:r>
              <a:rPr lang="en-US" sz="1600" dirty="0">
                <a:latin typeface="Georgia" panose="02040502050405020303" pitchFamily="18" charset="0"/>
              </a:rPr>
              <a:t>, 2); // Use 2 decimal places like original example</a:t>
            </a:r>
          </a:p>
          <a:p>
            <a:r>
              <a:rPr lang="en-US" sz="1600" dirty="0">
                <a:latin typeface="Georgia" panose="02040502050405020303" pitchFamily="18" charset="0"/>
              </a:rPr>
              <a:t>  </a:t>
            </a:r>
            <a:r>
              <a:rPr lang="en-US" sz="1600" dirty="0" err="1">
                <a:latin typeface="Georgia" panose="02040502050405020303" pitchFamily="18" charset="0"/>
              </a:rPr>
              <a:t>Serial.print</a:t>
            </a:r>
            <a:r>
              <a:rPr lang="en-US" sz="1600" dirty="0">
                <a:latin typeface="Georgia" panose="02040502050405020303" pitchFamily="18" charset="0"/>
              </a:rPr>
              <a:t>(" °C | Heater: "); </a:t>
            </a:r>
            <a:r>
              <a:rPr lang="en-US" sz="1600" dirty="0" err="1">
                <a:latin typeface="Georgia" panose="02040502050405020303" pitchFamily="18" charset="0"/>
              </a:rPr>
              <a:t>Serial.print</a:t>
            </a:r>
            <a:r>
              <a:rPr lang="en-US" sz="1600" dirty="0">
                <a:latin typeface="Georgia" panose="02040502050405020303" pitchFamily="18" charset="0"/>
              </a:rPr>
              <a:t>(</a:t>
            </a:r>
            <a:r>
              <a:rPr lang="en-US" sz="1600" dirty="0" err="1">
                <a:latin typeface="Georgia" panose="02040502050405020303" pitchFamily="18" charset="0"/>
              </a:rPr>
              <a:t>heaterState</a:t>
            </a:r>
            <a:r>
              <a:rPr lang="en-US" sz="1600" dirty="0">
                <a:latin typeface="Georgia" panose="02040502050405020303" pitchFamily="18" charset="0"/>
              </a:rPr>
              <a:t> ? "ON" : "OFF");</a:t>
            </a:r>
          </a:p>
          <a:p>
            <a:r>
              <a:rPr lang="en-US" sz="1600" dirty="0">
                <a:latin typeface="Georgia" panose="02040502050405020303" pitchFamily="18" charset="0"/>
              </a:rPr>
              <a:t>  </a:t>
            </a:r>
            <a:r>
              <a:rPr lang="en-US" sz="1600" dirty="0" err="1">
                <a:latin typeface="Georgia" panose="02040502050405020303" pitchFamily="18" charset="0"/>
              </a:rPr>
              <a:t>Serial.print</a:t>
            </a:r>
            <a:r>
              <a:rPr lang="en-US" sz="1600" dirty="0">
                <a:latin typeface="Georgia" panose="02040502050405020303" pitchFamily="18" charset="0"/>
              </a:rPr>
              <a:t>(" | Diameter: "); </a:t>
            </a:r>
            <a:r>
              <a:rPr lang="en-US" sz="1600" dirty="0" err="1">
                <a:latin typeface="Georgia" panose="02040502050405020303" pitchFamily="18" charset="0"/>
              </a:rPr>
              <a:t>Serial.print</a:t>
            </a:r>
            <a:r>
              <a:rPr lang="en-US" sz="1600" dirty="0">
                <a:latin typeface="Georgia" panose="02040502050405020303" pitchFamily="18" charset="0"/>
              </a:rPr>
              <a:t>(diameter, 3);</a:t>
            </a:r>
          </a:p>
          <a:p>
            <a:r>
              <a:rPr lang="en-US" sz="1600" dirty="0">
                <a:latin typeface="Georgia" panose="02040502050405020303" pitchFamily="18" charset="0"/>
              </a:rPr>
              <a:t>  </a:t>
            </a:r>
            <a:r>
              <a:rPr lang="en-US" sz="1600" dirty="0" err="1">
                <a:latin typeface="Georgia" panose="02040502050405020303" pitchFamily="18" charset="0"/>
              </a:rPr>
              <a:t>Serial.print</a:t>
            </a:r>
            <a:r>
              <a:rPr lang="en-US" sz="1600" dirty="0">
                <a:latin typeface="Georgia" panose="02040502050405020303" pitchFamily="18" charset="0"/>
              </a:rPr>
              <a:t>(" mm | Puller Speed: "); </a:t>
            </a:r>
            <a:r>
              <a:rPr lang="en-US" sz="1600" dirty="0" err="1">
                <a:latin typeface="Georgia" panose="02040502050405020303" pitchFamily="18" charset="0"/>
              </a:rPr>
              <a:t>Serial.println</a:t>
            </a:r>
            <a:r>
              <a:rPr lang="en-US" sz="1600" dirty="0">
                <a:latin typeface="Georgia" panose="02040502050405020303" pitchFamily="18" charset="0"/>
              </a:rPr>
              <a:t>(</a:t>
            </a:r>
            <a:r>
              <a:rPr lang="en-US" sz="1600" dirty="0" err="1">
                <a:latin typeface="Georgia" panose="02040502050405020303" pitchFamily="18" charset="0"/>
              </a:rPr>
              <a:t>pullerSpeed</a:t>
            </a:r>
            <a:r>
              <a:rPr lang="en-US" sz="1600" dirty="0">
                <a:latin typeface="Georgia" panose="02040502050405020303" pitchFamily="18" charset="0"/>
              </a:rPr>
              <a:t>);</a:t>
            </a:r>
          </a:p>
          <a:p>
            <a:endParaRPr lang="en-US" sz="1600" dirty="0">
              <a:latin typeface="Georgia" panose="02040502050405020303" pitchFamily="18" charset="0"/>
            </a:endParaRPr>
          </a:p>
          <a:p>
            <a:r>
              <a:rPr lang="en-US" sz="1600" dirty="0">
                <a:latin typeface="Georgia" panose="02040502050405020303" pitchFamily="18" charset="0"/>
              </a:rPr>
              <a:t>  // Print status message on a new line if needed</a:t>
            </a:r>
          </a:p>
          <a:p>
            <a:r>
              <a:rPr lang="en-US" sz="1600" dirty="0">
                <a:latin typeface="Georgia" panose="02040502050405020303" pitchFamily="18" charset="0"/>
              </a:rPr>
              <a:t>  if (</a:t>
            </a:r>
            <a:r>
              <a:rPr lang="en-US" sz="1600" dirty="0" err="1">
                <a:latin typeface="Georgia" panose="02040502050405020303" pitchFamily="18" charset="0"/>
              </a:rPr>
              <a:t>printStatusLine</a:t>
            </a:r>
            <a:r>
              <a:rPr lang="en-US" sz="1600" dirty="0">
                <a:latin typeface="Georgia" panose="02040502050405020303" pitchFamily="18" charset="0"/>
              </a:rPr>
              <a:t>) {</a:t>
            </a:r>
          </a:p>
          <a:p>
            <a:r>
              <a:rPr lang="en-US" sz="1600" dirty="0">
                <a:latin typeface="Georgia" panose="02040502050405020303" pitchFamily="18" charset="0"/>
              </a:rPr>
              <a:t>      </a:t>
            </a:r>
            <a:r>
              <a:rPr lang="en-US" sz="1600" dirty="0" err="1">
                <a:latin typeface="Georgia" panose="02040502050405020303" pitchFamily="18" charset="0"/>
              </a:rPr>
              <a:t>Serial.println</a:t>
            </a:r>
            <a:r>
              <a:rPr lang="en-US" sz="1600" dirty="0">
                <a:latin typeface="Georgia" panose="02040502050405020303" pitchFamily="18" charset="0"/>
              </a:rPr>
              <a:t>(</a:t>
            </a:r>
            <a:r>
              <a:rPr lang="en-US" sz="1600" dirty="0" err="1">
                <a:latin typeface="Georgia" panose="02040502050405020303" pitchFamily="18" charset="0"/>
              </a:rPr>
              <a:t>currentStatus</a:t>
            </a:r>
            <a:r>
              <a:rPr lang="en-US" sz="1600" dirty="0">
                <a:latin typeface="Georgia" panose="02040502050405020303" pitchFamily="18" charset="0"/>
              </a:rPr>
              <a:t>);</a:t>
            </a:r>
          </a:p>
          <a:p>
            <a:r>
              <a:rPr lang="en-US" sz="1600" dirty="0">
                <a:latin typeface="Georgia" panose="02040502050405020303" pitchFamily="18" charset="0"/>
              </a:rPr>
              <a:t>  }</a:t>
            </a:r>
          </a:p>
          <a:p>
            <a:endParaRPr lang="en-US" sz="1600" dirty="0">
              <a:latin typeface="Georgia" panose="02040502050405020303" pitchFamily="18" charset="0"/>
            </a:endParaRPr>
          </a:p>
          <a:p>
            <a:endParaRPr lang="en-US" sz="1600" dirty="0">
              <a:latin typeface="Georgia" panose="02040502050405020303" pitchFamily="18" charset="0"/>
            </a:endParaRPr>
          </a:p>
        </p:txBody>
      </p:sp>
    </p:spTree>
    <p:extLst>
      <p:ext uri="{BB962C8B-B14F-4D97-AF65-F5344CB8AC3E}">
        <p14:creationId xmlns:p14="http://schemas.microsoft.com/office/powerpoint/2010/main" val="24184692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CFD70-2398-B7C0-89E1-A66F1D2B33F0}"/>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A93BC729-9B55-FB75-5368-069260757411}"/>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401B4930-E77F-1628-68DC-9503E4817F79}"/>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95A8F9D0-0EA6-2D60-F8A0-1C3ED69F67E5}"/>
              </a:ext>
            </a:extLst>
          </p:cNvPr>
          <p:cNvSpPr txBox="1"/>
          <p:nvPr/>
        </p:nvSpPr>
        <p:spPr>
          <a:xfrm>
            <a:off x="3006539" y="769386"/>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Arduino code</a:t>
            </a:r>
          </a:p>
        </p:txBody>
      </p:sp>
      <p:sp>
        <p:nvSpPr>
          <p:cNvPr id="6" name="TextBox 5">
            <a:extLst>
              <a:ext uri="{FF2B5EF4-FFF2-40B4-BE49-F238E27FC236}">
                <a16:creationId xmlns:a16="http://schemas.microsoft.com/office/drawing/2014/main" id="{092C8A0B-711B-E2A1-D01D-80015ACA66B8}"/>
              </a:ext>
            </a:extLst>
          </p:cNvPr>
          <p:cNvSpPr txBox="1"/>
          <p:nvPr/>
        </p:nvSpPr>
        <p:spPr>
          <a:xfrm>
            <a:off x="618565" y="1657759"/>
            <a:ext cx="11397807" cy="4278094"/>
          </a:xfrm>
          <a:prstGeom prst="rect">
            <a:avLst/>
          </a:prstGeom>
          <a:noFill/>
        </p:spPr>
        <p:txBody>
          <a:bodyPr wrap="square" rtlCol="0">
            <a:spAutoFit/>
          </a:bodyPr>
          <a:lstStyle/>
          <a:p>
            <a:r>
              <a:rPr lang="en-US" sz="1600" dirty="0">
                <a:latin typeface="Georgia" panose="02040502050405020303" pitchFamily="18" charset="0"/>
              </a:rPr>
              <a:t>// --- LCD Update Logic (Unchanged) ---</a:t>
            </a:r>
          </a:p>
          <a:p>
            <a:r>
              <a:rPr lang="en-US" sz="1600" dirty="0">
                <a:latin typeface="Georgia" panose="02040502050405020303" pitchFamily="18" charset="0"/>
              </a:rPr>
              <a:t>  unsigned long </a:t>
            </a:r>
            <a:r>
              <a:rPr lang="en-US" sz="1600" dirty="0" err="1">
                <a:latin typeface="Georgia" panose="02040502050405020303" pitchFamily="18" charset="0"/>
              </a:rPr>
              <a:t>currentTime</a:t>
            </a:r>
            <a:r>
              <a:rPr lang="en-US" sz="1600" dirty="0">
                <a:latin typeface="Georgia" panose="02040502050405020303" pitchFamily="18" charset="0"/>
              </a:rPr>
              <a:t> = </a:t>
            </a:r>
            <a:r>
              <a:rPr lang="en-US" sz="1600" dirty="0" err="1">
                <a:latin typeface="Georgia" panose="02040502050405020303" pitchFamily="18" charset="0"/>
              </a:rPr>
              <a:t>millis</a:t>
            </a:r>
            <a:r>
              <a:rPr lang="en-US" sz="1600" dirty="0">
                <a:latin typeface="Georgia" panose="02040502050405020303" pitchFamily="18" charset="0"/>
              </a:rPr>
              <a:t>();</a:t>
            </a:r>
          </a:p>
          <a:p>
            <a:r>
              <a:rPr lang="en-US" sz="1600" dirty="0">
                <a:latin typeface="Georgia" panose="02040502050405020303" pitchFamily="18" charset="0"/>
              </a:rPr>
              <a:t>  if (</a:t>
            </a:r>
            <a:r>
              <a:rPr lang="en-US" sz="1600" dirty="0" err="1">
                <a:latin typeface="Georgia" panose="02040502050405020303" pitchFamily="18" charset="0"/>
              </a:rPr>
              <a:t>currentTime</a:t>
            </a:r>
            <a:r>
              <a:rPr lang="en-US" sz="1600" dirty="0">
                <a:latin typeface="Georgia" panose="02040502050405020303" pitchFamily="18" charset="0"/>
              </a:rPr>
              <a:t> - </a:t>
            </a:r>
            <a:r>
              <a:rPr lang="en-US" sz="1600" dirty="0" err="1">
                <a:latin typeface="Georgia" panose="02040502050405020303" pitchFamily="18" charset="0"/>
              </a:rPr>
              <a:t>lastLcdUpdateTime</a:t>
            </a:r>
            <a:r>
              <a:rPr lang="en-US" sz="1600" dirty="0">
                <a:latin typeface="Georgia" panose="02040502050405020303" pitchFamily="18" charset="0"/>
              </a:rPr>
              <a:t> &gt;= </a:t>
            </a:r>
            <a:r>
              <a:rPr lang="en-US" sz="1600" dirty="0" err="1">
                <a:latin typeface="Georgia" panose="02040502050405020303" pitchFamily="18" charset="0"/>
              </a:rPr>
              <a:t>lcdUpdateInterval</a:t>
            </a:r>
            <a:r>
              <a:rPr lang="en-US" sz="1600" dirty="0">
                <a:latin typeface="Georgia" panose="02040502050405020303" pitchFamily="18" charset="0"/>
              </a:rPr>
              <a:t>) {</a:t>
            </a:r>
          </a:p>
          <a:p>
            <a:r>
              <a:rPr lang="en-US" sz="1600" dirty="0">
                <a:latin typeface="Georgia" panose="02040502050405020303" pitchFamily="18" charset="0"/>
              </a:rPr>
              <a:t>    </a:t>
            </a:r>
            <a:r>
              <a:rPr lang="en-US" sz="1600" dirty="0" err="1">
                <a:latin typeface="Georgia" panose="02040502050405020303" pitchFamily="18" charset="0"/>
              </a:rPr>
              <a:t>lastLcdUpdateTime</a:t>
            </a:r>
            <a:r>
              <a:rPr lang="en-US" sz="1600" dirty="0">
                <a:latin typeface="Georgia" panose="02040502050405020303" pitchFamily="18" charset="0"/>
              </a:rPr>
              <a:t> = </a:t>
            </a:r>
            <a:r>
              <a:rPr lang="en-US" sz="1600" dirty="0" err="1">
                <a:latin typeface="Georgia" panose="02040502050405020303" pitchFamily="18" charset="0"/>
              </a:rPr>
              <a:t>currentTime</a:t>
            </a:r>
            <a:r>
              <a:rPr lang="en-US" sz="1600" dirty="0">
                <a:latin typeface="Georgia" panose="02040502050405020303" pitchFamily="18" charset="0"/>
              </a:rPr>
              <a:t>;</a:t>
            </a:r>
          </a:p>
          <a:p>
            <a:r>
              <a:rPr lang="en-US" sz="1600" dirty="0">
                <a:latin typeface="Georgia" panose="02040502050405020303" pitchFamily="18" charset="0"/>
              </a:rPr>
              <a:t>    </a:t>
            </a:r>
            <a:r>
              <a:rPr lang="en-US" sz="1600" dirty="0" err="1">
                <a:latin typeface="Georgia" panose="02040502050405020303" pitchFamily="18" charset="0"/>
              </a:rPr>
              <a:t>showStatusOnLcd</a:t>
            </a:r>
            <a:r>
              <a:rPr lang="en-US" sz="1600" dirty="0">
                <a:latin typeface="Georgia" panose="02040502050405020303" pitchFamily="18" charset="0"/>
              </a:rPr>
              <a:t> = !</a:t>
            </a:r>
            <a:r>
              <a:rPr lang="en-US" sz="1600" dirty="0" err="1">
                <a:latin typeface="Georgia" panose="02040502050405020303" pitchFamily="18" charset="0"/>
              </a:rPr>
              <a:t>showStatusOnLcd</a:t>
            </a:r>
            <a:r>
              <a:rPr lang="en-US" sz="1600" dirty="0">
                <a:latin typeface="Georgia" panose="02040502050405020303" pitchFamily="18" charset="0"/>
              </a:rPr>
              <a:t>; // Toggle flag each update</a:t>
            </a:r>
          </a:p>
          <a:p>
            <a:endParaRPr lang="en-US" sz="1600" dirty="0">
              <a:latin typeface="Georgia" panose="02040502050405020303" pitchFamily="18" charset="0"/>
            </a:endParaRPr>
          </a:p>
          <a:p>
            <a:r>
              <a:rPr lang="en-US" sz="1600" dirty="0">
                <a:latin typeface="Georgia" panose="02040502050405020303" pitchFamily="18" charset="0"/>
              </a:rPr>
              <a:t>    // Line 0: Temperature and Heater Status (Always shown)</a:t>
            </a:r>
          </a:p>
          <a:p>
            <a:r>
              <a:rPr lang="en-US" sz="1600" dirty="0">
                <a:latin typeface="Georgia" panose="02040502050405020303" pitchFamily="18" charset="0"/>
              </a:rPr>
              <a:t>    </a:t>
            </a:r>
            <a:r>
              <a:rPr lang="en-US" sz="1600" dirty="0" err="1">
                <a:latin typeface="Georgia" panose="02040502050405020303" pitchFamily="18" charset="0"/>
              </a:rPr>
              <a:t>lcd.setCursor</a:t>
            </a:r>
            <a:r>
              <a:rPr lang="en-US" sz="1600" dirty="0">
                <a:latin typeface="Georgia" panose="02040502050405020303" pitchFamily="18" charset="0"/>
              </a:rPr>
              <a:t>(0, 0);</a:t>
            </a:r>
          </a:p>
          <a:p>
            <a:r>
              <a:rPr lang="en-US" sz="1600" dirty="0">
                <a:latin typeface="Georgia" panose="02040502050405020303" pitchFamily="18" charset="0"/>
              </a:rPr>
              <a:t>    String line0 = "T:" + String(</a:t>
            </a:r>
            <a:r>
              <a:rPr lang="en-US" sz="1600" dirty="0" err="1">
                <a:latin typeface="Georgia" panose="02040502050405020303" pitchFamily="18" charset="0"/>
              </a:rPr>
              <a:t>currentTemp</a:t>
            </a:r>
            <a:r>
              <a:rPr lang="en-US" sz="1600" dirty="0">
                <a:latin typeface="Georgia" panose="02040502050405020303" pitchFamily="18" charset="0"/>
              </a:rPr>
              <a:t>, 1) + " H:" + (</a:t>
            </a:r>
            <a:r>
              <a:rPr lang="en-US" sz="1600" dirty="0" err="1">
                <a:latin typeface="Georgia" panose="02040502050405020303" pitchFamily="18" charset="0"/>
              </a:rPr>
              <a:t>heaterState</a:t>
            </a:r>
            <a:r>
              <a:rPr lang="en-US" sz="1600" dirty="0">
                <a:latin typeface="Georgia" panose="02040502050405020303" pitchFamily="18" charset="0"/>
              </a:rPr>
              <a:t> ? "ON " : "OFF");</a:t>
            </a:r>
          </a:p>
          <a:p>
            <a:r>
              <a:rPr lang="en-US" sz="1600" dirty="0">
                <a:latin typeface="Georgia" panose="02040502050405020303" pitchFamily="18" charset="0"/>
              </a:rPr>
              <a:t>    </a:t>
            </a:r>
            <a:r>
              <a:rPr lang="en-US" sz="1600" dirty="0" err="1">
                <a:latin typeface="Georgia" panose="02040502050405020303" pitchFamily="18" charset="0"/>
              </a:rPr>
              <a:t>lcd.print</a:t>
            </a:r>
            <a:r>
              <a:rPr lang="en-US" sz="1600" dirty="0">
                <a:latin typeface="Georgia" panose="02040502050405020303" pitchFamily="18" charset="0"/>
              </a:rPr>
              <a:t>(line0);</a:t>
            </a:r>
          </a:p>
          <a:p>
            <a:r>
              <a:rPr lang="en-US" sz="1600" dirty="0">
                <a:latin typeface="Georgia" panose="02040502050405020303" pitchFamily="18" charset="0"/>
              </a:rPr>
              <a:t>    // Pad with spaces to clear rest of line</a:t>
            </a:r>
          </a:p>
          <a:p>
            <a:r>
              <a:rPr lang="en-US" sz="1600" dirty="0">
                <a:latin typeface="Georgia" panose="02040502050405020303" pitchFamily="18" charset="0"/>
              </a:rPr>
              <a:t>    for (int </a:t>
            </a:r>
            <a:r>
              <a:rPr lang="en-US" sz="1600" dirty="0" err="1">
                <a:latin typeface="Georgia" panose="02040502050405020303" pitchFamily="18" charset="0"/>
              </a:rPr>
              <a:t>i</a:t>
            </a:r>
            <a:r>
              <a:rPr lang="en-US" sz="1600" dirty="0">
                <a:latin typeface="Georgia" panose="02040502050405020303" pitchFamily="18" charset="0"/>
              </a:rPr>
              <a:t> = line0.length(); </a:t>
            </a:r>
            <a:r>
              <a:rPr lang="en-US" sz="1600" dirty="0" err="1">
                <a:latin typeface="Georgia" panose="02040502050405020303" pitchFamily="18" charset="0"/>
              </a:rPr>
              <a:t>i</a:t>
            </a:r>
            <a:r>
              <a:rPr lang="en-US" sz="1600" dirty="0">
                <a:latin typeface="Georgia" panose="02040502050405020303" pitchFamily="18" charset="0"/>
              </a:rPr>
              <a:t> &lt; 16; </a:t>
            </a:r>
            <a:r>
              <a:rPr lang="en-US" sz="1600" dirty="0" err="1">
                <a:latin typeface="Georgia" panose="02040502050405020303" pitchFamily="18" charset="0"/>
              </a:rPr>
              <a:t>i</a:t>
            </a:r>
            <a:r>
              <a:rPr lang="en-US" sz="1600" dirty="0">
                <a:latin typeface="Georgia" panose="02040502050405020303" pitchFamily="18" charset="0"/>
              </a:rPr>
              <a:t>++) { </a:t>
            </a:r>
            <a:r>
              <a:rPr lang="en-US" sz="1600" dirty="0" err="1">
                <a:latin typeface="Georgia" panose="02040502050405020303" pitchFamily="18" charset="0"/>
              </a:rPr>
              <a:t>lcd.print</a:t>
            </a:r>
            <a:r>
              <a:rPr lang="en-US" sz="1600" dirty="0">
                <a:latin typeface="Georgia" panose="02040502050405020303" pitchFamily="18" charset="0"/>
              </a:rPr>
              <a:t>(" "); }</a:t>
            </a:r>
          </a:p>
          <a:p>
            <a:br>
              <a:rPr lang="en-US" sz="1600" dirty="0">
                <a:latin typeface="Georgia" panose="02040502050405020303" pitchFamily="18" charset="0"/>
              </a:rPr>
            </a:br>
            <a:r>
              <a:rPr lang="en-US" sz="1600" dirty="0">
                <a:latin typeface="Georgia" panose="02040502050405020303" pitchFamily="18" charset="0"/>
              </a:rPr>
              <a:t>// Line 1: Alternate between Diameter/Puller and Status Message</a:t>
            </a:r>
          </a:p>
          <a:p>
            <a:r>
              <a:rPr lang="en-US" sz="1600" dirty="0">
                <a:latin typeface="Georgia" panose="02040502050405020303" pitchFamily="18" charset="0"/>
              </a:rPr>
              <a:t>    </a:t>
            </a:r>
            <a:r>
              <a:rPr lang="en-US" sz="1600" dirty="0" err="1">
                <a:latin typeface="Georgia" panose="02040502050405020303" pitchFamily="18" charset="0"/>
              </a:rPr>
              <a:t>lcd.setCursor</a:t>
            </a:r>
            <a:r>
              <a:rPr lang="en-US" sz="1600" dirty="0">
                <a:latin typeface="Georgia" panose="02040502050405020303" pitchFamily="18" charset="0"/>
              </a:rPr>
              <a:t>(0, 1);</a:t>
            </a:r>
          </a:p>
          <a:p>
            <a:r>
              <a:rPr lang="en-US" sz="1600" dirty="0">
                <a:latin typeface="Georgia" panose="02040502050405020303" pitchFamily="18" charset="0"/>
              </a:rPr>
              <a:t>    String line1 = "";</a:t>
            </a:r>
          </a:p>
          <a:p>
            <a:r>
              <a:rPr lang="en-US" sz="1600" dirty="0">
                <a:latin typeface="Georgia" panose="02040502050405020303" pitchFamily="18" charset="0"/>
              </a:rPr>
              <a:t>   </a:t>
            </a:r>
          </a:p>
        </p:txBody>
      </p:sp>
    </p:spTree>
    <p:extLst>
      <p:ext uri="{BB962C8B-B14F-4D97-AF65-F5344CB8AC3E}">
        <p14:creationId xmlns:p14="http://schemas.microsoft.com/office/powerpoint/2010/main" val="2947959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B8F28-BD01-BE84-F0EB-44F539EE41BA}"/>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ADA9D925-D5CA-10A5-BCD1-F0DA6308C016}"/>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07830313-10ED-94A4-A36A-969FD84195EC}"/>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1CAA5727-4AC7-B940-6CA7-9A64DDA47202}"/>
              </a:ext>
            </a:extLst>
          </p:cNvPr>
          <p:cNvSpPr txBox="1"/>
          <p:nvPr/>
        </p:nvSpPr>
        <p:spPr>
          <a:xfrm>
            <a:off x="3006539" y="769386"/>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Arduino code</a:t>
            </a:r>
          </a:p>
        </p:txBody>
      </p:sp>
      <p:sp>
        <p:nvSpPr>
          <p:cNvPr id="6" name="TextBox 5">
            <a:extLst>
              <a:ext uri="{FF2B5EF4-FFF2-40B4-BE49-F238E27FC236}">
                <a16:creationId xmlns:a16="http://schemas.microsoft.com/office/drawing/2014/main" id="{357AB231-C3E3-AD27-B950-8E7349089C68}"/>
              </a:ext>
            </a:extLst>
          </p:cNvPr>
          <p:cNvSpPr txBox="1"/>
          <p:nvPr/>
        </p:nvSpPr>
        <p:spPr>
          <a:xfrm>
            <a:off x="618565" y="1657759"/>
            <a:ext cx="11397807" cy="4524315"/>
          </a:xfrm>
          <a:prstGeom prst="rect">
            <a:avLst/>
          </a:prstGeom>
          <a:noFill/>
        </p:spPr>
        <p:txBody>
          <a:bodyPr wrap="square" rtlCol="0">
            <a:spAutoFit/>
          </a:bodyPr>
          <a:lstStyle/>
          <a:p>
            <a:r>
              <a:rPr lang="en-US" sz="1600" dirty="0">
                <a:latin typeface="Georgia" panose="02040502050405020303" pitchFamily="18" charset="0"/>
              </a:rPr>
              <a:t> if (</a:t>
            </a:r>
            <a:r>
              <a:rPr lang="en-US" sz="1600" dirty="0" err="1">
                <a:latin typeface="Georgia" panose="02040502050405020303" pitchFamily="18" charset="0"/>
              </a:rPr>
              <a:t>showStatusOnLcd</a:t>
            </a:r>
            <a:r>
              <a:rPr lang="en-US" sz="1600" dirty="0">
                <a:latin typeface="Georgia" panose="02040502050405020303" pitchFamily="18" charset="0"/>
              </a:rPr>
              <a:t> &amp;&amp; </a:t>
            </a:r>
            <a:r>
              <a:rPr lang="en-US" sz="1600" dirty="0" err="1">
                <a:latin typeface="Georgia" panose="02040502050405020303" pitchFamily="18" charset="0"/>
              </a:rPr>
              <a:t>lastStatusMessage</a:t>
            </a:r>
            <a:r>
              <a:rPr lang="en-US" sz="1600" dirty="0">
                <a:latin typeface="Georgia" panose="02040502050405020303" pitchFamily="18" charset="0"/>
              </a:rPr>
              <a:t> != "") {</a:t>
            </a:r>
          </a:p>
          <a:p>
            <a:r>
              <a:rPr lang="en-US" sz="1600" dirty="0">
                <a:latin typeface="Georgia" panose="02040502050405020303" pitchFamily="18" charset="0"/>
              </a:rPr>
              <a:t>      // Display the status message (use the internal status, e.g., "Thin-&gt;Inc Temp")</a:t>
            </a:r>
          </a:p>
          <a:p>
            <a:r>
              <a:rPr lang="en-US" sz="1600" dirty="0">
                <a:latin typeface="Georgia" panose="02040502050405020303" pitchFamily="18" charset="0"/>
              </a:rPr>
              <a:t>      if (</a:t>
            </a:r>
            <a:r>
              <a:rPr lang="en-US" sz="1600" dirty="0" err="1">
                <a:latin typeface="Georgia" panose="02040502050405020303" pitchFamily="18" charset="0"/>
              </a:rPr>
              <a:t>lastStatusMessage</a:t>
            </a:r>
            <a:r>
              <a:rPr lang="en-US" sz="1600" dirty="0">
                <a:latin typeface="Georgia" panose="02040502050405020303" pitchFamily="18" charset="0"/>
              </a:rPr>
              <a:t> == "Filament too thick ➜ Increasing puller speed") line1 = "Thick-&gt;Pull Faster";</a:t>
            </a:r>
          </a:p>
          <a:p>
            <a:r>
              <a:rPr lang="en-US" sz="1600" dirty="0">
                <a:latin typeface="Georgia" panose="02040502050405020303" pitchFamily="18" charset="0"/>
              </a:rPr>
              <a:t>      else if (</a:t>
            </a:r>
            <a:r>
              <a:rPr lang="en-US" sz="1600" dirty="0" err="1">
                <a:latin typeface="Georgia" panose="02040502050405020303" pitchFamily="18" charset="0"/>
              </a:rPr>
              <a:t>lastStatusMessage</a:t>
            </a:r>
            <a:r>
              <a:rPr lang="en-US" sz="1600" dirty="0">
                <a:latin typeface="Georgia" panose="02040502050405020303" pitchFamily="18" charset="0"/>
              </a:rPr>
              <a:t> == "Filament too thin ➜ Increasing temp slightly") line1 = "Thin-&gt;Inc Temp";</a:t>
            </a:r>
          </a:p>
          <a:p>
            <a:r>
              <a:rPr lang="en-US" sz="1600" dirty="0">
                <a:latin typeface="Georgia" panose="02040502050405020303" pitchFamily="18" charset="0"/>
              </a:rPr>
              <a:t>      else line1 = </a:t>
            </a:r>
            <a:r>
              <a:rPr lang="en-US" sz="1600" dirty="0" err="1">
                <a:latin typeface="Georgia" panose="02040502050405020303" pitchFamily="18" charset="0"/>
              </a:rPr>
              <a:t>lastStatusMessage</a:t>
            </a:r>
            <a:r>
              <a:rPr lang="en-US" sz="1600" dirty="0">
                <a:latin typeface="Georgia" panose="02040502050405020303" pitchFamily="18" charset="0"/>
              </a:rPr>
              <a:t>; // Display other statuses like "Sensor Error?" or "Diameter OK"</a:t>
            </a:r>
          </a:p>
          <a:p>
            <a:r>
              <a:rPr lang="en-US" sz="1600" dirty="0">
                <a:latin typeface="Georgia" panose="02040502050405020303" pitchFamily="18" charset="0"/>
              </a:rPr>
              <a:t>    } else {</a:t>
            </a:r>
          </a:p>
          <a:p>
            <a:r>
              <a:rPr lang="en-US" sz="1600" dirty="0">
                <a:latin typeface="Georgia" panose="02040502050405020303" pitchFamily="18" charset="0"/>
              </a:rPr>
              <a:t>      // Display Diameter and Puller Speed</a:t>
            </a:r>
          </a:p>
          <a:p>
            <a:r>
              <a:rPr lang="en-US" sz="1600" dirty="0">
                <a:latin typeface="Georgia" panose="02040502050405020303" pitchFamily="18" charset="0"/>
              </a:rPr>
              <a:t>      line1 = "D:" + String(diameter, 2) + " P:" + String(</a:t>
            </a:r>
            <a:r>
              <a:rPr lang="en-US" sz="1600" dirty="0" err="1">
                <a:latin typeface="Georgia" panose="02040502050405020303" pitchFamily="18" charset="0"/>
              </a:rPr>
              <a:t>pullerSpeed</a:t>
            </a:r>
            <a:r>
              <a:rPr lang="en-US" sz="1600" dirty="0">
                <a:latin typeface="Georgia" panose="02040502050405020303" pitchFamily="18" charset="0"/>
              </a:rPr>
              <a:t>);</a:t>
            </a:r>
          </a:p>
          <a:p>
            <a:r>
              <a:rPr lang="en-US" sz="1600" dirty="0">
                <a:latin typeface="Georgia" panose="02040502050405020303" pitchFamily="18" charset="0"/>
              </a:rPr>
              <a:t>    }</a:t>
            </a:r>
          </a:p>
          <a:p>
            <a:r>
              <a:rPr lang="en-US" sz="1600" dirty="0">
                <a:latin typeface="Georgia" panose="02040502050405020303" pitchFamily="18" charset="0"/>
              </a:rPr>
              <a:t>    </a:t>
            </a:r>
            <a:r>
              <a:rPr lang="en-US" sz="1600" dirty="0" err="1">
                <a:latin typeface="Georgia" panose="02040502050405020303" pitchFamily="18" charset="0"/>
              </a:rPr>
              <a:t>lcd.print</a:t>
            </a:r>
            <a:r>
              <a:rPr lang="en-US" sz="1600" dirty="0">
                <a:latin typeface="Georgia" panose="02040502050405020303" pitchFamily="18" charset="0"/>
              </a:rPr>
              <a:t>(line1);</a:t>
            </a:r>
          </a:p>
          <a:p>
            <a:r>
              <a:rPr lang="en-US" sz="1600" dirty="0">
                <a:latin typeface="Georgia" panose="02040502050405020303" pitchFamily="18" charset="0"/>
              </a:rPr>
              <a:t>    // Pad with spaces to clear rest of line</a:t>
            </a:r>
          </a:p>
          <a:p>
            <a:r>
              <a:rPr lang="en-US" sz="1600" dirty="0">
                <a:latin typeface="Georgia" panose="02040502050405020303" pitchFamily="18" charset="0"/>
              </a:rPr>
              <a:t>    for (int </a:t>
            </a:r>
            <a:r>
              <a:rPr lang="en-US" sz="1600" dirty="0" err="1">
                <a:latin typeface="Georgia" panose="02040502050405020303" pitchFamily="18" charset="0"/>
              </a:rPr>
              <a:t>i</a:t>
            </a:r>
            <a:r>
              <a:rPr lang="en-US" sz="1600" dirty="0">
                <a:latin typeface="Georgia" panose="02040502050405020303" pitchFamily="18" charset="0"/>
              </a:rPr>
              <a:t> = line1.length(); </a:t>
            </a:r>
            <a:r>
              <a:rPr lang="en-US" sz="1600" dirty="0" err="1">
                <a:latin typeface="Georgia" panose="02040502050405020303" pitchFamily="18" charset="0"/>
              </a:rPr>
              <a:t>i</a:t>
            </a:r>
            <a:r>
              <a:rPr lang="en-US" sz="1600" dirty="0">
                <a:latin typeface="Georgia" panose="02040502050405020303" pitchFamily="18" charset="0"/>
              </a:rPr>
              <a:t> &lt; 16; </a:t>
            </a:r>
            <a:r>
              <a:rPr lang="en-US" sz="1600" dirty="0" err="1">
                <a:latin typeface="Georgia" panose="02040502050405020303" pitchFamily="18" charset="0"/>
              </a:rPr>
              <a:t>i</a:t>
            </a:r>
            <a:r>
              <a:rPr lang="en-US" sz="1600" dirty="0">
                <a:latin typeface="Georgia" panose="02040502050405020303" pitchFamily="18" charset="0"/>
              </a:rPr>
              <a:t>++) { </a:t>
            </a:r>
            <a:r>
              <a:rPr lang="en-US" sz="1600" dirty="0" err="1">
                <a:latin typeface="Georgia" panose="02040502050405020303" pitchFamily="18" charset="0"/>
              </a:rPr>
              <a:t>lcd.print</a:t>
            </a:r>
            <a:r>
              <a:rPr lang="en-US" sz="1600" dirty="0">
                <a:latin typeface="Georgia" panose="02040502050405020303" pitchFamily="18" charset="0"/>
              </a:rPr>
              <a:t>(" "); }</a:t>
            </a:r>
          </a:p>
          <a:p>
            <a:r>
              <a:rPr lang="en-US" sz="1600" dirty="0">
                <a:latin typeface="Georgia" panose="02040502050405020303" pitchFamily="18" charset="0"/>
              </a:rPr>
              <a:t>  }</a:t>
            </a:r>
          </a:p>
          <a:p>
            <a:endParaRPr lang="en-US" sz="1600" dirty="0">
              <a:latin typeface="Georgia" panose="02040502050405020303" pitchFamily="18" charset="0"/>
            </a:endParaRPr>
          </a:p>
          <a:p>
            <a:r>
              <a:rPr lang="en-US" sz="1600" dirty="0">
                <a:latin typeface="Georgia" panose="02040502050405020303" pitchFamily="18" charset="0"/>
              </a:rPr>
              <a:t>  // Short delay - adjust if needed, but LCD updates control the main timing</a:t>
            </a:r>
          </a:p>
          <a:p>
            <a:r>
              <a:rPr lang="en-US" sz="1600" dirty="0">
                <a:latin typeface="Georgia" panose="02040502050405020303" pitchFamily="18" charset="0"/>
              </a:rPr>
              <a:t>  delay(1000); </a:t>
            </a:r>
          </a:p>
          <a:p>
            <a:r>
              <a:rPr lang="en-US" sz="1600" dirty="0">
                <a:latin typeface="Georgia" panose="02040502050405020303" pitchFamily="18" charset="0"/>
              </a:rPr>
              <a:t>}</a:t>
            </a:r>
          </a:p>
          <a:p>
            <a:endParaRPr lang="en-US" sz="1600" dirty="0">
              <a:latin typeface="Georgia" panose="02040502050405020303" pitchFamily="18" charset="0"/>
            </a:endParaRPr>
          </a:p>
        </p:txBody>
      </p:sp>
    </p:spTree>
    <p:extLst>
      <p:ext uri="{BB962C8B-B14F-4D97-AF65-F5344CB8AC3E}">
        <p14:creationId xmlns:p14="http://schemas.microsoft.com/office/powerpoint/2010/main" val="22071019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C2B41-607B-249C-F3DF-33E489B87B59}"/>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4716CA5A-7167-F7F4-A14D-FA8FEF4E5255}"/>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E7C112F9-1E31-8005-6877-C1827A945FD7}"/>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E58F8716-EB69-247F-9C0B-0AC85E5BCC49}"/>
              </a:ext>
            </a:extLst>
          </p:cNvPr>
          <p:cNvSpPr txBox="1"/>
          <p:nvPr/>
        </p:nvSpPr>
        <p:spPr>
          <a:xfrm>
            <a:off x="3006539" y="769386"/>
            <a:ext cx="6178922" cy="1034129"/>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Arduino code</a:t>
            </a:r>
          </a:p>
        </p:txBody>
      </p:sp>
      <p:sp>
        <p:nvSpPr>
          <p:cNvPr id="6" name="TextBox 5">
            <a:extLst>
              <a:ext uri="{FF2B5EF4-FFF2-40B4-BE49-F238E27FC236}">
                <a16:creationId xmlns:a16="http://schemas.microsoft.com/office/drawing/2014/main" id="{862A382C-1E47-9BF9-3DDC-30357900E4EE}"/>
              </a:ext>
            </a:extLst>
          </p:cNvPr>
          <p:cNvSpPr txBox="1"/>
          <p:nvPr/>
        </p:nvSpPr>
        <p:spPr>
          <a:xfrm>
            <a:off x="397096" y="1640411"/>
            <a:ext cx="11397807" cy="5016758"/>
          </a:xfrm>
          <a:prstGeom prst="rect">
            <a:avLst/>
          </a:prstGeom>
          <a:noFill/>
        </p:spPr>
        <p:txBody>
          <a:bodyPr wrap="square" rtlCol="0">
            <a:spAutoFit/>
          </a:bodyPr>
          <a:lstStyle/>
          <a:p>
            <a:r>
              <a:rPr lang="en-US" sz="1600" dirty="0">
                <a:latin typeface="Georgia" panose="02040502050405020303" pitchFamily="18" charset="0"/>
              </a:rPr>
              <a:t>// --- Lookup Table Interpolation Function (Unchanged) ---</a:t>
            </a:r>
          </a:p>
          <a:p>
            <a:r>
              <a:rPr lang="en-US" sz="1600" dirty="0">
                <a:latin typeface="Georgia" panose="02040502050405020303" pitchFamily="18" charset="0"/>
              </a:rPr>
              <a:t>float lookup(float </a:t>
            </a:r>
            <a:r>
              <a:rPr lang="en-US" sz="1600" dirty="0" err="1">
                <a:latin typeface="Georgia" panose="02040502050405020303" pitchFamily="18" charset="0"/>
              </a:rPr>
              <a:t>inval</a:t>
            </a:r>
            <a:r>
              <a:rPr lang="en-US" sz="1600" dirty="0">
                <a:latin typeface="Georgia" panose="02040502050405020303" pitchFamily="18" charset="0"/>
              </a:rPr>
              <a:t>, float </a:t>
            </a:r>
            <a:r>
              <a:rPr lang="en-US" sz="1600" dirty="0" err="1">
                <a:latin typeface="Georgia" panose="02040502050405020303" pitchFamily="18" charset="0"/>
              </a:rPr>
              <a:t>lut</a:t>
            </a:r>
            <a:r>
              <a:rPr lang="en-US" sz="1600" dirty="0">
                <a:latin typeface="Georgia" panose="02040502050405020303" pitchFamily="18" charset="0"/>
              </a:rPr>
              <a:t>[][2]) {</a:t>
            </a:r>
          </a:p>
          <a:p>
            <a:r>
              <a:rPr lang="en-US" sz="1600" dirty="0">
                <a:latin typeface="Georgia" panose="02040502050405020303" pitchFamily="18" charset="0"/>
              </a:rPr>
              <a:t>  byte </a:t>
            </a:r>
            <a:r>
              <a:rPr lang="en-US" sz="1600" dirty="0" err="1">
                <a:latin typeface="Georgia" panose="02040502050405020303" pitchFamily="18" charset="0"/>
              </a:rPr>
              <a:t>i</a:t>
            </a:r>
            <a:r>
              <a:rPr lang="en-US" sz="1600" dirty="0">
                <a:latin typeface="Georgia" panose="02040502050405020303" pitchFamily="18" charset="0"/>
              </a:rPr>
              <a:t>;</a:t>
            </a:r>
          </a:p>
          <a:p>
            <a:r>
              <a:rPr lang="en-US" sz="1600" dirty="0">
                <a:latin typeface="Georgia" panose="02040502050405020303" pitchFamily="18" charset="0"/>
              </a:rPr>
              <a:t>  // Check if below the first entry</a:t>
            </a:r>
          </a:p>
          <a:p>
            <a:r>
              <a:rPr lang="en-US" sz="1600" dirty="0">
                <a:latin typeface="Georgia" panose="02040502050405020303" pitchFamily="18" charset="0"/>
              </a:rPr>
              <a:t>  if (</a:t>
            </a:r>
            <a:r>
              <a:rPr lang="en-US" sz="1600" dirty="0" err="1">
                <a:latin typeface="Georgia" panose="02040502050405020303" pitchFamily="18" charset="0"/>
              </a:rPr>
              <a:t>inval</a:t>
            </a:r>
            <a:r>
              <a:rPr lang="en-US" sz="1600" dirty="0">
                <a:latin typeface="Georgia" panose="02040502050405020303" pitchFamily="18" charset="0"/>
              </a:rPr>
              <a:t> &lt;= </a:t>
            </a:r>
            <a:r>
              <a:rPr lang="en-US" sz="1600" dirty="0" err="1">
                <a:latin typeface="Georgia" panose="02040502050405020303" pitchFamily="18" charset="0"/>
              </a:rPr>
              <a:t>lut</a:t>
            </a:r>
            <a:r>
              <a:rPr lang="en-US" sz="1600" dirty="0">
                <a:latin typeface="Georgia" panose="02040502050405020303" pitchFamily="18" charset="0"/>
              </a:rPr>
              <a:t>[0][0]) {</a:t>
            </a:r>
          </a:p>
          <a:p>
            <a:r>
              <a:rPr lang="en-US" sz="1600" dirty="0">
                <a:latin typeface="Georgia" panose="02040502050405020303" pitchFamily="18" charset="0"/>
              </a:rPr>
              <a:t>      return </a:t>
            </a:r>
            <a:r>
              <a:rPr lang="en-US" sz="1600" dirty="0" err="1">
                <a:latin typeface="Georgia" panose="02040502050405020303" pitchFamily="18" charset="0"/>
              </a:rPr>
              <a:t>lut</a:t>
            </a:r>
            <a:r>
              <a:rPr lang="en-US" sz="1600" dirty="0">
                <a:latin typeface="Georgia" panose="02040502050405020303" pitchFamily="18" charset="0"/>
              </a:rPr>
              <a:t>[0][1]; // Return the diameter associated with the lowest raw value (0 in this case)</a:t>
            </a:r>
          </a:p>
          <a:p>
            <a:r>
              <a:rPr lang="en-US" sz="1600" dirty="0">
                <a:latin typeface="Georgia" panose="02040502050405020303" pitchFamily="18" charset="0"/>
              </a:rPr>
              <a:t>  }</a:t>
            </a:r>
          </a:p>
          <a:p>
            <a:r>
              <a:rPr lang="en-US" sz="1600" dirty="0">
                <a:latin typeface="Georgia" panose="02040502050405020303" pitchFamily="18" charset="0"/>
              </a:rPr>
              <a:t>  // Check if above the last entry</a:t>
            </a:r>
          </a:p>
          <a:p>
            <a:r>
              <a:rPr lang="en-US" sz="1600" dirty="0">
                <a:latin typeface="Georgia" panose="02040502050405020303" pitchFamily="18" charset="0"/>
              </a:rPr>
              <a:t>  if (</a:t>
            </a:r>
            <a:r>
              <a:rPr lang="en-US" sz="1600" dirty="0" err="1">
                <a:latin typeface="Georgia" panose="02040502050405020303" pitchFamily="18" charset="0"/>
              </a:rPr>
              <a:t>inval</a:t>
            </a:r>
            <a:r>
              <a:rPr lang="en-US" sz="1600" dirty="0">
                <a:latin typeface="Georgia" panose="02040502050405020303" pitchFamily="18" charset="0"/>
              </a:rPr>
              <a:t> &gt;= </a:t>
            </a:r>
            <a:r>
              <a:rPr lang="en-US" sz="1600" dirty="0" err="1">
                <a:latin typeface="Georgia" panose="02040502050405020303" pitchFamily="18" charset="0"/>
              </a:rPr>
              <a:t>lut</a:t>
            </a:r>
            <a:r>
              <a:rPr lang="en-US" sz="1600" dirty="0">
                <a:latin typeface="Georgia" panose="02040502050405020303" pitchFamily="18" charset="0"/>
              </a:rPr>
              <a:t>[NUMTEMPS - 1][0]) {</a:t>
            </a:r>
          </a:p>
          <a:p>
            <a:r>
              <a:rPr lang="en-US" sz="1600" dirty="0">
                <a:latin typeface="Georgia" panose="02040502050405020303" pitchFamily="18" charset="0"/>
              </a:rPr>
              <a:t>      return </a:t>
            </a:r>
            <a:r>
              <a:rPr lang="en-US" sz="1600" dirty="0" err="1">
                <a:latin typeface="Georgia" panose="02040502050405020303" pitchFamily="18" charset="0"/>
              </a:rPr>
              <a:t>lut</a:t>
            </a:r>
            <a:r>
              <a:rPr lang="en-US" sz="1600" dirty="0">
                <a:latin typeface="Georgia" panose="02040502050405020303" pitchFamily="18" charset="0"/>
              </a:rPr>
              <a:t>[NUMTEMPS - 1][1]; // Return max diameter</a:t>
            </a:r>
          </a:p>
          <a:p>
            <a:r>
              <a:rPr lang="en-US" sz="1600" dirty="0">
                <a:latin typeface="Georgia" panose="02040502050405020303" pitchFamily="18" charset="0"/>
              </a:rPr>
              <a:t>  } </a:t>
            </a:r>
          </a:p>
          <a:p>
            <a:r>
              <a:rPr lang="en-US" sz="1600" dirty="0">
                <a:latin typeface="Georgia" panose="02040502050405020303" pitchFamily="18" charset="0"/>
              </a:rPr>
              <a:t>// Find the interval and interpolate</a:t>
            </a:r>
          </a:p>
          <a:p>
            <a:r>
              <a:rPr lang="en-US" sz="1600" dirty="0">
                <a:latin typeface="Georgia" panose="02040502050405020303" pitchFamily="18" charset="0"/>
              </a:rPr>
              <a:t>  for (</a:t>
            </a:r>
            <a:r>
              <a:rPr lang="en-US" sz="1600" dirty="0" err="1">
                <a:latin typeface="Georgia" panose="02040502050405020303" pitchFamily="18" charset="0"/>
              </a:rPr>
              <a:t>i</a:t>
            </a:r>
            <a:r>
              <a:rPr lang="en-US" sz="1600" dirty="0">
                <a:latin typeface="Georgia" panose="02040502050405020303" pitchFamily="18" charset="0"/>
              </a:rPr>
              <a:t> = 1; </a:t>
            </a:r>
            <a:r>
              <a:rPr lang="en-US" sz="1600" dirty="0" err="1">
                <a:latin typeface="Georgia" panose="02040502050405020303" pitchFamily="18" charset="0"/>
              </a:rPr>
              <a:t>i</a:t>
            </a:r>
            <a:r>
              <a:rPr lang="en-US" sz="1600" dirty="0">
                <a:latin typeface="Georgia" panose="02040502050405020303" pitchFamily="18" charset="0"/>
              </a:rPr>
              <a:t> &lt; NUMTEMPS; </a:t>
            </a:r>
            <a:r>
              <a:rPr lang="en-US" sz="1600" dirty="0" err="1">
                <a:latin typeface="Georgia" panose="02040502050405020303" pitchFamily="18" charset="0"/>
              </a:rPr>
              <a:t>i</a:t>
            </a:r>
            <a:r>
              <a:rPr lang="en-US" sz="1600" dirty="0">
                <a:latin typeface="Georgia" panose="02040502050405020303" pitchFamily="18" charset="0"/>
              </a:rPr>
              <a:t>++) {</a:t>
            </a:r>
          </a:p>
          <a:p>
            <a:r>
              <a:rPr lang="en-US" sz="1600" dirty="0">
                <a:latin typeface="Georgia" panose="02040502050405020303" pitchFamily="18" charset="0"/>
              </a:rPr>
              <a:t>    if (</a:t>
            </a:r>
            <a:r>
              <a:rPr lang="en-US" sz="1600" dirty="0" err="1">
                <a:latin typeface="Georgia" panose="02040502050405020303" pitchFamily="18" charset="0"/>
              </a:rPr>
              <a:t>lut</a:t>
            </a:r>
            <a:r>
              <a:rPr lang="en-US" sz="1600" dirty="0">
                <a:latin typeface="Georgia" panose="02040502050405020303" pitchFamily="18" charset="0"/>
              </a:rPr>
              <a:t>[</a:t>
            </a:r>
            <a:r>
              <a:rPr lang="en-US" sz="1600" dirty="0" err="1">
                <a:latin typeface="Georgia" panose="02040502050405020303" pitchFamily="18" charset="0"/>
              </a:rPr>
              <a:t>i</a:t>
            </a:r>
            <a:r>
              <a:rPr lang="en-US" sz="1600" dirty="0">
                <a:latin typeface="Georgia" panose="02040502050405020303" pitchFamily="18" charset="0"/>
              </a:rPr>
              <a:t>][0] &gt;= </a:t>
            </a:r>
            <a:r>
              <a:rPr lang="en-US" sz="1600" dirty="0" err="1">
                <a:latin typeface="Georgia" panose="02040502050405020303" pitchFamily="18" charset="0"/>
              </a:rPr>
              <a:t>inval</a:t>
            </a:r>
            <a:r>
              <a:rPr lang="en-US" sz="1600" dirty="0">
                <a:latin typeface="Georgia" panose="02040502050405020303" pitchFamily="18" charset="0"/>
              </a:rPr>
              <a:t>) { // Find the first raw value in the table &gt;= input value</a:t>
            </a:r>
          </a:p>
          <a:p>
            <a:r>
              <a:rPr lang="en-US" sz="1600" dirty="0">
                <a:latin typeface="Georgia" panose="02040502050405020303" pitchFamily="18" charset="0"/>
              </a:rPr>
              <a:t>      // Interpolate within the interval [i-1, </a:t>
            </a:r>
            <a:r>
              <a:rPr lang="en-US" sz="1600" dirty="0" err="1">
                <a:latin typeface="Georgia" panose="02040502050405020303" pitchFamily="18" charset="0"/>
              </a:rPr>
              <a:t>i</a:t>
            </a:r>
            <a:r>
              <a:rPr lang="en-US" sz="1600" dirty="0">
                <a:latin typeface="Georgia" panose="02040502050405020303" pitchFamily="18" charset="0"/>
              </a:rPr>
              <a:t>]</a:t>
            </a:r>
          </a:p>
          <a:p>
            <a:r>
              <a:rPr lang="en-US" sz="1600" dirty="0">
                <a:latin typeface="Georgia" panose="02040502050405020303" pitchFamily="18" charset="0"/>
              </a:rPr>
              <a:t>      float val1 = </a:t>
            </a:r>
            <a:r>
              <a:rPr lang="en-US" sz="1600" dirty="0" err="1">
                <a:latin typeface="Georgia" panose="02040502050405020303" pitchFamily="18" charset="0"/>
              </a:rPr>
              <a:t>lut</a:t>
            </a:r>
            <a:r>
              <a:rPr lang="en-US" sz="1600" dirty="0">
                <a:latin typeface="Georgia" panose="02040502050405020303" pitchFamily="18" charset="0"/>
              </a:rPr>
              <a:t>[i-1][0]; // Lower raw value</a:t>
            </a:r>
          </a:p>
          <a:p>
            <a:r>
              <a:rPr lang="en-US" sz="1600" dirty="0">
                <a:latin typeface="Georgia" panose="02040502050405020303" pitchFamily="18" charset="0"/>
              </a:rPr>
              <a:t>      float val2 = </a:t>
            </a:r>
            <a:r>
              <a:rPr lang="en-US" sz="1600" dirty="0" err="1">
                <a:latin typeface="Georgia" panose="02040502050405020303" pitchFamily="18" charset="0"/>
              </a:rPr>
              <a:t>lut</a:t>
            </a:r>
            <a:r>
              <a:rPr lang="en-US" sz="1600" dirty="0">
                <a:latin typeface="Georgia" panose="02040502050405020303" pitchFamily="18" charset="0"/>
              </a:rPr>
              <a:t>[</a:t>
            </a:r>
            <a:r>
              <a:rPr lang="en-US" sz="1600" dirty="0" err="1">
                <a:latin typeface="Georgia" panose="02040502050405020303" pitchFamily="18" charset="0"/>
              </a:rPr>
              <a:t>i</a:t>
            </a:r>
            <a:r>
              <a:rPr lang="en-US" sz="1600" dirty="0">
                <a:latin typeface="Georgia" panose="02040502050405020303" pitchFamily="18" charset="0"/>
              </a:rPr>
              <a:t>][0];   // Upper raw value</a:t>
            </a:r>
          </a:p>
          <a:p>
            <a:r>
              <a:rPr lang="en-US" sz="1600" dirty="0">
                <a:latin typeface="Georgia" panose="02040502050405020303" pitchFamily="18" charset="0"/>
              </a:rPr>
              <a:t>      float out1 = </a:t>
            </a:r>
            <a:r>
              <a:rPr lang="en-US" sz="1600" dirty="0" err="1">
                <a:latin typeface="Georgia" panose="02040502050405020303" pitchFamily="18" charset="0"/>
              </a:rPr>
              <a:t>lut</a:t>
            </a:r>
            <a:r>
              <a:rPr lang="en-US" sz="1600" dirty="0">
                <a:latin typeface="Georgia" panose="02040502050405020303" pitchFamily="18" charset="0"/>
              </a:rPr>
              <a:t>[i-1][1]; // Lower diameter</a:t>
            </a:r>
          </a:p>
          <a:p>
            <a:r>
              <a:rPr lang="en-US" sz="1600" dirty="0">
                <a:latin typeface="Georgia" panose="02040502050405020303" pitchFamily="18" charset="0"/>
              </a:rPr>
              <a:t>      float out2 = </a:t>
            </a:r>
            <a:r>
              <a:rPr lang="en-US" sz="1600" dirty="0" err="1">
                <a:latin typeface="Georgia" panose="02040502050405020303" pitchFamily="18" charset="0"/>
              </a:rPr>
              <a:t>lut</a:t>
            </a:r>
            <a:r>
              <a:rPr lang="en-US" sz="1600" dirty="0">
                <a:latin typeface="Georgia" panose="02040502050405020303" pitchFamily="18" charset="0"/>
              </a:rPr>
              <a:t>[</a:t>
            </a:r>
            <a:r>
              <a:rPr lang="en-US" sz="1600" dirty="0" err="1">
                <a:latin typeface="Georgia" panose="02040502050405020303" pitchFamily="18" charset="0"/>
              </a:rPr>
              <a:t>i</a:t>
            </a:r>
            <a:r>
              <a:rPr lang="en-US" sz="1600" dirty="0">
                <a:latin typeface="Georgia" panose="02040502050405020303" pitchFamily="18" charset="0"/>
              </a:rPr>
              <a:t>][1];   // Upper diameter</a:t>
            </a:r>
          </a:p>
          <a:p>
            <a:r>
              <a:rPr lang="en-US" sz="1600" dirty="0">
                <a:latin typeface="Georgia" panose="02040502050405020303" pitchFamily="18" charset="0"/>
              </a:rPr>
              <a:t>      </a:t>
            </a:r>
          </a:p>
        </p:txBody>
      </p:sp>
    </p:spTree>
    <p:extLst>
      <p:ext uri="{BB962C8B-B14F-4D97-AF65-F5344CB8AC3E}">
        <p14:creationId xmlns:p14="http://schemas.microsoft.com/office/powerpoint/2010/main" val="2427222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50140-2C01-0107-F82D-A29B9C6D0E6C}"/>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4EBF5A9C-9F6A-F433-93F4-C5E4EAA9A036}"/>
              </a:ext>
            </a:extLst>
          </p:cNvPr>
          <p:cNvSpPr txBox="1">
            <a:spLocks noGrp="1"/>
          </p:cNvSpPr>
          <p:nvPr>
            <p:ph type="title"/>
          </p:nvPr>
        </p:nvSpPr>
        <p:spPr>
          <a:xfrm>
            <a:off x="618565" y="188259"/>
            <a:ext cx="4450976"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METHODOLOGY</a:t>
            </a:r>
            <a:endParaRPr sz="5400" dirty="0">
              <a:latin typeface="Bebas Neue" panose="020B0606020202050201" pitchFamily="34" charset="0"/>
            </a:endParaRPr>
          </a:p>
        </p:txBody>
      </p:sp>
      <p:sp>
        <p:nvSpPr>
          <p:cNvPr id="5" name="Google Shape;1523;p33">
            <a:extLst>
              <a:ext uri="{FF2B5EF4-FFF2-40B4-BE49-F238E27FC236}">
                <a16:creationId xmlns:a16="http://schemas.microsoft.com/office/drawing/2014/main" id="{9DA957FB-BB14-AB52-C484-FEC48BEA2ED0}"/>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03</a:t>
            </a:r>
          </a:p>
        </p:txBody>
      </p:sp>
      <p:sp>
        <p:nvSpPr>
          <p:cNvPr id="3" name="TextBox 2">
            <a:extLst>
              <a:ext uri="{FF2B5EF4-FFF2-40B4-BE49-F238E27FC236}">
                <a16:creationId xmlns:a16="http://schemas.microsoft.com/office/drawing/2014/main" id="{BEC5FA40-2C5E-E5A3-4B76-F0A896E00418}"/>
              </a:ext>
            </a:extLst>
          </p:cNvPr>
          <p:cNvSpPr txBox="1"/>
          <p:nvPr/>
        </p:nvSpPr>
        <p:spPr>
          <a:xfrm>
            <a:off x="3006539" y="897972"/>
            <a:ext cx="6178922" cy="776956"/>
          </a:xfrm>
          <a:prstGeom prst="rect">
            <a:avLst/>
          </a:prstGeom>
          <a:noFill/>
        </p:spPr>
        <p:txBody>
          <a:bodyPr wrap="square">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7200" i="0" u="none" strike="noStrike" kern="0" cap="none" spc="0" normalizeH="0" baseline="0" noProof="0" dirty="0">
                <a:ln>
                  <a:noFill/>
                </a:ln>
                <a:solidFill>
                  <a:srgbClr val="1F7EF1"/>
                </a:solidFill>
                <a:effectLst>
                  <a:outerShdw blurRad="38100" dist="38100" dir="2700000" algn="tl">
                    <a:srgbClr val="000000">
                      <a:alpha val="43137"/>
                    </a:srgbClr>
                  </a:outerShdw>
                </a:effectLst>
                <a:uLnTx/>
                <a:uFillTx/>
                <a:latin typeface="Bebas Neue" panose="020B0606020202050201" pitchFamily="34" charset="0"/>
              </a:rPr>
              <a:t>Arduino code</a:t>
            </a:r>
          </a:p>
        </p:txBody>
      </p:sp>
      <p:sp>
        <p:nvSpPr>
          <p:cNvPr id="6" name="TextBox 5">
            <a:extLst>
              <a:ext uri="{FF2B5EF4-FFF2-40B4-BE49-F238E27FC236}">
                <a16:creationId xmlns:a16="http://schemas.microsoft.com/office/drawing/2014/main" id="{3882CF5D-6904-C46D-5119-DC27AD0B2EB2}"/>
              </a:ext>
            </a:extLst>
          </p:cNvPr>
          <p:cNvSpPr txBox="1"/>
          <p:nvPr/>
        </p:nvSpPr>
        <p:spPr>
          <a:xfrm>
            <a:off x="397096" y="1640411"/>
            <a:ext cx="11397807" cy="1815882"/>
          </a:xfrm>
          <a:prstGeom prst="rect">
            <a:avLst/>
          </a:prstGeom>
          <a:noFill/>
        </p:spPr>
        <p:txBody>
          <a:bodyPr wrap="square" rtlCol="0">
            <a:spAutoFit/>
          </a:bodyPr>
          <a:lstStyle/>
          <a:p>
            <a:r>
              <a:rPr lang="en-US" sz="1600" dirty="0">
                <a:latin typeface="Georgia" panose="02040502050405020303" pitchFamily="18" charset="0"/>
              </a:rPr>
              <a:t>// Perform linear interpolation</a:t>
            </a:r>
          </a:p>
          <a:p>
            <a:r>
              <a:rPr lang="en-US" sz="1600" dirty="0">
                <a:latin typeface="Georgia" panose="02040502050405020303" pitchFamily="18" charset="0"/>
              </a:rPr>
              <a:t>      return out1 + (</a:t>
            </a:r>
            <a:r>
              <a:rPr lang="en-US" sz="1600" dirty="0" err="1">
                <a:latin typeface="Georgia" panose="02040502050405020303" pitchFamily="18" charset="0"/>
              </a:rPr>
              <a:t>inval</a:t>
            </a:r>
            <a:r>
              <a:rPr lang="en-US" sz="1600" dirty="0">
                <a:latin typeface="Georgia" panose="02040502050405020303" pitchFamily="18" charset="0"/>
              </a:rPr>
              <a:t> - val1) * (out2 - out1) / (val2 - val1);</a:t>
            </a:r>
          </a:p>
          <a:p>
            <a:r>
              <a:rPr lang="en-US" sz="1600" dirty="0">
                <a:latin typeface="Georgia" panose="02040502050405020303" pitchFamily="18" charset="0"/>
              </a:rPr>
              <a:t>    }</a:t>
            </a:r>
          </a:p>
          <a:p>
            <a:r>
              <a:rPr lang="en-US" sz="1600" dirty="0">
                <a:latin typeface="Georgia" panose="02040502050405020303" pitchFamily="18" charset="0"/>
              </a:rPr>
              <a:t>  }</a:t>
            </a:r>
          </a:p>
          <a:p>
            <a:r>
              <a:rPr lang="en-US" sz="1600" dirty="0">
                <a:latin typeface="Georgia" panose="02040502050405020303" pitchFamily="18" charset="0"/>
              </a:rPr>
              <a:t>  // Should not be reached due to checks above, but return max as fallback</a:t>
            </a:r>
          </a:p>
          <a:p>
            <a:r>
              <a:rPr lang="en-US" sz="1600" dirty="0">
                <a:latin typeface="Georgia" panose="02040502050405020303" pitchFamily="18" charset="0"/>
              </a:rPr>
              <a:t>  return </a:t>
            </a:r>
            <a:r>
              <a:rPr lang="en-US" sz="1600" dirty="0" err="1">
                <a:latin typeface="Georgia" panose="02040502050405020303" pitchFamily="18" charset="0"/>
              </a:rPr>
              <a:t>lut</a:t>
            </a:r>
            <a:r>
              <a:rPr lang="en-US" sz="1600" dirty="0">
                <a:latin typeface="Georgia" panose="02040502050405020303" pitchFamily="18" charset="0"/>
              </a:rPr>
              <a:t>[NUMTEMPS - 1][1]; </a:t>
            </a:r>
          </a:p>
          <a:p>
            <a:r>
              <a:rPr lang="en-US" sz="1600" dirty="0">
                <a:latin typeface="Georgia" panose="02040502050405020303" pitchFamily="18" charset="0"/>
              </a:rPr>
              <a:t>}</a:t>
            </a:r>
          </a:p>
        </p:txBody>
      </p:sp>
    </p:spTree>
    <p:extLst>
      <p:ext uri="{BB962C8B-B14F-4D97-AF65-F5344CB8AC3E}">
        <p14:creationId xmlns:p14="http://schemas.microsoft.com/office/powerpoint/2010/main" val="40376750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C98A4-9445-9622-8277-81D8DF41C372}"/>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82ED3F8F-6C4A-082B-DBA6-A60BF53BCF02}"/>
              </a:ext>
            </a:extLst>
          </p:cNvPr>
          <p:cNvSpPr txBox="1">
            <a:spLocks noGrp="1"/>
          </p:cNvSpPr>
          <p:nvPr>
            <p:ph type="title"/>
          </p:nvPr>
        </p:nvSpPr>
        <p:spPr>
          <a:xfrm>
            <a:off x="2509989" y="2294682"/>
            <a:ext cx="6536400" cy="127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7200" dirty="0">
                <a:latin typeface="Bebas Neue" panose="020B0606020202050201" pitchFamily="34" charset="0"/>
                <a:ea typeface="Inter"/>
                <a:cs typeface="Inter"/>
                <a:sym typeface="Inter"/>
              </a:rPr>
              <a:t>HARDWARE</a:t>
            </a:r>
          </a:p>
        </p:txBody>
      </p:sp>
      <p:grpSp>
        <p:nvGrpSpPr>
          <p:cNvPr id="8" name="Group 7">
            <a:extLst>
              <a:ext uri="{FF2B5EF4-FFF2-40B4-BE49-F238E27FC236}">
                <a16:creationId xmlns:a16="http://schemas.microsoft.com/office/drawing/2014/main" id="{0F6F3D11-81AE-5537-50B3-F82FC9C380A4}"/>
              </a:ext>
            </a:extLst>
          </p:cNvPr>
          <p:cNvGrpSpPr/>
          <p:nvPr/>
        </p:nvGrpSpPr>
        <p:grpSpPr>
          <a:xfrm>
            <a:off x="2652551" y="1163499"/>
            <a:ext cx="6251276" cy="2986807"/>
            <a:chOff x="2652551" y="1163499"/>
            <a:chExt cx="6251276" cy="2986807"/>
          </a:xfrm>
        </p:grpSpPr>
        <p:sp>
          <p:nvSpPr>
            <p:cNvPr id="5" name="Google Shape;1523;p33">
              <a:extLst>
                <a:ext uri="{FF2B5EF4-FFF2-40B4-BE49-F238E27FC236}">
                  <a16:creationId xmlns:a16="http://schemas.microsoft.com/office/drawing/2014/main" id="{22C37CB0-4F6D-5968-0376-604E54C691AB}"/>
                </a:ext>
              </a:extLst>
            </p:cNvPr>
            <p:cNvSpPr txBox="1">
              <a:spLocks/>
            </p:cNvSpPr>
            <p:nvPr/>
          </p:nvSpPr>
          <p:spPr>
            <a:xfrm>
              <a:off x="5320989" y="1163499"/>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04</a:t>
              </a:r>
            </a:p>
          </p:txBody>
        </p:sp>
        <p:sp>
          <p:nvSpPr>
            <p:cNvPr id="6" name="Google Shape;1524;p33">
              <a:extLst>
                <a:ext uri="{FF2B5EF4-FFF2-40B4-BE49-F238E27FC236}">
                  <a16:creationId xmlns:a16="http://schemas.microsoft.com/office/drawing/2014/main" id="{1E7E4334-EAA4-5120-670A-61CB4874E49C}"/>
                </a:ext>
              </a:extLst>
            </p:cNvPr>
            <p:cNvSpPr txBox="1">
              <a:spLocks/>
            </p:cNvSpPr>
            <p:nvPr/>
          </p:nvSpPr>
          <p:spPr>
            <a:xfrm>
              <a:off x="2652551" y="3572082"/>
              <a:ext cx="6251276"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 sz="2000" dirty="0">
                  <a:solidFill>
                    <a:schemeClr val="lt1"/>
                  </a:solidFill>
                  <a:latin typeface="Poppins" panose="00000800000000000000" pitchFamily="2" charset="0"/>
                  <a:ea typeface="Inter"/>
                  <a:cs typeface="Poppins" panose="00000800000000000000" pitchFamily="2" charset="0"/>
                  <a:sym typeface="Inter"/>
                </a:rPr>
                <a:t>ACTUAL WORKING MACHINE MADE</a:t>
              </a:r>
              <a:endParaRPr lang="en-US" sz="2000" dirty="0">
                <a:solidFill>
                  <a:schemeClr val="bg1"/>
                </a:solidFill>
                <a:latin typeface="Poppins" panose="00000800000000000000" pitchFamily="2" charset="0"/>
                <a:cs typeface="Poppins" panose="00000800000000000000" pitchFamily="2" charset="0"/>
              </a:endParaRPr>
            </a:p>
          </p:txBody>
        </p:sp>
      </p:grpSp>
    </p:spTree>
    <p:extLst>
      <p:ext uri="{BB962C8B-B14F-4D97-AF65-F5344CB8AC3E}">
        <p14:creationId xmlns:p14="http://schemas.microsoft.com/office/powerpoint/2010/main" val="1309383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A5F44-FE62-E54B-BCC5-F3FA3A880C8C}"/>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6B1187D3-9311-FB06-1AD1-596675CA82D5}"/>
              </a:ext>
            </a:extLst>
          </p:cNvPr>
          <p:cNvSpPr txBox="1">
            <a:spLocks noGrp="1"/>
          </p:cNvSpPr>
          <p:nvPr>
            <p:ph type="title"/>
          </p:nvPr>
        </p:nvSpPr>
        <p:spPr>
          <a:xfrm>
            <a:off x="618565" y="188259"/>
            <a:ext cx="3832411"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HARDWARE</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E20A74D7-8646-FA99-66F9-2689689FB71D}"/>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04</a:t>
            </a:r>
          </a:p>
        </p:txBody>
      </p:sp>
      <p:pic>
        <p:nvPicPr>
          <p:cNvPr id="3" name="Picture 2" descr="A metal rod with wires and a black cord&#10;&#10;AI-generated content may be incorrect.">
            <a:extLst>
              <a:ext uri="{FF2B5EF4-FFF2-40B4-BE49-F238E27FC236}">
                <a16:creationId xmlns:a16="http://schemas.microsoft.com/office/drawing/2014/main" id="{774900F5-AEAD-99E0-5F5D-99D23F31D2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3341"/>
            <a:ext cx="12192000" cy="5486400"/>
          </a:xfrm>
          <a:prstGeom prst="rect">
            <a:avLst/>
          </a:prstGeom>
        </p:spPr>
      </p:pic>
    </p:spTree>
    <p:extLst>
      <p:ext uri="{BB962C8B-B14F-4D97-AF65-F5344CB8AC3E}">
        <p14:creationId xmlns:p14="http://schemas.microsoft.com/office/powerpoint/2010/main" val="28988223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B85E0-23C9-8162-04DA-01D7078287D1}"/>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15B5F939-1E62-A729-AA23-2B30171D51A0}"/>
              </a:ext>
            </a:extLst>
          </p:cNvPr>
          <p:cNvSpPr txBox="1">
            <a:spLocks noGrp="1"/>
          </p:cNvSpPr>
          <p:nvPr>
            <p:ph type="title"/>
          </p:nvPr>
        </p:nvSpPr>
        <p:spPr>
          <a:xfrm>
            <a:off x="618565" y="188259"/>
            <a:ext cx="3832411"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HARDWARE</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8A8C0BEE-5B2E-B444-88A3-0BEFC6FA5680}"/>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04</a:t>
            </a:r>
          </a:p>
        </p:txBody>
      </p:sp>
      <p:pic>
        <p:nvPicPr>
          <p:cNvPr id="6" name="Picture 5">
            <a:extLst>
              <a:ext uri="{FF2B5EF4-FFF2-40B4-BE49-F238E27FC236}">
                <a16:creationId xmlns:a16="http://schemas.microsoft.com/office/drawing/2014/main" id="{E8168ABC-88CD-61D5-28E8-148991635166}"/>
              </a:ext>
            </a:extLst>
          </p:cNvPr>
          <p:cNvPicPr>
            <a:picLocks noChangeAspect="1"/>
          </p:cNvPicPr>
          <p:nvPr/>
        </p:nvPicPr>
        <p:blipFill>
          <a:blip r:embed="rId2">
            <a:extLst>
              <a:ext uri="{28A0092B-C50C-407E-A947-70E740481C1C}">
                <a14:useLocalDpi xmlns:a14="http://schemas.microsoft.com/office/drawing/2010/main" val="0"/>
              </a:ext>
            </a:extLst>
          </a:blip>
          <a:srcRect t="24558" b="6027"/>
          <a:stretch>
            <a:fillRect/>
          </a:stretch>
        </p:blipFill>
        <p:spPr>
          <a:xfrm>
            <a:off x="914400" y="1117407"/>
            <a:ext cx="10397157" cy="5430876"/>
          </a:xfrm>
          <a:prstGeom prst="rect">
            <a:avLst/>
          </a:prstGeom>
        </p:spPr>
      </p:pic>
    </p:spTree>
    <p:extLst>
      <p:ext uri="{BB962C8B-B14F-4D97-AF65-F5344CB8AC3E}">
        <p14:creationId xmlns:p14="http://schemas.microsoft.com/office/powerpoint/2010/main" val="42585491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7DBA8-CC93-DBA4-8B09-70502C9A6290}"/>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709ECC5C-1597-D58A-E011-40BB1AAF3E46}"/>
              </a:ext>
            </a:extLst>
          </p:cNvPr>
          <p:cNvSpPr txBox="1">
            <a:spLocks noGrp="1"/>
          </p:cNvSpPr>
          <p:nvPr>
            <p:ph type="title"/>
          </p:nvPr>
        </p:nvSpPr>
        <p:spPr>
          <a:xfrm>
            <a:off x="618565" y="188259"/>
            <a:ext cx="3832411"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HARDWARE</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ADFC10D9-A36E-9BDC-2591-237B2007AEA5}"/>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04</a:t>
            </a:r>
          </a:p>
        </p:txBody>
      </p:sp>
      <p:pic>
        <p:nvPicPr>
          <p:cNvPr id="2" name="WhatsApp Video 2025-06-25 at 12.00.27 PM">
            <a:hlinkClick r:id="" action="ppaction://media"/>
            <a:extLst>
              <a:ext uri="{FF2B5EF4-FFF2-40B4-BE49-F238E27FC236}">
                <a16:creationId xmlns:a16="http://schemas.microsoft.com/office/drawing/2014/main" id="{73840A0E-475D-B033-2980-2765907BF19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157834" y="1102659"/>
            <a:ext cx="9876331" cy="5567082"/>
          </a:xfrm>
          <a:prstGeom prst="rect">
            <a:avLst/>
          </a:prstGeom>
        </p:spPr>
      </p:pic>
    </p:spTree>
    <p:extLst>
      <p:ext uri="{BB962C8B-B14F-4D97-AF65-F5344CB8AC3E}">
        <p14:creationId xmlns:p14="http://schemas.microsoft.com/office/powerpoint/2010/main" val="252950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49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7DBA8-CC93-DBA4-8B09-70502C9A6290}"/>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709ECC5C-1597-D58A-E011-40BB1AAF3E46}"/>
              </a:ext>
            </a:extLst>
          </p:cNvPr>
          <p:cNvSpPr txBox="1">
            <a:spLocks noGrp="1"/>
          </p:cNvSpPr>
          <p:nvPr>
            <p:ph type="title"/>
          </p:nvPr>
        </p:nvSpPr>
        <p:spPr>
          <a:xfrm>
            <a:off x="618565" y="188259"/>
            <a:ext cx="3832411"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latin typeface="Bebas Neue" panose="020B0606020202050201" pitchFamily="34" charset="0"/>
                <a:ea typeface="Inter"/>
                <a:cs typeface="Inter"/>
                <a:sym typeface="Inter"/>
              </a:rPr>
              <a:t>HARDWARE</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ADFC10D9-A36E-9BDC-2591-237B2007AEA5}"/>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04</a:t>
            </a:r>
          </a:p>
        </p:txBody>
      </p:sp>
      <p:pic>
        <p:nvPicPr>
          <p:cNvPr id="3" name="WhatsApp Video 2025-06-25 at 12.02.23 PM">
            <a:hlinkClick r:id="" action="ppaction://media"/>
            <a:extLst>
              <a:ext uri="{FF2B5EF4-FFF2-40B4-BE49-F238E27FC236}">
                <a16:creationId xmlns:a16="http://schemas.microsoft.com/office/drawing/2014/main" id="{510F83E0-CADD-AE64-6FD4-533235CF845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rot="16200000">
            <a:off x="3813533" y="-658897"/>
            <a:ext cx="4837474" cy="8603496"/>
          </a:xfrm>
          <a:prstGeom prst="rect">
            <a:avLst/>
          </a:prstGeom>
        </p:spPr>
      </p:pic>
    </p:spTree>
    <p:extLst>
      <p:ext uri="{BB962C8B-B14F-4D97-AF65-F5344CB8AC3E}">
        <p14:creationId xmlns:p14="http://schemas.microsoft.com/office/powerpoint/2010/main" val="422220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62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38697-1E7F-696A-BD57-87237D59CD2B}"/>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B4F6D549-9390-B467-19D5-5F6F15683A06}"/>
              </a:ext>
            </a:extLst>
          </p:cNvPr>
          <p:cNvSpPr txBox="1">
            <a:spLocks noGrp="1"/>
          </p:cNvSpPr>
          <p:nvPr>
            <p:ph type="title"/>
          </p:nvPr>
        </p:nvSpPr>
        <p:spPr>
          <a:xfrm>
            <a:off x="2509989" y="2294682"/>
            <a:ext cx="6536400" cy="127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7200" dirty="0">
                <a:latin typeface="Bebas Neue" panose="020B0606020202050201" pitchFamily="34" charset="0"/>
                <a:ea typeface="Inter"/>
                <a:cs typeface="Inter"/>
                <a:sym typeface="Inter"/>
              </a:rPr>
              <a:t>TIMELINE</a:t>
            </a:r>
          </a:p>
        </p:txBody>
      </p:sp>
      <p:grpSp>
        <p:nvGrpSpPr>
          <p:cNvPr id="8" name="Group 7">
            <a:extLst>
              <a:ext uri="{FF2B5EF4-FFF2-40B4-BE49-F238E27FC236}">
                <a16:creationId xmlns:a16="http://schemas.microsoft.com/office/drawing/2014/main" id="{CDBCB9BD-014D-10D7-0016-26D7465D774C}"/>
              </a:ext>
            </a:extLst>
          </p:cNvPr>
          <p:cNvGrpSpPr/>
          <p:nvPr/>
        </p:nvGrpSpPr>
        <p:grpSpPr>
          <a:xfrm>
            <a:off x="2652551" y="1163499"/>
            <a:ext cx="6251276" cy="2986807"/>
            <a:chOff x="2652551" y="1163499"/>
            <a:chExt cx="6251276" cy="2986807"/>
          </a:xfrm>
        </p:grpSpPr>
        <p:sp>
          <p:nvSpPr>
            <p:cNvPr id="5" name="Google Shape;1523;p33">
              <a:extLst>
                <a:ext uri="{FF2B5EF4-FFF2-40B4-BE49-F238E27FC236}">
                  <a16:creationId xmlns:a16="http://schemas.microsoft.com/office/drawing/2014/main" id="{FBA55720-466E-CAEE-9DCF-B85F7A6607C2}"/>
                </a:ext>
              </a:extLst>
            </p:cNvPr>
            <p:cNvSpPr txBox="1">
              <a:spLocks/>
            </p:cNvSpPr>
            <p:nvPr/>
          </p:nvSpPr>
          <p:spPr>
            <a:xfrm>
              <a:off x="5320989" y="1163499"/>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05</a:t>
              </a:r>
            </a:p>
          </p:txBody>
        </p:sp>
        <p:sp>
          <p:nvSpPr>
            <p:cNvPr id="6" name="Google Shape;1524;p33">
              <a:extLst>
                <a:ext uri="{FF2B5EF4-FFF2-40B4-BE49-F238E27FC236}">
                  <a16:creationId xmlns:a16="http://schemas.microsoft.com/office/drawing/2014/main" id="{80AF70EF-5C18-09C2-1C72-8346168BEC42}"/>
                </a:ext>
              </a:extLst>
            </p:cNvPr>
            <p:cNvSpPr txBox="1">
              <a:spLocks/>
            </p:cNvSpPr>
            <p:nvPr/>
          </p:nvSpPr>
          <p:spPr>
            <a:xfrm>
              <a:off x="2652551" y="3572082"/>
              <a:ext cx="6251276"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 sz="2000" dirty="0">
                  <a:solidFill>
                    <a:schemeClr val="lt1"/>
                  </a:solidFill>
                  <a:latin typeface="Poppins" panose="00000800000000000000" pitchFamily="2" charset="0"/>
                  <a:ea typeface="Inter"/>
                  <a:cs typeface="Poppins" panose="00000800000000000000" pitchFamily="2" charset="0"/>
                  <a:sym typeface="Inter"/>
                </a:rPr>
                <a:t>TIME MANAGEMENT FOR PROJECT</a:t>
              </a:r>
              <a:endParaRPr lang="en-US" sz="2000" dirty="0">
                <a:solidFill>
                  <a:schemeClr val="bg1"/>
                </a:solidFill>
                <a:latin typeface="Poppins" panose="00000800000000000000" pitchFamily="2" charset="0"/>
                <a:cs typeface="Poppins" panose="00000800000000000000" pitchFamily="2" charset="0"/>
              </a:endParaRPr>
            </a:p>
          </p:txBody>
        </p:sp>
      </p:grpSp>
    </p:spTree>
    <p:extLst>
      <p:ext uri="{BB962C8B-B14F-4D97-AF65-F5344CB8AC3E}">
        <p14:creationId xmlns:p14="http://schemas.microsoft.com/office/powerpoint/2010/main" val="3860084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8277312-74A5-5FE0-4B94-670FAE129B92}"/>
              </a:ext>
            </a:extLst>
          </p:cNvPr>
          <p:cNvPicPr>
            <a:picLocks noGrp="1" noChangeAspect="1"/>
          </p:cNvPicPr>
          <p:nvPr>
            <p:ph idx="1"/>
          </p:nvPr>
        </p:nvPicPr>
        <p:blipFill>
          <a:blip r:embed="rId2"/>
          <a:stretch>
            <a:fillRect/>
          </a:stretch>
        </p:blipFill>
        <p:spPr>
          <a:xfrm>
            <a:off x="52802" y="601448"/>
            <a:ext cx="12086396" cy="5655103"/>
          </a:xfrm>
        </p:spPr>
      </p:pic>
    </p:spTree>
    <p:extLst>
      <p:ext uri="{BB962C8B-B14F-4D97-AF65-F5344CB8AC3E}">
        <p14:creationId xmlns:p14="http://schemas.microsoft.com/office/powerpoint/2010/main" val="42354733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B0B501B-1B5B-90F4-AD0F-643535FBC568}"/>
              </a:ext>
            </a:extLst>
          </p:cNvPr>
          <p:cNvPicPr>
            <a:picLocks noGrp="1" noChangeAspect="1"/>
          </p:cNvPicPr>
          <p:nvPr>
            <p:ph idx="1"/>
          </p:nvPr>
        </p:nvPicPr>
        <p:blipFill>
          <a:blip r:embed="rId2"/>
          <a:stretch>
            <a:fillRect/>
          </a:stretch>
        </p:blipFill>
        <p:spPr>
          <a:xfrm>
            <a:off x="86464" y="279151"/>
            <a:ext cx="12105536" cy="6299697"/>
          </a:xfrm>
        </p:spPr>
      </p:pic>
    </p:spTree>
    <p:extLst>
      <p:ext uri="{BB962C8B-B14F-4D97-AF65-F5344CB8AC3E}">
        <p14:creationId xmlns:p14="http://schemas.microsoft.com/office/powerpoint/2010/main" val="1547530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8BE71-9EA3-8D84-DB35-A2691AD717C0}"/>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B3F4F694-CF64-6CCD-3647-D6E40B4D5512}"/>
              </a:ext>
            </a:extLst>
          </p:cNvPr>
          <p:cNvSpPr txBox="1">
            <a:spLocks noGrp="1"/>
          </p:cNvSpPr>
          <p:nvPr>
            <p:ph type="title"/>
          </p:nvPr>
        </p:nvSpPr>
        <p:spPr>
          <a:xfrm>
            <a:off x="618565" y="188259"/>
            <a:ext cx="5555877"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sym typeface="Inter"/>
              </a:rPr>
              <a:t>RESULTS &amp; ANALYSIS</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7674B0EA-B139-574C-5B79-2D8C1C24A589}"/>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06</a:t>
            </a:r>
          </a:p>
        </p:txBody>
      </p:sp>
      <p:sp>
        <p:nvSpPr>
          <p:cNvPr id="3" name="Google Shape;1524;p33">
            <a:extLst>
              <a:ext uri="{FF2B5EF4-FFF2-40B4-BE49-F238E27FC236}">
                <a16:creationId xmlns:a16="http://schemas.microsoft.com/office/drawing/2014/main" id="{8274D0FC-C682-7841-CFF5-381768DEEAB4}"/>
              </a:ext>
            </a:extLst>
          </p:cNvPr>
          <p:cNvSpPr txBox="1">
            <a:spLocks/>
          </p:cNvSpPr>
          <p:nvPr/>
        </p:nvSpPr>
        <p:spPr>
          <a:xfrm>
            <a:off x="3318062" y="1102659"/>
            <a:ext cx="5555877"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 sz="2000" b="1" dirty="0">
                <a:solidFill>
                  <a:schemeClr val="lt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sym typeface="Inter"/>
              </a:rPr>
              <a:t>DIAMETER SENSOR VALIDATION</a:t>
            </a:r>
            <a:endParaRPr lang="en-US" sz="2000"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pic>
        <p:nvPicPr>
          <p:cNvPr id="7" name="Picture 6">
            <a:extLst>
              <a:ext uri="{FF2B5EF4-FFF2-40B4-BE49-F238E27FC236}">
                <a16:creationId xmlns:a16="http://schemas.microsoft.com/office/drawing/2014/main" id="{BC4D7CF1-5953-78FD-E668-AF18E2AED1B8}"/>
              </a:ext>
            </a:extLst>
          </p:cNvPr>
          <p:cNvPicPr>
            <a:picLocks noChangeAspect="1"/>
          </p:cNvPicPr>
          <p:nvPr/>
        </p:nvPicPr>
        <p:blipFill>
          <a:blip r:embed="rId2"/>
          <a:srcRect l="28460" r="15323"/>
          <a:stretch>
            <a:fillRect/>
          </a:stretch>
        </p:blipFill>
        <p:spPr>
          <a:xfrm>
            <a:off x="3534480" y="1869142"/>
            <a:ext cx="5279924" cy="4342878"/>
          </a:xfrm>
          <a:prstGeom prst="rect">
            <a:avLst/>
          </a:prstGeom>
        </p:spPr>
      </p:pic>
    </p:spTree>
    <p:extLst>
      <p:ext uri="{BB962C8B-B14F-4D97-AF65-F5344CB8AC3E}">
        <p14:creationId xmlns:p14="http://schemas.microsoft.com/office/powerpoint/2010/main" val="34346283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06C77-A6DD-7B17-0C91-409368BE06EC}"/>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7C7EBBDB-924D-DDB8-D4C9-A1865B64E2E1}"/>
              </a:ext>
            </a:extLst>
          </p:cNvPr>
          <p:cNvSpPr txBox="1">
            <a:spLocks noGrp="1"/>
          </p:cNvSpPr>
          <p:nvPr>
            <p:ph type="title"/>
          </p:nvPr>
        </p:nvSpPr>
        <p:spPr>
          <a:xfrm>
            <a:off x="618565" y="188259"/>
            <a:ext cx="5555877"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sym typeface="Inter"/>
              </a:rPr>
              <a:t>RESULTS &amp; ANALYSIS</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91CE0670-D0A7-29CF-84F2-F4BF807BB383}"/>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06</a:t>
            </a:r>
          </a:p>
        </p:txBody>
      </p:sp>
      <p:sp>
        <p:nvSpPr>
          <p:cNvPr id="3" name="Google Shape;1524;p33">
            <a:extLst>
              <a:ext uri="{FF2B5EF4-FFF2-40B4-BE49-F238E27FC236}">
                <a16:creationId xmlns:a16="http://schemas.microsoft.com/office/drawing/2014/main" id="{17DF4341-792C-7D93-1D50-5401155CFD92}"/>
              </a:ext>
            </a:extLst>
          </p:cNvPr>
          <p:cNvSpPr txBox="1">
            <a:spLocks/>
          </p:cNvSpPr>
          <p:nvPr/>
        </p:nvSpPr>
        <p:spPr>
          <a:xfrm>
            <a:off x="3249562" y="1102659"/>
            <a:ext cx="5692877"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 sz="2000" b="1" dirty="0">
                <a:solidFill>
                  <a:schemeClr val="lt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sym typeface="Inter"/>
              </a:rPr>
              <a:t>PULLER CONTROL LOGIC TESTING</a:t>
            </a:r>
            <a:endParaRPr lang="en-US" sz="2000"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pic>
        <p:nvPicPr>
          <p:cNvPr id="6" name="Picture 5">
            <a:extLst>
              <a:ext uri="{FF2B5EF4-FFF2-40B4-BE49-F238E27FC236}">
                <a16:creationId xmlns:a16="http://schemas.microsoft.com/office/drawing/2014/main" id="{8376784A-4CB3-DE49-8093-4EEEBDB73EE4}"/>
              </a:ext>
            </a:extLst>
          </p:cNvPr>
          <p:cNvPicPr>
            <a:picLocks noChangeAspect="1"/>
          </p:cNvPicPr>
          <p:nvPr/>
        </p:nvPicPr>
        <p:blipFill>
          <a:blip r:embed="rId2"/>
          <a:srcRect l="28794" r="12619"/>
          <a:stretch>
            <a:fillRect/>
          </a:stretch>
        </p:blipFill>
        <p:spPr>
          <a:xfrm>
            <a:off x="6772267" y="1869142"/>
            <a:ext cx="4706895" cy="3756025"/>
          </a:xfrm>
          <a:prstGeom prst="rect">
            <a:avLst/>
          </a:prstGeom>
        </p:spPr>
      </p:pic>
      <p:sp>
        <p:nvSpPr>
          <p:cNvPr id="8" name="TextBox 7">
            <a:extLst>
              <a:ext uri="{FF2B5EF4-FFF2-40B4-BE49-F238E27FC236}">
                <a16:creationId xmlns:a16="http://schemas.microsoft.com/office/drawing/2014/main" id="{71ED9E40-F69C-8880-EDE7-252A57F269E7}"/>
              </a:ext>
            </a:extLst>
          </p:cNvPr>
          <p:cNvSpPr txBox="1"/>
          <p:nvPr/>
        </p:nvSpPr>
        <p:spPr>
          <a:xfrm>
            <a:off x="618565" y="2113181"/>
            <a:ext cx="5929719" cy="3267946"/>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2000" dirty="0">
                <a:latin typeface="Georgia" panose="02040502050405020303" pitchFamily="18" charset="0"/>
                <a:cs typeface="Times New Roman" panose="02020603050405020304" pitchFamily="18" charset="0"/>
              </a:rPr>
              <a:t>When the filament is thick counted by diameter sensor then signal is sent to L298 through Arduino to increase the puller speed.</a:t>
            </a:r>
          </a:p>
          <a:p>
            <a:pPr marL="171450" indent="-171450">
              <a:lnSpc>
                <a:spcPct val="150000"/>
              </a:lnSpc>
              <a:buFont typeface="Arial" panose="020B0604020202020204" pitchFamily="34" charset="0"/>
              <a:buChar char="•"/>
            </a:pPr>
            <a:endParaRPr lang="en-US" sz="2000" dirty="0">
              <a:latin typeface="Georgia" panose="02040502050405020303" pitchFamily="18" charset="0"/>
              <a:cs typeface="Times New Roman" panose="02020603050405020304" pitchFamily="18" charset="0"/>
            </a:endParaRPr>
          </a:p>
          <a:p>
            <a:pPr marL="171450" indent="-171450">
              <a:lnSpc>
                <a:spcPct val="150000"/>
              </a:lnSpc>
              <a:buFont typeface="Arial" panose="020B0604020202020204" pitchFamily="34" charset="0"/>
              <a:buChar char="•"/>
            </a:pPr>
            <a:r>
              <a:rPr lang="en-US" sz="2000" dirty="0">
                <a:latin typeface="Georgia" panose="02040502050405020303" pitchFamily="18" charset="0"/>
                <a:cs typeface="Times New Roman" panose="02020603050405020304" pitchFamily="18" charset="0"/>
              </a:rPr>
              <a:t>When the filament is thin counted by diameter sensor then signal is sent to L298 through Arduino to decrease the puller speed</a:t>
            </a:r>
          </a:p>
        </p:txBody>
      </p:sp>
    </p:spTree>
    <p:extLst>
      <p:ext uri="{BB962C8B-B14F-4D97-AF65-F5344CB8AC3E}">
        <p14:creationId xmlns:p14="http://schemas.microsoft.com/office/powerpoint/2010/main" val="14516956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13015-9160-FBBB-A488-83CEAFBB1084}"/>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61D82767-FE04-946C-9188-9671A2140C4D}"/>
              </a:ext>
            </a:extLst>
          </p:cNvPr>
          <p:cNvSpPr txBox="1">
            <a:spLocks noGrp="1"/>
          </p:cNvSpPr>
          <p:nvPr>
            <p:ph type="title"/>
          </p:nvPr>
        </p:nvSpPr>
        <p:spPr>
          <a:xfrm>
            <a:off x="618565" y="188259"/>
            <a:ext cx="5555877"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sym typeface="Inter"/>
              </a:rPr>
              <a:t>RESULTS &amp; ANALYSIS</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AF5D6E2A-ECE6-3CD6-887F-CABB0FA25DCA}"/>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06</a:t>
            </a:r>
          </a:p>
        </p:txBody>
      </p:sp>
      <p:sp>
        <p:nvSpPr>
          <p:cNvPr id="3" name="Google Shape;1524;p33">
            <a:extLst>
              <a:ext uri="{FF2B5EF4-FFF2-40B4-BE49-F238E27FC236}">
                <a16:creationId xmlns:a16="http://schemas.microsoft.com/office/drawing/2014/main" id="{18F1F8A0-7712-F0F0-A91D-6CCF1E66761D}"/>
              </a:ext>
            </a:extLst>
          </p:cNvPr>
          <p:cNvSpPr txBox="1">
            <a:spLocks/>
          </p:cNvSpPr>
          <p:nvPr/>
        </p:nvSpPr>
        <p:spPr>
          <a:xfrm>
            <a:off x="3006794" y="1353381"/>
            <a:ext cx="6178412"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b="1" dirty="0">
                <a:solidFill>
                  <a:schemeClr val="lt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sym typeface="Inter"/>
              </a:rPr>
              <a:t>C</a:t>
            </a:r>
            <a:r>
              <a:rPr lang="en" sz="2000" b="1" dirty="0">
                <a:solidFill>
                  <a:schemeClr val="lt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sym typeface="Inter"/>
              </a:rPr>
              <a:t>FD ANALYSIS</a:t>
            </a:r>
            <a:endParaRPr lang="en-US" sz="2000"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sp>
        <p:nvSpPr>
          <p:cNvPr id="14" name="Rectangle 4">
            <a:extLst>
              <a:ext uri="{FF2B5EF4-FFF2-40B4-BE49-F238E27FC236}">
                <a16:creationId xmlns:a16="http://schemas.microsoft.com/office/drawing/2014/main" id="{9AC1432C-7C36-ADDE-7CCE-A088111DF9F7}"/>
              </a:ext>
            </a:extLst>
          </p:cNvPr>
          <p:cNvSpPr>
            <a:spLocks noChangeArrowheads="1"/>
          </p:cNvSpPr>
          <p:nvPr/>
        </p:nvSpPr>
        <p:spPr bwMode="auto">
          <a:xfrm>
            <a:off x="914400" y="2117340"/>
            <a:ext cx="1010351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Objective</a:t>
            </a:r>
            <a:r>
              <a:rPr kumimoji="0" lang="en-US" altLang="en-US" sz="2000" b="0" i="0" u="none" strike="noStrike" cap="none" normalizeH="0" baseline="0" dirty="0">
                <a:ln>
                  <a:noFill/>
                </a:ln>
                <a:solidFill>
                  <a:schemeClr val="tx1"/>
                </a:solidFill>
                <a:effectLst/>
                <a:latin typeface="Georgia" panose="02040502050405020303" pitchFamily="18" charset="0"/>
              </a:rPr>
              <a:t>: To understand material flow inside the extrusion barrel using CFD analysis.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Georgia" panose="020405020504050203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Challenge</a:t>
            </a:r>
            <a:r>
              <a:rPr kumimoji="0" lang="en-US" altLang="en-US" sz="2000" b="0" i="0" u="none" strike="noStrike" cap="none" normalizeH="0" baseline="0" dirty="0">
                <a:ln>
                  <a:noFill/>
                </a:ln>
                <a:solidFill>
                  <a:schemeClr val="tx1"/>
                </a:solidFill>
                <a:effectLst/>
                <a:latin typeface="Georgia" panose="02040502050405020303" pitchFamily="18" charset="0"/>
              </a:rPr>
              <a:t>: Internal flow is unobservable due to barrel confinement and material opacity.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Georgia" panose="020405020504050203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Solution</a:t>
            </a:r>
            <a:r>
              <a:rPr kumimoji="0" lang="en-US" altLang="en-US" sz="2000" b="0" i="0" u="none" strike="noStrike" cap="none" normalizeH="0" baseline="0" dirty="0">
                <a:ln>
                  <a:noFill/>
                </a:ln>
                <a:solidFill>
                  <a:schemeClr val="tx1"/>
                </a:solidFill>
                <a:effectLst/>
                <a:latin typeface="Georgia" panose="02040502050405020303" pitchFamily="18" charset="0"/>
              </a:rPr>
              <a:t>: CFD provides a non-invasive method to visualize and analyze flow dynamics.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Georgia" panose="020405020504050203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Benefit</a:t>
            </a:r>
            <a:r>
              <a:rPr kumimoji="0" lang="en-US" altLang="en-US" sz="2000" b="0" i="0" u="none" strike="noStrike" cap="none" normalizeH="0" baseline="0" dirty="0">
                <a:ln>
                  <a:noFill/>
                </a:ln>
                <a:solidFill>
                  <a:schemeClr val="tx1"/>
                </a:solidFill>
                <a:effectLst/>
                <a:latin typeface="Georgia" panose="02040502050405020303" pitchFamily="18" charset="0"/>
              </a:rPr>
              <a:t>: Helps verify design validity and mechanical soundness of the extrusion system.</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Georgia" panose="020405020504050203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Focus</a:t>
            </a:r>
            <a:r>
              <a:rPr kumimoji="0" lang="en-US" altLang="en-US" sz="2000" b="0" i="0" u="none" strike="noStrike" cap="none" normalizeH="0" baseline="0" dirty="0">
                <a:ln>
                  <a:noFill/>
                </a:ln>
                <a:solidFill>
                  <a:schemeClr val="tx1"/>
                </a:solidFill>
                <a:effectLst/>
                <a:latin typeface="Georgia" panose="02040502050405020303" pitchFamily="18" charset="0"/>
              </a:rPr>
              <a:t>: Simulated thermal and flow behavior of molten PLA through the screw and nozzle.</a:t>
            </a:r>
          </a:p>
        </p:txBody>
      </p:sp>
    </p:spTree>
    <p:extLst>
      <p:ext uri="{BB962C8B-B14F-4D97-AF65-F5344CB8AC3E}">
        <p14:creationId xmlns:p14="http://schemas.microsoft.com/office/powerpoint/2010/main" val="32026892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CDEB1-817E-BD6A-56EC-2640C0650839}"/>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9B96A157-AD6B-A7F0-8D84-46EBB1B9BC87}"/>
              </a:ext>
            </a:extLst>
          </p:cNvPr>
          <p:cNvSpPr txBox="1">
            <a:spLocks noGrp="1"/>
          </p:cNvSpPr>
          <p:nvPr>
            <p:ph type="title"/>
          </p:nvPr>
        </p:nvSpPr>
        <p:spPr>
          <a:xfrm>
            <a:off x="618565" y="188259"/>
            <a:ext cx="5555877"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sym typeface="Inter"/>
              </a:rPr>
              <a:t>RESULTS &amp; ANALYSIS</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47B62060-19A0-8D55-2892-A3EA77AF64D0}"/>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06</a:t>
            </a:r>
          </a:p>
        </p:txBody>
      </p:sp>
      <p:sp>
        <p:nvSpPr>
          <p:cNvPr id="3" name="Google Shape;1524;p33">
            <a:extLst>
              <a:ext uri="{FF2B5EF4-FFF2-40B4-BE49-F238E27FC236}">
                <a16:creationId xmlns:a16="http://schemas.microsoft.com/office/drawing/2014/main" id="{4F6364C8-6973-5FC3-6F63-849D5DF22869}"/>
              </a:ext>
            </a:extLst>
          </p:cNvPr>
          <p:cNvSpPr txBox="1">
            <a:spLocks/>
          </p:cNvSpPr>
          <p:nvPr/>
        </p:nvSpPr>
        <p:spPr>
          <a:xfrm>
            <a:off x="2837188" y="1133890"/>
            <a:ext cx="6517625"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b="1" dirty="0">
                <a:solidFill>
                  <a:schemeClr val="lt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sym typeface="Inter"/>
              </a:rPr>
              <a:t>GEOMETRY PREPARATION AND MESHING </a:t>
            </a:r>
            <a:endParaRPr lang="en-US" sz="2000"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sp>
        <p:nvSpPr>
          <p:cNvPr id="6" name="Rectangle 2">
            <a:extLst>
              <a:ext uri="{FF2B5EF4-FFF2-40B4-BE49-F238E27FC236}">
                <a16:creationId xmlns:a16="http://schemas.microsoft.com/office/drawing/2014/main" id="{6AB07D46-26A9-45CA-8BD3-39E5FC32EE71}"/>
              </a:ext>
            </a:extLst>
          </p:cNvPr>
          <p:cNvSpPr>
            <a:spLocks noChangeArrowheads="1"/>
          </p:cNvSpPr>
          <p:nvPr/>
        </p:nvSpPr>
        <p:spPr bwMode="auto">
          <a:xfrm>
            <a:off x="430671" y="1835425"/>
            <a:ext cx="11487542" cy="5209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25"/>
              </a:spcAft>
              <a:buClrTx/>
              <a:buSzTx/>
              <a:tabLst/>
            </a:pPr>
            <a:r>
              <a:rPr kumimoji="0" lang="en-US" altLang="en-US" sz="2000" b="1" i="0" u="none" strike="noStrike" cap="none" normalizeH="0" baseline="0" dirty="0">
                <a:ln>
                  <a:noFill/>
                </a:ln>
                <a:solidFill>
                  <a:schemeClr val="tx1"/>
                </a:solidFill>
                <a:effectLst/>
                <a:latin typeface="Georgia" panose="02040502050405020303" pitchFamily="18" charset="0"/>
              </a:rPr>
              <a:t>Tool Used</a:t>
            </a:r>
            <a:r>
              <a:rPr kumimoji="0" lang="en-US" altLang="en-US" sz="2000" b="0" i="0" u="none" strike="noStrike" cap="none" normalizeH="0" baseline="0" dirty="0">
                <a:ln>
                  <a:noFill/>
                </a:ln>
                <a:solidFill>
                  <a:schemeClr val="tx1"/>
                </a:solidFill>
                <a:effectLst/>
                <a:latin typeface="Georgia" panose="02040502050405020303" pitchFamily="18" charset="0"/>
              </a:rPr>
              <a:t>: ANSYS Meshing with CFD physics preference and Fluent solver</a:t>
            </a:r>
          </a:p>
          <a:p>
            <a:pPr marL="0" marR="0" lvl="0" indent="0" algn="l" defTabSz="914400" rtl="0" eaLnBrk="0" fontAlgn="base" latinLnBrk="0" hangingPunct="0">
              <a:lnSpc>
                <a:spcPct val="100000"/>
              </a:lnSpc>
              <a:spcBef>
                <a:spcPct val="0"/>
              </a:spcBef>
              <a:spcAft>
                <a:spcPts val="125"/>
              </a:spcAft>
              <a:buClrTx/>
              <a:buSzTx/>
              <a:tabLst/>
            </a:pPr>
            <a:r>
              <a:rPr kumimoji="0" lang="en-US" altLang="en-US" sz="2000" b="1" i="0" u="none" strike="noStrike" cap="none" normalizeH="0" baseline="0" dirty="0">
                <a:ln>
                  <a:noFill/>
                </a:ln>
                <a:solidFill>
                  <a:schemeClr val="tx1"/>
                </a:solidFill>
                <a:effectLst/>
                <a:latin typeface="Georgia" panose="02040502050405020303" pitchFamily="18" charset="0"/>
              </a:rPr>
              <a:t>Mesh Strategy</a:t>
            </a:r>
            <a:r>
              <a:rPr kumimoji="0" lang="en-US" altLang="en-US" sz="2000" b="0" i="0" u="none" strike="noStrike" cap="none" normalizeH="0" baseline="0" dirty="0">
                <a:ln>
                  <a:noFill/>
                </a:ln>
                <a:solidFill>
                  <a:schemeClr val="tx1"/>
                </a:solidFill>
                <a:effectLst/>
                <a:latin typeface="Georgia" panose="02040502050405020303" pitchFamily="18" charset="0"/>
              </a:rPr>
              <a:t>: Linear element order selected for faster computation under laminar flow</a:t>
            </a:r>
          </a:p>
          <a:p>
            <a:pPr marL="0" marR="0" lvl="0" indent="0" algn="l" defTabSz="914400" rtl="0" eaLnBrk="0" fontAlgn="base" latinLnBrk="0" hangingPunct="0">
              <a:lnSpc>
                <a:spcPct val="100000"/>
              </a:lnSpc>
              <a:spcBef>
                <a:spcPct val="0"/>
              </a:spcBef>
              <a:spcAft>
                <a:spcPts val="125"/>
              </a:spcAft>
              <a:buClrTx/>
              <a:buSzTx/>
              <a:tabLst/>
            </a:pPr>
            <a:r>
              <a:rPr kumimoji="0" lang="en-US" altLang="en-US" sz="2000" b="1" i="0" u="none" strike="noStrike" cap="none" normalizeH="0" baseline="0" dirty="0">
                <a:ln>
                  <a:noFill/>
                </a:ln>
                <a:solidFill>
                  <a:schemeClr val="tx1"/>
                </a:solidFill>
                <a:effectLst/>
                <a:latin typeface="Georgia" panose="02040502050405020303" pitchFamily="18" charset="0"/>
              </a:rPr>
              <a:t>Element Size</a:t>
            </a:r>
            <a:r>
              <a:rPr kumimoji="0" lang="en-US" altLang="en-US" sz="2000" b="0" i="0" u="none" strike="noStrike" cap="none" normalizeH="0" baseline="0" dirty="0">
                <a:ln>
                  <a:noFill/>
                </a:ln>
                <a:solidFill>
                  <a:schemeClr val="tx1"/>
                </a:solidFill>
                <a:effectLst/>
                <a:latin typeface="Georgia" panose="02040502050405020303" pitchFamily="18" charset="0"/>
              </a:rPr>
              <a:t>: Default size 25.102 mm with defeaturing to simplify minor geometry</a:t>
            </a:r>
          </a:p>
          <a:p>
            <a:pPr marL="0" marR="0" lvl="0" indent="0" algn="l" defTabSz="914400" rtl="0" eaLnBrk="0" fontAlgn="base" latinLnBrk="0" hangingPunct="0">
              <a:lnSpc>
                <a:spcPct val="100000"/>
              </a:lnSpc>
              <a:spcBef>
                <a:spcPct val="0"/>
              </a:spcBef>
              <a:spcAft>
                <a:spcPts val="125"/>
              </a:spcAft>
              <a:buClrTx/>
              <a:buSzTx/>
              <a:tabLst/>
            </a:pPr>
            <a:r>
              <a:rPr kumimoji="0" lang="en-US" altLang="en-US" sz="2000" b="1" i="0" u="none" strike="noStrike" cap="none" normalizeH="0" baseline="0" dirty="0">
                <a:ln>
                  <a:noFill/>
                </a:ln>
                <a:solidFill>
                  <a:schemeClr val="tx1"/>
                </a:solidFill>
                <a:effectLst/>
                <a:latin typeface="Georgia" panose="02040502050405020303" pitchFamily="18" charset="0"/>
              </a:rPr>
              <a:t>Mesh Refinement</a:t>
            </a:r>
            <a:r>
              <a:rPr kumimoji="0" lang="en-US" altLang="en-US" sz="2000" b="0" i="0" u="none" strike="noStrike" cap="none" normalizeH="0" baseline="0" dirty="0">
                <a:ln>
                  <a:noFill/>
                </a:ln>
                <a:solidFill>
                  <a:schemeClr val="tx1"/>
                </a:solidFill>
                <a:effectLst/>
                <a:latin typeface="Georgia" panose="02040502050405020303" pitchFamily="18" charset="0"/>
              </a:rPr>
              <a:t>: Curvature and proximity capturing enabled for complex shapes</a:t>
            </a:r>
          </a:p>
          <a:p>
            <a:pPr marL="0" marR="0" lvl="0" indent="0" algn="l" defTabSz="914400" rtl="0" eaLnBrk="0" fontAlgn="base" latinLnBrk="0" hangingPunct="0">
              <a:lnSpc>
                <a:spcPct val="100000"/>
              </a:lnSpc>
              <a:spcBef>
                <a:spcPct val="0"/>
              </a:spcBef>
              <a:spcAft>
                <a:spcPts val="125"/>
              </a:spcAft>
              <a:buClrTx/>
              <a:buSzTx/>
              <a:tabLst/>
            </a:pPr>
            <a:r>
              <a:rPr kumimoji="0" lang="en-US" altLang="en-US" sz="2000" b="1" i="0" u="none" strike="noStrike" cap="none" normalizeH="0" baseline="0" dirty="0">
                <a:ln>
                  <a:noFill/>
                </a:ln>
                <a:solidFill>
                  <a:schemeClr val="tx1"/>
                </a:solidFill>
                <a:effectLst/>
                <a:latin typeface="Georgia" panose="02040502050405020303" pitchFamily="18" charset="0"/>
              </a:rPr>
              <a:t>Key Parameters</a:t>
            </a:r>
            <a:r>
              <a:rPr kumimoji="0" lang="en-US" altLang="en-US" sz="2000" b="0" i="0" u="none" strike="noStrike" cap="none" normalizeH="0" baseline="0" dirty="0">
                <a:ln>
                  <a:noFill/>
                </a:ln>
                <a:solidFill>
                  <a:schemeClr val="tx1"/>
                </a:solidFill>
                <a:effectLst/>
                <a:latin typeface="Georgia" panose="02040502050405020303" pitchFamily="18" charset="0"/>
              </a:rPr>
              <a:t>:</a:t>
            </a:r>
          </a:p>
          <a:p>
            <a:pPr marL="800100" marR="0" lvl="1" indent="-342900" algn="l" defTabSz="914400" rtl="0" eaLnBrk="0" fontAlgn="base" latinLnBrk="0" hangingPunct="0">
              <a:lnSpc>
                <a:spcPct val="100000"/>
              </a:lnSpc>
              <a:spcBef>
                <a:spcPct val="0"/>
              </a:spcBef>
              <a:spcAft>
                <a:spcPts val="125"/>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Georgia" panose="02040502050405020303" pitchFamily="18" charset="0"/>
              </a:rPr>
              <a:t>Curvature min: 2.0 mm</a:t>
            </a:r>
          </a:p>
          <a:p>
            <a:pPr marL="800100" marR="0" lvl="1" indent="-342900" algn="l" defTabSz="914400" rtl="0" eaLnBrk="0" fontAlgn="base" latinLnBrk="0" hangingPunct="0">
              <a:lnSpc>
                <a:spcPct val="100000"/>
              </a:lnSpc>
              <a:spcBef>
                <a:spcPct val="0"/>
              </a:spcBef>
              <a:spcAft>
                <a:spcPts val="125"/>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Georgia" panose="02040502050405020303" pitchFamily="18" charset="0"/>
              </a:rPr>
              <a:t>Proximity: 1.0 mm</a:t>
            </a:r>
          </a:p>
          <a:p>
            <a:pPr marL="800100" marR="0" lvl="1" indent="-342900" algn="l" defTabSz="914400" rtl="0" eaLnBrk="0" fontAlgn="base" latinLnBrk="0" hangingPunct="0">
              <a:lnSpc>
                <a:spcPct val="100000"/>
              </a:lnSpc>
              <a:spcBef>
                <a:spcPct val="0"/>
              </a:spcBef>
              <a:spcAft>
                <a:spcPts val="125"/>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Georgia" panose="02040502050405020303" pitchFamily="18" charset="0"/>
              </a:rPr>
              <a:t>Defeature size: 0.12551 mm</a:t>
            </a:r>
          </a:p>
          <a:p>
            <a:pPr marL="800100" marR="0" lvl="1" indent="-342900" algn="l" defTabSz="914400" rtl="0" eaLnBrk="0" fontAlgn="base" latinLnBrk="0" hangingPunct="0">
              <a:lnSpc>
                <a:spcPct val="100000"/>
              </a:lnSpc>
              <a:spcBef>
                <a:spcPct val="0"/>
              </a:spcBef>
              <a:spcAft>
                <a:spcPts val="125"/>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Georgia" panose="02040502050405020303" pitchFamily="18" charset="0"/>
              </a:rPr>
              <a:t>Mesh growth rate: 1.2 (for stability)</a:t>
            </a:r>
          </a:p>
          <a:p>
            <a:pPr marL="0" marR="0" lvl="0" indent="0" algn="l" defTabSz="914400" rtl="0" eaLnBrk="0" fontAlgn="base" latinLnBrk="0" hangingPunct="0">
              <a:lnSpc>
                <a:spcPct val="100000"/>
              </a:lnSpc>
              <a:spcBef>
                <a:spcPct val="0"/>
              </a:spcBef>
              <a:spcAft>
                <a:spcPts val="125"/>
              </a:spcAft>
              <a:buClrTx/>
              <a:buSzTx/>
              <a:tabLst/>
            </a:pPr>
            <a:r>
              <a:rPr kumimoji="0" lang="en-US" altLang="en-US" sz="2000" b="1" i="0" u="none" strike="noStrike" cap="none" normalizeH="0" baseline="0" dirty="0">
                <a:ln>
                  <a:noFill/>
                </a:ln>
                <a:solidFill>
                  <a:schemeClr val="tx1"/>
                </a:solidFill>
                <a:effectLst/>
                <a:latin typeface="Georgia" panose="02040502050405020303" pitchFamily="18" charset="0"/>
              </a:rPr>
              <a:t>Element Details</a:t>
            </a:r>
            <a:r>
              <a:rPr kumimoji="0" lang="en-US" altLang="en-US" sz="2000" b="0" i="0" u="none" strike="noStrike" cap="none" normalizeH="0" baseline="0" dirty="0">
                <a:ln>
                  <a:noFill/>
                </a:ln>
                <a:solidFill>
                  <a:schemeClr val="tx1"/>
                </a:solidFill>
                <a:effectLst/>
                <a:latin typeface="Georgia" panose="02040502050405020303" pitchFamily="18" charset="0"/>
              </a:rPr>
              <a:t>:</a:t>
            </a:r>
          </a:p>
          <a:p>
            <a:pPr marL="800100" marR="0" lvl="1" indent="-342900" algn="l" defTabSz="914400" rtl="0" eaLnBrk="0" fontAlgn="base" latinLnBrk="0" hangingPunct="0">
              <a:lnSpc>
                <a:spcPct val="100000"/>
              </a:lnSpc>
              <a:spcBef>
                <a:spcPct val="0"/>
              </a:spcBef>
              <a:spcAft>
                <a:spcPts val="125"/>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Georgia" panose="02040502050405020303" pitchFamily="18" charset="0"/>
              </a:rPr>
              <a:t>Max element size: 50.204 mm</a:t>
            </a:r>
          </a:p>
          <a:p>
            <a:pPr marL="800100" marR="0" lvl="1" indent="-342900" algn="l" defTabSz="914400" rtl="0" eaLnBrk="0" fontAlgn="base" latinLnBrk="0" hangingPunct="0">
              <a:lnSpc>
                <a:spcPct val="100000"/>
              </a:lnSpc>
              <a:spcBef>
                <a:spcPct val="0"/>
              </a:spcBef>
              <a:spcAft>
                <a:spcPts val="125"/>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Georgia" panose="02040502050405020303" pitchFamily="18" charset="0"/>
              </a:rPr>
              <a:t>Avg surface area: 1262.1 mm²</a:t>
            </a:r>
          </a:p>
          <a:p>
            <a:pPr marL="800100" marR="0" lvl="1" indent="-342900" algn="l" defTabSz="914400" rtl="0" eaLnBrk="0" fontAlgn="base" latinLnBrk="0" hangingPunct="0">
              <a:lnSpc>
                <a:spcPct val="100000"/>
              </a:lnSpc>
              <a:spcBef>
                <a:spcPct val="0"/>
              </a:spcBef>
              <a:spcAft>
                <a:spcPts val="125"/>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Georgia" panose="02040502050405020303" pitchFamily="18" charset="0"/>
              </a:rPr>
              <a:t>Min edge length: 0.88942 mm</a:t>
            </a:r>
          </a:p>
          <a:p>
            <a:pPr marL="0" marR="0" lvl="0" indent="0" algn="l" defTabSz="914400" rtl="0" eaLnBrk="0" fontAlgn="base" latinLnBrk="0" hangingPunct="0">
              <a:lnSpc>
                <a:spcPct val="100000"/>
              </a:lnSpc>
              <a:spcBef>
                <a:spcPct val="0"/>
              </a:spcBef>
              <a:spcAft>
                <a:spcPts val="125"/>
              </a:spcAft>
              <a:buClrTx/>
              <a:buSzTx/>
              <a:tabLst/>
            </a:pPr>
            <a:r>
              <a:rPr kumimoji="0" lang="en-US" altLang="en-US" sz="2000" b="1" i="0" u="none" strike="noStrike" cap="none" normalizeH="0" baseline="0" dirty="0">
                <a:ln>
                  <a:noFill/>
                </a:ln>
                <a:solidFill>
                  <a:schemeClr val="tx1"/>
                </a:solidFill>
                <a:effectLst/>
                <a:latin typeface="Georgia" panose="02040502050405020303" pitchFamily="18" charset="0"/>
              </a:rPr>
              <a:t>Focus Areas</a:t>
            </a:r>
            <a:r>
              <a:rPr kumimoji="0" lang="en-US" altLang="en-US" sz="2000" b="0" i="0" u="none" strike="noStrike" cap="none" normalizeH="0" baseline="0" dirty="0">
                <a:ln>
                  <a:noFill/>
                </a:ln>
                <a:solidFill>
                  <a:schemeClr val="tx1"/>
                </a:solidFill>
                <a:effectLst/>
                <a:latin typeface="Georgia" panose="02040502050405020303" pitchFamily="18" charset="0"/>
              </a:rPr>
              <a:t>: Enhanced resolution near screw surfaces and nozzle for accurate flow prediction</a:t>
            </a:r>
          </a:p>
          <a:p>
            <a:pPr marL="0" marR="0" lvl="0" indent="0" algn="l" defTabSz="914400" rtl="0" eaLnBrk="0" fontAlgn="base" latinLnBrk="0" hangingPunct="0">
              <a:lnSpc>
                <a:spcPct val="100000"/>
              </a:lnSpc>
              <a:spcBef>
                <a:spcPct val="0"/>
              </a:spcBef>
              <a:spcAft>
                <a:spcPts val="125"/>
              </a:spcAft>
              <a:buClrTx/>
              <a:buSzTx/>
              <a:tabLst/>
            </a:pPr>
            <a:r>
              <a:rPr kumimoji="0" lang="en-US" altLang="en-US" sz="2000" b="1" i="0" u="none" strike="noStrike" cap="none" normalizeH="0" baseline="0" dirty="0">
                <a:ln>
                  <a:noFill/>
                </a:ln>
                <a:solidFill>
                  <a:schemeClr val="tx1"/>
                </a:solidFill>
                <a:effectLst/>
                <a:latin typeface="Georgia" panose="02040502050405020303" pitchFamily="18" charset="0"/>
              </a:rPr>
              <a:t>Efficiency</a:t>
            </a:r>
            <a:r>
              <a:rPr kumimoji="0" lang="en-US" altLang="en-US" sz="2000" b="0" i="0" u="none" strike="noStrike" cap="none" normalizeH="0" baseline="0" dirty="0">
                <a:ln>
                  <a:noFill/>
                </a:ln>
                <a:solidFill>
                  <a:schemeClr val="tx1"/>
                </a:solidFill>
                <a:effectLst/>
                <a:latin typeface="Georgia" panose="02040502050405020303" pitchFamily="18" charset="0"/>
              </a:rPr>
              <a:t>: Balanced mesh quality with low computational load</a:t>
            </a:r>
          </a:p>
          <a:p>
            <a:pPr marL="0" marR="0" lvl="0" indent="0" algn="l" defTabSz="914400" rtl="0" eaLnBrk="0" fontAlgn="base" latinLnBrk="0" hangingPunct="0">
              <a:lnSpc>
                <a:spcPct val="100000"/>
              </a:lnSpc>
              <a:spcBef>
                <a:spcPct val="0"/>
              </a:spcBef>
              <a:spcAft>
                <a:spcPts val="125"/>
              </a:spcAft>
              <a:buClrTx/>
              <a:buSzTx/>
              <a:buFontTx/>
              <a:buNone/>
              <a:tabLst/>
            </a:pPr>
            <a:endParaRPr kumimoji="0" lang="en-US" altLang="en-US" sz="2000" b="0" i="0" u="none" strike="noStrike" cap="none" normalizeH="0" baseline="0" dirty="0">
              <a:ln>
                <a:noFill/>
              </a:ln>
              <a:solidFill>
                <a:schemeClr val="tx1"/>
              </a:solidFill>
              <a:effectLst/>
              <a:latin typeface="Georgia" panose="02040502050405020303" pitchFamily="18" charset="0"/>
            </a:endParaRPr>
          </a:p>
        </p:txBody>
      </p:sp>
    </p:spTree>
    <p:extLst>
      <p:ext uri="{BB962C8B-B14F-4D97-AF65-F5344CB8AC3E}">
        <p14:creationId xmlns:p14="http://schemas.microsoft.com/office/powerpoint/2010/main" val="10842383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2CF22-91D2-8175-FEF5-9AB0F1A0AC54}"/>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759BB93D-8A8C-5005-B95B-CF5E26148E39}"/>
              </a:ext>
            </a:extLst>
          </p:cNvPr>
          <p:cNvSpPr txBox="1">
            <a:spLocks noGrp="1"/>
          </p:cNvSpPr>
          <p:nvPr>
            <p:ph type="title"/>
          </p:nvPr>
        </p:nvSpPr>
        <p:spPr>
          <a:xfrm>
            <a:off x="618565" y="188259"/>
            <a:ext cx="5555877"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sym typeface="Inter"/>
              </a:rPr>
              <a:t>RESULTS &amp; ANALYSIS</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D8F51EA6-4737-70A2-448F-BAD73E7F9997}"/>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06</a:t>
            </a:r>
          </a:p>
        </p:txBody>
      </p:sp>
      <p:sp>
        <p:nvSpPr>
          <p:cNvPr id="3" name="Google Shape;1524;p33">
            <a:extLst>
              <a:ext uri="{FF2B5EF4-FFF2-40B4-BE49-F238E27FC236}">
                <a16:creationId xmlns:a16="http://schemas.microsoft.com/office/drawing/2014/main" id="{B222468E-CB23-5F82-4922-76BC678CA69F}"/>
              </a:ext>
            </a:extLst>
          </p:cNvPr>
          <p:cNvSpPr txBox="1">
            <a:spLocks/>
          </p:cNvSpPr>
          <p:nvPr/>
        </p:nvSpPr>
        <p:spPr>
          <a:xfrm>
            <a:off x="3719416" y="914400"/>
            <a:ext cx="4910051"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b="1" dirty="0">
                <a:solidFill>
                  <a:schemeClr val="lt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sym typeface="Inter"/>
              </a:rPr>
              <a:t>DETAILS OF MESH</a:t>
            </a:r>
            <a:endParaRPr lang="en-US" sz="2000"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pic>
        <p:nvPicPr>
          <p:cNvPr id="7" name="Picture 6">
            <a:extLst>
              <a:ext uri="{FF2B5EF4-FFF2-40B4-BE49-F238E27FC236}">
                <a16:creationId xmlns:a16="http://schemas.microsoft.com/office/drawing/2014/main" id="{DDD0BB7B-AC1E-0411-D171-4794D07EA0C6}"/>
              </a:ext>
            </a:extLst>
          </p:cNvPr>
          <p:cNvPicPr>
            <a:picLocks noChangeAspect="1"/>
          </p:cNvPicPr>
          <p:nvPr/>
        </p:nvPicPr>
        <p:blipFill>
          <a:blip r:embed="rId2"/>
          <a:stretch>
            <a:fillRect/>
          </a:stretch>
        </p:blipFill>
        <p:spPr>
          <a:xfrm>
            <a:off x="4552949" y="1640541"/>
            <a:ext cx="3396431" cy="5115612"/>
          </a:xfrm>
          <a:prstGeom prst="rect">
            <a:avLst/>
          </a:prstGeom>
        </p:spPr>
      </p:pic>
    </p:spTree>
    <p:extLst>
      <p:ext uri="{BB962C8B-B14F-4D97-AF65-F5344CB8AC3E}">
        <p14:creationId xmlns:p14="http://schemas.microsoft.com/office/powerpoint/2010/main" val="10749899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50A6B-B461-1C2D-E6E6-5C5EB7CA1ECE}"/>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80B0234F-CCC3-5B78-384F-1AE7D264684C}"/>
              </a:ext>
            </a:extLst>
          </p:cNvPr>
          <p:cNvSpPr txBox="1">
            <a:spLocks noGrp="1"/>
          </p:cNvSpPr>
          <p:nvPr>
            <p:ph type="title"/>
          </p:nvPr>
        </p:nvSpPr>
        <p:spPr>
          <a:xfrm>
            <a:off x="618565" y="188259"/>
            <a:ext cx="5555877"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sym typeface="Inter"/>
              </a:rPr>
              <a:t>RESULTS &amp; ANALYSIS</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AA150110-A230-F9B2-F168-214DBB4D0C49}"/>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06</a:t>
            </a:r>
          </a:p>
        </p:txBody>
      </p:sp>
      <p:sp>
        <p:nvSpPr>
          <p:cNvPr id="3" name="Google Shape;1524;p33">
            <a:extLst>
              <a:ext uri="{FF2B5EF4-FFF2-40B4-BE49-F238E27FC236}">
                <a16:creationId xmlns:a16="http://schemas.microsoft.com/office/drawing/2014/main" id="{19ED5089-EC93-57E9-9D15-FBD2C99E43D1}"/>
              </a:ext>
            </a:extLst>
          </p:cNvPr>
          <p:cNvSpPr txBox="1">
            <a:spLocks/>
          </p:cNvSpPr>
          <p:nvPr/>
        </p:nvSpPr>
        <p:spPr>
          <a:xfrm>
            <a:off x="2447186" y="1102659"/>
            <a:ext cx="7297629"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b="1" dirty="0">
                <a:solidFill>
                  <a:schemeClr val="lt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sym typeface="Inter"/>
              </a:rPr>
              <a:t>BOUNDARY CONDITION &amp; SOLVER SETUP</a:t>
            </a:r>
            <a:endParaRPr lang="en-US" sz="2000"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sp>
        <p:nvSpPr>
          <p:cNvPr id="8" name="Rectangle 1">
            <a:extLst>
              <a:ext uri="{FF2B5EF4-FFF2-40B4-BE49-F238E27FC236}">
                <a16:creationId xmlns:a16="http://schemas.microsoft.com/office/drawing/2014/main" id="{FBB14B19-A2E7-134E-4A46-67BD1AF22D2F}"/>
              </a:ext>
            </a:extLst>
          </p:cNvPr>
          <p:cNvSpPr>
            <a:spLocks noChangeArrowheads="1"/>
          </p:cNvSpPr>
          <p:nvPr/>
        </p:nvSpPr>
        <p:spPr bwMode="auto">
          <a:xfrm>
            <a:off x="1115745" y="1669220"/>
            <a:ext cx="10117394" cy="5114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Boundary Conditions</a:t>
            </a:r>
            <a:r>
              <a:rPr kumimoji="0" lang="en-US" altLang="en-US" sz="2000" b="0" i="0" u="none" strike="noStrike" cap="none" normalizeH="0" baseline="0" dirty="0">
                <a:ln>
                  <a:noFill/>
                </a:ln>
                <a:solidFill>
                  <a:schemeClr val="tx1"/>
                </a:solidFill>
                <a:effectLst/>
                <a:latin typeface="Georgia" panose="02040502050405020303" pitchFamily="18" charset="0"/>
              </a:rPr>
              <a:t>: Set to reflect realistic operating environment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Material Model</a:t>
            </a:r>
            <a:r>
              <a:rPr kumimoji="0" lang="en-US" altLang="en-US" sz="2000" b="0" i="0" u="none" strike="noStrike" cap="none" normalizeH="0" baseline="0" dirty="0">
                <a:ln>
                  <a:noFill/>
                </a:ln>
                <a:solidFill>
                  <a:schemeClr val="tx1"/>
                </a:solidFill>
                <a:effectLst/>
                <a:latin typeface="Georgia" panose="02040502050405020303" pitchFamily="18" charset="0"/>
              </a:rPr>
              <a:t>: Molten PLA treated as incompressible, non-Newtonian, high-viscosity fluid</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Flow Type</a:t>
            </a:r>
            <a:r>
              <a:rPr kumimoji="0" lang="en-US" altLang="en-US" sz="2000" b="0" i="0" u="none" strike="noStrike" cap="none" normalizeH="0" baseline="0" dirty="0">
                <a:ln>
                  <a:noFill/>
                </a:ln>
                <a:solidFill>
                  <a:schemeClr val="tx1"/>
                </a:solidFill>
                <a:effectLst/>
                <a:latin typeface="Georgia" panose="02040502050405020303" pitchFamily="18" charset="0"/>
              </a:rPr>
              <a:t>: Laminar flow assumption due to low Reynolds number</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Inlet Condition</a:t>
            </a:r>
            <a:r>
              <a:rPr kumimoji="0" lang="en-US" altLang="en-US" sz="2000" b="0" i="0" u="none" strike="noStrike" cap="none" normalizeH="0" baseline="0" dirty="0">
                <a:ln>
                  <a:noFill/>
                </a:ln>
                <a:solidFill>
                  <a:schemeClr val="tx1"/>
                </a:solidFill>
                <a:effectLst/>
                <a:latin typeface="Georgia" panose="02040502050405020303" pitchFamily="18" charset="0"/>
              </a:rPr>
              <a:t>: Mass flow inlet based on experimental extrusion rate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Outlet Condition</a:t>
            </a:r>
            <a:r>
              <a:rPr kumimoji="0" lang="en-US" altLang="en-US" sz="2000" b="0" i="0" u="none" strike="noStrike" cap="none" normalizeH="0" baseline="0" dirty="0">
                <a:ln>
                  <a:noFill/>
                </a:ln>
                <a:solidFill>
                  <a:schemeClr val="tx1"/>
                </a:solidFill>
                <a:effectLst/>
                <a:latin typeface="Georgia" panose="02040502050405020303" pitchFamily="18" charset="0"/>
              </a:rPr>
              <a:t>: Pressure outlet set to atmospheric pressure (open-end discharge)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Thermal Setup</a:t>
            </a:r>
            <a:r>
              <a:rPr kumimoji="0" lang="en-US" altLang="en-US" sz="2000" b="0" i="0" u="none" strike="noStrike" cap="none" normalizeH="0" baseline="0" dirty="0">
                <a:ln>
                  <a:noFill/>
                </a:ln>
                <a:solidFill>
                  <a:schemeClr val="tx1"/>
                </a:solidFill>
                <a:effectLst/>
                <a:latin typeface="Georgia" panose="02040502050405020303" pitchFamily="18" charset="0"/>
              </a:rPr>
              <a:t>: Barrel walls maintained at constant 175 °C (heater environment)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Wall Condition</a:t>
            </a:r>
            <a:r>
              <a:rPr kumimoji="0" lang="en-US" altLang="en-US" sz="2000" b="0" i="0" u="none" strike="noStrike" cap="none" normalizeH="0" baseline="0" dirty="0">
                <a:ln>
                  <a:noFill/>
                </a:ln>
                <a:solidFill>
                  <a:schemeClr val="tx1"/>
                </a:solidFill>
                <a:effectLst/>
                <a:latin typeface="Georgia" panose="02040502050405020303" pitchFamily="18" charset="0"/>
              </a:rPr>
              <a:t>: No-slip condition assumed for full fluid-wall adherence</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Georgia" panose="02040502050405020303" pitchFamily="18" charset="0"/>
              </a:rPr>
              <a:t>Solver Used</a:t>
            </a:r>
            <a:r>
              <a:rPr kumimoji="0" lang="en-US" altLang="en-US" sz="2000" b="0" i="0" u="none" strike="noStrike" cap="none" normalizeH="0" baseline="0" dirty="0">
                <a:ln>
                  <a:noFill/>
                </a:ln>
                <a:solidFill>
                  <a:schemeClr val="tx1"/>
                </a:solidFill>
                <a:effectLst/>
                <a:latin typeface="Georgia" panose="02040502050405020303" pitchFamily="18" charset="0"/>
              </a:rPr>
              <a:t>: Steady-state, pressure-based solver suitable for high-viscosity laminar flow</a:t>
            </a:r>
            <a:r>
              <a:rPr lang="en-US" altLang="en-US" sz="2000" dirty="0">
                <a:latin typeface="Georgia" panose="02040502050405020303" pitchFamily="18" charset="0"/>
              </a:rPr>
              <a:t>.</a:t>
            </a:r>
            <a:endParaRPr kumimoji="0" lang="en-US" altLang="en-US" sz="2000" b="0" i="0" u="none" strike="noStrike" cap="none" normalizeH="0" baseline="0" dirty="0">
              <a:ln>
                <a:noFill/>
              </a:ln>
              <a:solidFill>
                <a:schemeClr val="tx1"/>
              </a:solidFill>
              <a:effectLst/>
              <a:latin typeface="Georgia" panose="02040502050405020303" pitchFamily="18" charset="0"/>
            </a:endParaRPr>
          </a:p>
        </p:txBody>
      </p:sp>
    </p:spTree>
    <p:extLst>
      <p:ext uri="{BB962C8B-B14F-4D97-AF65-F5344CB8AC3E}">
        <p14:creationId xmlns:p14="http://schemas.microsoft.com/office/powerpoint/2010/main" val="31570502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52C6D-8517-9222-876F-427BD24D268E}"/>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BF28A5BF-8063-922D-D088-44E3ACCCFD77}"/>
              </a:ext>
            </a:extLst>
          </p:cNvPr>
          <p:cNvSpPr txBox="1">
            <a:spLocks noGrp="1"/>
          </p:cNvSpPr>
          <p:nvPr>
            <p:ph type="title"/>
          </p:nvPr>
        </p:nvSpPr>
        <p:spPr>
          <a:xfrm>
            <a:off x="618565" y="188259"/>
            <a:ext cx="5555877"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sym typeface="Inter"/>
              </a:rPr>
              <a:t>RESULTS &amp; ANALYSIS</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9CBD1D70-AB61-3C24-414A-010B66043EE2}"/>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06</a:t>
            </a:r>
          </a:p>
        </p:txBody>
      </p:sp>
      <p:sp>
        <p:nvSpPr>
          <p:cNvPr id="3" name="Google Shape;1524;p33">
            <a:extLst>
              <a:ext uri="{FF2B5EF4-FFF2-40B4-BE49-F238E27FC236}">
                <a16:creationId xmlns:a16="http://schemas.microsoft.com/office/drawing/2014/main" id="{9CEC39CE-69C5-9CF4-7F48-D9CD8C2C18B4}"/>
              </a:ext>
            </a:extLst>
          </p:cNvPr>
          <p:cNvSpPr txBox="1">
            <a:spLocks/>
          </p:cNvSpPr>
          <p:nvPr/>
        </p:nvSpPr>
        <p:spPr>
          <a:xfrm>
            <a:off x="2447186" y="1102659"/>
            <a:ext cx="7297629"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b="1" dirty="0">
                <a:solidFill>
                  <a:schemeClr val="lt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sym typeface="Inter"/>
              </a:rPr>
              <a:t>ITERATIONS VS VELOCITY </a:t>
            </a:r>
            <a:endParaRPr lang="en-US" sz="2000"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pic>
        <p:nvPicPr>
          <p:cNvPr id="6" name="Picture 5">
            <a:extLst>
              <a:ext uri="{FF2B5EF4-FFF2-40B4-BE49-F238E27FC236}">
                <a16:creationId xmlns:a16="http://schemas.microsoft.com/office/drawing/2014/main" id="{B69AB8A8-DA1A-41F5-0D47-B2C9FA6F2237}"/>
              </a:ext>
            </a:extLst>
          </p:cNvPr>
          <p:cNvPicPr>
            <a:picLocks noChangeAspect="1"/>
          </p:cNvPicPr>
          <p:nvPr/>
        </p:nvPicPr>
        <p:blipFill>
          <a:blip r:embed="rId2"/>
          <a:srcRect l="22711" t="33598" r="8301"/>
          <a:stretch>
            <a:fillRect/>
          </a:stretch>
        </p:blipFill>
        <p:spPr>
          <a:xfrm>
            <a:off x="1206476" y="1869142"/>
            <a:ext cx="9779048" cy="4857777"/>
          </a:xfrm>
          <a:prstGeom prst="rect">
            <a:avLst/>
          </a:prstGeom>
        </p:spPr>
      </p:pic>
    </p:spTree>
    <p:extLst>
      <p:ext uri="{BB962C8B-B14F-4D97-AF65-F5344CB8AC3E}">
        <p14:creationId xmlns:p14="http://schemas.microsoft.com/office/powerpoint/2010/main" val="16479538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FB9D9-664F-A4DF-B237-4759FFA5CEA0}"/>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899079E1-60D5-5118-F807-16C76AA577E6}"/>
              </a:ext>
            </a:extLst>
          </p:cNvPr>
          <p:cNvSpPr txBox="1">
            <a:spLocks noGrp="1"/>
          </p:cNvSpPr>
          <p:nvPr>
            <p:ph type="title"/>
          </p:nvPr>
        </p:nvSpPr>
        <p:spPr>
          <a:xfrm>
            <a:off x="618565" y="188259"/>
            <a:ext cx="5555877"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sym typeface="Inter"/>
              </a:rPr>
              <a:t>RESULTS &amp; ANALYSIS</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034640FB-3F12-9DB3-9939-0BC91A3BFE3E}"/>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06</a:t>
            </a:r>
          </a:p>
        </p:txBody>
      </p:sp>
      <p:sp>
        <p:nvSpPr>
          <p:cNvPr id="3" name="Google Shape;1524;p33">
            <a:extLst>
              <a:ext uri="{FF2B5EF4-FFF2-40B4-BE49-F238E27FC236}">
                <a16:creationId xmlns:a16="http://schemas.microsoft.com/office/drawing/2014/main" id="{4368B2D7-D140-7DFA-90F4-50AEA03B3B91}"/>
              </a:ext>
            </a:extLst>
          </p:cNvPr>
          <p:cNvSpPr txBox="1">
            <a:spLocks/>
          </p:cNvSpPr>
          <p:nvPr/>
        </p:nvSpPr>
        <p:spPr>
          <a:xfrm>
            <a:off x="2447186" y="1102659"/>
            <a:ext cx="7297629" cy="578224"/>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b="1" dirty="0">
                <a:solidFill>
                  <a:schemeClr val="lt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sym typeface="Inter"/>
              </a:rPr>
              <a:t>CFD FLOW ANALYSIS</a:t>
            </a:r>
            <a:endParaRPr lang="en-US" sz="2000"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pic>
        <p:nvPicPr>
          <p:cNvPr id="6" name="Picture 5">
            <a:extLst>
              <a:ext uri="{FF2B5EF4-FFF2-40B4-BE49-F238E27FC236}">
                <a16:creationId xmlns:a16="http://schemas.microsoft.com/office/drawing/2014/main" id="{7984CF45-EA07-5E2B-DA9F-4CB71CC6682D}"/>
              </a:ext>
            </a:extLst>
          </p:cNvPr>
          <p:cNvPicPr>
            <a:picLocks noChangeAspect="1"/>
          </p:cNvPicPr>
          <p:nvPr/>
        </p:nvPicPr>
        <p:blipFill>
          <a:blip r:embed="rId2">
            <a:extLst>
              <a:ext uri="{28A0092B-C50C-407E-A947-70E740481C1C}">
                <a14:useLocalDpi xmlns:a14="http://schemas.microsoft.com/office/drawing/2010/main" val="0"/>
              </a:ext>
            </a:extLst>
          </a:blip>
          <a:srcRect t="11728" b="11728"/>
          <a:stretch/>
        </p:blipFill>
        <p:spPr>
          <a:xfrm>
            <a:off x="1206476" y="1811964"/>
            <a:ext cx="9779048" cy="4857777"/>
          </a:xfrm>
          <a:prstGeom prst="rect">
            <a:avLst/>
          </a:prstGeom>
        </p:spPr>
      </p:pic>
      <p:sp>
        <p:nvSpPr>
          <p:cNvPr id="7" name="TextBox 6">
            <a:extLst>
              <a:ext uri="{FF2B5EF4-FFF2-40B4-BE49-F238E27FC236}">
                <a16:creationId xmlns:a16="http://schemas.microsoft.com/office/drawing/2014/main" id="{9FC28B53-4115-A7A1-A2BD-136B977E784C}"/>
              </a:ext>
            </a:extLst>
          </p:cNvPr>
          <p:cNvSpPr txBox="1"/>
          <p:nvPr/>
        </p:nvSpPr>
        <p:spPr>
          <a:xfrm>
            <a:off x="8878529" y="2178337"/>
            <a:ext cx="2281084" cy="400110"/>
          </a:xfrm>
          <a:prstGeom prst="rect">
            <a:avLst/>
          </a:prstGeom>
          <a:noFill/>
        </p:spPr>
        <p:txBody>
          <a:bodyPr wrap="square">
            <a:spAutoFit/>
          </a:bodyPr>
          <a:lstStyle/>
          <a:p>
            <a:r>
              <a:rPr lang="en-US" sz="2000" b="1" dirty="0">
                <a:latin typeface="Georgia" panose="02040502050405020303" pitchFamily="18" charset="0"/>
              </a:rPr>
              <a:t>Red (~15 m/s)</a:t>
            </a:r>
            <a:endParaRPr lang="en-PK" sz="2000" b="1" dirty="0">
              <a:latin typeface="Georgia" panose="02040502050405020303" pitchFamily="18" charset="0"/>
            </a:endParaRPr>
          </a:p>
        </p:txBody>
      </p:sp>
      <p:sp>
        <p:nvSpPr>
          <p:cNvPr id="9" name="TextBox 8">
            <a:extLst>
              <a:ext uri="{FF2B5EF4-FFF2-40B4-BE49-F238E27FC236}">
                <a16:creationId xmlns:a16="http://schemas.microsoft.com/office/drawing/2014/main" id="{FC4BC481-AA00-8624-6499-A10F31AF64BF}"/>
              </a:ext>
            </a:extLst>
          </p:cNvPr>
          <p:cNvSpPr txBox="1"/>
          <p:nvPr/>
        </p:nvSpPr>
        <p:spPr>
          <a:xfrm>
            <a:off x="8878529" y="2657909"/>
            <a:ext cx="2175387" cy="400110"/>
          </a:xfrm>
          <a:prstGeom prst="rect">
            <a:avLst/>
          </a:prstGeom>
          <a:noFill/>
        </p:spPr>
        <p:txBody>
          <a:bodyPr wrap="square">
            <a:spAutoFit/>
          </a:bodyPr>
          <a:lstStyle/>
          <a:p>
            <a:r>
              <a:rPr lang="en-US" sz="2000" b="1" dirty="0">
                <a:latin typeface="Georgia" panose="02040502050405020303" pitchFamily="18" charset="0"/>
              </a:rPr>
              <a:t>Blue (~0 m/s)</a:t>
            </a:r>
            <a:endParaRPr lang="en-PK" sz="2000" b="1" dirty="0">
              <a:latin typeface="Georgia" panose="02040502050405020303" pitchFamily="18" charset="0"/>
            </a:endParaRPr>
          </a:p>
        </p:txBody>
      </p:sp>
    </p:spTree>
    <p:extLst>
      <p:ext uri="{BB962C8B-B14F-4D97-AF65-F5344CB8AC3E}">
        <p14:creationId xmlns:p14="http://schemas.microsoft.com/office/powerpoint/2010/main" val="27694980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79D96-5D99-DFF2-1E46-30C71D982178}"/>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2253BEF3-8CB0-CD7D-9165-E8BEC6EE8C6E}"/>
              </a:ext>
            </a:extLst>
          </p:cNvPr>
          <p:cNvSpPr txBox="1">
            <a:spLocks noGrp="1"/>
          </p:cNvSpPr>
          <p:nvPr>
            <p:ph type="title"/>
          </p:nvPr>
        </p:nvSpPr>
        <p:spPr>
          <a:xfrm>
            <a:off x="618565" y="232503"/>
            <a:ext cx="5555877"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sym typeface="Inter"/>
              </a:rPr>
              <a:t>CONCLUSIONS</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1F90918A-23D8-880D-C34A-7BCA1040F95A}"/>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06</a:t>
            </a:r>
          </a:p>
        </p:txBody>
      </p:sp>
      <p:sp>
        <p:nvSpPr>
          <p:cNvPr id="7" name="Rectangle 1">
            <a:extLst>
              <a:ext uri="{FF2B5EF4-FFF2-40B4-BE49-F238E27FC236}">
                <a16:creationId xmlns:a16="http://schemas.microsoft.com/office/drawing/2014/main" id="{9EB787F0-8C6A-EBC1-EC06-E68C25167ED7}"/>
              </a:ext>
            </a:extLst>
          </p:cNvPr>
          <p:cNvSpPr>
            <a:spLocks noChangeArrowheads="1"/>
          </p:cNvSpPr>
          <p:nvPr/>
        </p:nvSpPr>
        <p:spPr bwMode="auto">
          <a:xfrm>
            <a:off x="697007" y="1407680"/>
            <a:ext cx="10497019" cy="4652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PK" altLang="en-PK" sz="2000" dirty="0">
                <a:latin typeface="Georgia" panose="02040502050405020303" pitchFamily="18" charset="0"/>
              </a:rPr>
              <a:t>The system integrates key components with an Arduino Uno-based control unit.</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PK" altLang="en-PK" sz="2000" dirty="0">
                <a:latin typeface="Georgia" panose="02040502050405020303" pitchFamily="18" charset="0"/>
              </a:rPr>
              <a:t>Sensor-based automation was achieved using real-time feedback from a K-type thermocouple and diameter sensor, enabling thermal regulation and filament sizing through closed-loop control.</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PK" altLang="en-PK" sz="2000" dirty="0">
                <a:latin typeface="Georgia" panose="02040502050405020303" pitchFamily="18" charset="0"/>
              </a:rPr>
              <a:t>The CAD-based mechanical design ensured compactness and ease of fabrication using accessible materials.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PK" altLang="en-PK" sz="2000" dirty="0">
                <a:latin typeface="Georgia" panose="02040502050405020303" pitchFamily="18" charset="0"/>
              </a:rPr>
              <a:t>CFD and thermal-structural simulations validated the system’s flow behaviour, heat distribution, and mechanical stability, reducing reliance on physical trials.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PK" altLang="en-PK" sz="2000" dirty="0">
                <a:latin typeface="Georgia" panose="02040502050405020303" pitchFamily="18" charset="0"/>
              </a:rPr>
              <a:t>The project confirms the feasibility of a self-regulating, sustainable filament extrusion unit for eco-friendly 3D printing applications.</a:t>
            </a:r>
          </a:p>
        </p:txBody>
      </p:sp>
    </p:spTree>
    <p:extLst>
      <p:ext uri="{BB962C8B-B14F-4D97-AF65-F5344CB8AC3E}">
        <p14:creationId xmlns:p14="http://schemas.microsoft.com/office/powerpoint/2010/main" val="11585797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D6167-6359-BDF9-8A69-0D764404E393}"/>
            </a:ext>
          </a:extLst>
        </p:cNvPr>
        <p:cNvGrpSpPr/>
        <p:nvPr/>
      </p:nvGrpSpPr>
      <p:grpSpPr>
        <a:xfrm>
          <a:off x="0" y="0"/>
          <a:ext cx="0" cy="0"/>
          <a:chOff x="0" y="0"/>
          <a:chExt cx="0" cy="0"/>
        </a:xfrm>
      </p:grpSpPr>
      <p:sp>
        <p:nvSpPr>
          <p:cNvPr id="4" name="Google Shape;1522;p33">
            <a:extLst>
              <a:ext uri="{FF2B5EF4-FFF2-40B4-BE49-F238E27FC236}">
                <a16:creationId xmlns:a16="http://schemas.microsoft.com/office/drawing/2014/main" id="{AE6D43AC-F515-FE0A-C5EA-633B81E08339}"/>
              </a:ext>
            </a:extLst>
          </p:cNvPr>
          <p:cNvSpPr txBox="1">
            <a:spLocks noGrp="1"/>
          </p:cNvSpPr>
          <p:nvPr>
            <p:ph type="title"/>
          </p:nvPr>
        </p:nvSpPr>
        <p:spPr>
          <a:xfrm>
            <a:off x="618565" y="188259"/>
            <a:ext cx="5555877" cy="72614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6000" dirty="0">
                <a:effectLst>
                  <a:outerShdw blurRad="38100" dist="38100" dir="2700000" algn="tl">
                    <a:srgbClr val="000000">
                      <a:alpha val="43137"/>
                    </a:srgbClr>
                  </a:outerShdw>
                </a:effectLst>
                <a:latin typeface="Bebas Neue" panose="020B0606020202050201" pitchFamily="34" charset="0"/>
                <a:sym typeface="Inter"/>
              </a:rPr>
              <a:t>ENDING</a:t>
            </a:r>
            <a:endParaRPr sz="5400" dirty="0">
              <a:effectLst>
                <a:outerShdw blurRad="38100" dist="38100" dir="2700000" algn="tl">
                  <a:srgbClr val="000000">
                    <a:alpha val="43137"/>
                  </a:srgbClr>
                </a:outerShdw>
              </a:effectLst>
              <a:latin typeface="Bebas Neue" panose="020B0606020202050201" pitchFamily="34" charset="0"/>
            </a:endParaRPr>
          </a:p>
        </p:txBody>
      </p:sp>
      <p:sp>
        <p:nvSpPr>
          <p:cNvPr id="5" name="Google Shape;1523;p33">
            <a:extLst>
              <a:ext uri="{FF2B5EF4-FFF2-40B4-BE49-F238E27FC236}">
                <a16:creationId xmlns:a16="http://schemas.microsoft.com/office/drawing/2014/main" id="{BD7CD42E-1824-D3D1-7C2D-4E3783E88CC0}"/>
              </a:ext>
            </a:extLst>
          </p:cNvPr>
          <p:cNvSpPr txBox="1">
            <a:spLocks/>
          </p:cNvSpPr>
          <p:nvPr/>
        </p:nvSpPr>
        <p:spPr>
          <a:xfrm>
            <a:off x="0" y="0"/>
            <a:ext cx="914400" cy="914400"/>
          </a:xfrm>
          <a:prstGeom prst="rect">
            <a:avLst/>
          </a:prstGeom>
          <a:solidFill>
            <a:srgbClr val="1F7EF1"/>
          </a:solidFill>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4800" b="1" dirty="0">
                <a:solidFill>
                  <a:schemeClr val="bg1"/>
                </a:solidFill>
                <a:effectLst>
                  <a:outerShdw blurRad="38100" dist="38100" dir="2700000" algn="tl">
                    <a:srgbClr val="000000">
                      <a:alpha val="43137"/>
                    </a:srgbClr>
                  </a:outerShdw>
                </a:effectLst>
                <a:latin typeface="Bebas Neue" panose="020B0606020202050201" pitchFamily="34" charset="0"/>
              </a:rPr>
              <a:t>06</a:t>
            </a:r>
          </a:p>
        </p:txBody>
      </p:sp>
      <p:grpSp>
        <p:nvGrpSpPr>
          <p:cNvPr id="7" name="Group 6">
            <a:extLst>
              <a:ext uri="{FF2B5EF4-FFF2-40B4-BE49-F238E27FC236}">
                <a16:creationId xmlns:a16="http://schemas.microsoft.com/office/drawing/2014/main" id="{EDEA20A4-4DD0-6390-428F-52B7620E9E49}"/>
              </a:ext>
            </a:extLst>
          </p:cNvPr>
          <p:cNvGrpSpPr/>
          <p:nvPr/>
        </p:nvGrpSpPr>
        <p:grpSpPr>
          <a:xfrm>
            <a:off x="2447186" y="1102658"/>
            <a:ext cx="7297629" cy="4652684"/>
            <a:chOff x="2447186" y="1102658"/>
            <a:chExt cx="7297629" cy="4652684"/>
          </a:xfrm>
        </p:grpSpPr>
        <p:sp>
          <p:nvSpPr>
            <p:cNvPr id="3" name="Google Shape;1524;p33">
              <a:extLst>
                <a:ext uri="{FF2B5EF4-FFF2-40B4-BE49-F238E27FC236}">
                  <a16:creationId xmlns:a16="http://schemas.microsoft.com/office/drawing/2014/main" id="{E563AE47-D3AD-73E9-9D96-528D928D1E98}"/>
                </a:ext>
              </a:extLst>
            </p:cNvPr>
            <p:cNvSpPr txBox="1">
              <a:spLocks/>
            </p:cNvSpPr>
            <p:nvPr/>
          </p:nvSpPr>
          <p:spPr>
            <a:xfrm>
              <a:off x="2447186" y="1102658"/>
              <a:ext cx="7297629" cy="2613935"/>
            </a:xfrm>
            <a:prstGeom prst="rect">
              <a:avLst/>
            </a:prstGeom>
            <a:solidFill>
              <a:srgbClr val="1F7EF1"/>
            </a:solidFill>
          </p:spPr>
          <p:txBody>
            <a:bodyPr spcFirstLastPara="1" vert="horz" wrap="square" lIns="91425" tIns="91425" rIns="91425" bIns="91425"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13800" b="1" dirty="0">
                  <a:solidFill>
                    <a:schemeClr val="lt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sym typeface="Inter"/>
                </a:rPr>
                <a:t>THANK</a:t>
              </a:r>
              <a:endParaRPr lang="en-US" sz="13800" b="1" dirty="0">
                <a:solidFill>
                  <a:schemeClr val="bg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sp>
          <p:nvSpPr>
            <p:cNvPr id="2" name="TextBox 1">
              <a:extLst>
                <a:ext uri="{FF2B5EF4-FFF2-40B4-BE49-F238E27FC236}">
                  <a16:creationId xmlns:a16="http://schemas.microsoft.com/office/drawing/2014/main" id="{4787AA06-41A9-CB5E-8928-5C9020BCE6DB}"/>
                </a:ext>
              </a:extLst>
            </p:cNvPr>
            <p:cNvSpPr txBox="1"/>
            <p:nvPr/>
          </p:nvSpPr>
          <p:spPr>
            <a:xfrm>
              <a:off x="4090483" y="3734019"/>
              <a:ext cx="4011034" cy="2021323"/>
            </a:xfrm>
            <a:prstGeom prst="rect">
              <a:avLst/>
            </a:prstGeom>
            <a:noFill/>
          </p:spPr>
          <p:txBody>
            <a:bodyPr wrap="none" rtlCol="0">
              <a:spAutoFit/>
            </a:bodyPr>
            <a:lstStyle/>
            <a:p>
              <a:pPr algn="ctr">
                <a:lnSpc>
                  <a:spcPct val="90000"/>
                </a:lnSpc>
              </a:pPr>
              <a:r>
                <a:rPr lang="en-US" sz="13800" b="1" dirty="0">
                  <a:solidFill>
                    <a:srgbClr val="1F7EF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rPr>
                <a:t>YOU</a:t>
              </a:r>
              <a:endParaRPr lang="en-PK" sz="13800" b="1" dirty="0">
                <a:solidFill>
                  <a:srgbClr val="1F7EF1"/>
                </a:solidFill>
                <a:effectLst>
                  <a:outerShdw blurRad="38100" dist="38100" dir="2700000" algn="tl">
                    <a:srgbClr val="000000">
                      <a:alpha val="43137"/>
                    </a:srgbClr>
                  </a:outerShdw>
                </a:effectLst>
                <a:latin typeface="Poppins" panose="00000800000000000000" pitchFamily="2" charset="0"/>
                <a:cs typeface="Poppins" panose="00000800000000000000" pitchFamily="2" charset="0"/>
              </a:endParaRPr>
            </a:p>
          </p:txBody>
        </p:sp>
      </p:grpSp>
    </p:spTree>
    <p:extLst>
      <p:ext uri="{BB962C8B-B14F-4D97-AF65-F5344CB8AC3E}">
        <p14:creationId xmlns:p14="http://schemas.microsoft.com/office/powerpoint/2010/main" val="2795293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412</TotalTime>
  <Words>3795</Words>
  <Application>Microsoft Office PowerPoint</Application>
  <PresentationFormat>Widescreen</PresentationFormat>
  <Paragraphs>624</Paragraphs>
  <Slides>48</Slides>
  <Notes>1</Notes>
  <HiddenSlides>0</HiddenSlides>
  <MMClips>2</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Aptos</vt:lpstr>
      <vt:lpstr>Aptos Display</vt:lpstr>
      <vt:lpstr>Arial</vt:lpstr>
      <vt:lpstr>Bebas Neue</vt:lpstr>
      <vt:lpstr>Calibri</vt:lpstr>
      <vt:lpstr>Georgia</vt:lpstr>
      <vt:lpstr>Poppins</vt:lpstr>
      <vt:lpstr>Railway</vt:lpstr>
      <vt:lpstr>Times New Roman</vt:lpstr>
      <vt:lpstr>Office Theme</vt:lpstr>
      <vt:lpstr>PowerPoint Presentation</vt:lpstr>
      <vt:lpstr>CONTENTS</vt:lpstr>
      <vt:lpstr>INTRODUCTION</vt:lpstr>
      <vt:lpstr>INTRODUCTION</vt:lpstr>
      <vt:lpstr>INTRODUCTION</vt:lpstr>
      <vt:lpstr>INTRODUCTION</vt:lpstr>
      <vt:lpstr>INTRODUCTION</vt:lpstr>
      <vt:lpstr>INTRODUCTION</vt:lpstr>
      <vt:lpstr>LITERATURE REVIEW</vt:lpstr>
      <vt:lpstr>LITERATURE REVIEW</vt:lpstr>
      <vt:lpstr>LITERATURE REVIEW</vt:lpstr>
      <vt:lpstr>LITERATURE REVIEW</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METHODOLOGY</vt:lpstr>
      <vt:lpstr>HARDWARE</vt:lpstr>
      <vt:lpstr>HARDWARE</vt:lpstr>
      <vt:lpstr>HARDWARE</vt:lpstr>
      <vt:lpstr>HARDWARE</vt:lpstr>
      <vt:lpstr>HARDWARE</vt:lpstr>
      <vt:lpstr>TIMELINE</vt:lpstr>
      <vt:lpstr>PowerPoint Presentation</vt:lpstr>
      <vt:lpstr>PowerPoint Presentation</vt:lpstr>
      <vt:lpstr>RESULTS &amp; ANALYSIS</vt:lpstr>
      <vt:lpstr>RESULTS &amp; ANALYSIS</vt:lpstr>
      <vt:lpstr>RESULTS &amp; ANALYSIS</vt:lpstr>
      <vt:lpstr>RESULTS &amp; ANALYSIS</vt:lpstr>
      <vt:lpstr>RESULTS &amp; ANALYSIS</vt:lpstr>
      <vt:lpstr>RESULTS &amp; ANALYSIS</vt:lpstr>
      <vt:lpstr>RESULTS &amp; ANALYSIS</vt:lpstr>
      <vt:lpstr>RESULTS &amp; ANALYSIS</vt:lpstr>
      <vt:lpstr>CONCLUSIONS</vt:lpstr>
      <vt:lpstr>ENDING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Arslan Ahmad Hussain</dc:creator>
  <cp:lastModifiedBy>Arslan Ahmad Hussain</cp:lastModifiedBy>
  <cp:revision>13</cp:revision>
  <dcterms:created xsi:type="dcterms:W3CDTF">2025-03-03T19:42:39Z</dcterms:created>
  <dcterms:modified xsi:type="dcterms:W3CDTF">2025-06-25T09:20:38Z</dcterms:modified>
</cp:coreProperties>
</file>